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40" r:id="rId90"/>
    <p:sldId id="256" r:id="rId5"/>
    <p:sldId id="257" r:id="rId6"/>
    <p:sldId id="258" r:id="rId7"/>
    <p:sldId id="259" r:id="rId8"/>
    <p:sldId id="260" r:id="rId9"/>
    <p:sldId id="261" r:id="rId10"/>
    <p:sldId id="341" r:id="rId91"/>
    <p:sldId id="355" r:id="rId105"/>
    <p:sldId id="262" r:id="rId11"/>
    <p:sldId id="263" r:id="rId12"/>
    <p:sldId id="264" r:id="rId13"/>
    <p:sldId id="265" r:id="rId14"/>
    <p:sldId id="266" r:id="rId15"/>
    <p:sldId id="267" r:id="rId16"/>
    <p:sldId id="342" r:id="rId92"/>
    <p:sldId id="356" r:id="rId106"/>
    <p:sldId id="268" r:id="rId17"/>
    <p:sldId id="269" r:id="rId18"/>
    <p:sldId id="270" r:id="rId19"/>
    <p:sldId id="271" r:id="rId20"/>
    <p:sldId id="272" r:id="rId21"/>
    <p:sldId id="273" r:id="rId22"/>
    <p:sldId id="343" r:id="rId93"/>
    <p:sldId id="357" r:id="rId107"/>
    <p:sldId id="274" r:id="rId23"/>
    <p:sldId id="275" r:id="rId24"/>
    <p:sldId id="276" r:id="rId25"/>
    <p:sldId id="277" r:id="rId26"/>
    <p:sldId id="278" r:id="rId27"/>
    <p:sldId id="279" r:id="rId28"/>
    <p:sldId id="344" r:id="rId94"/>
    <p:sldId id="358" r:id="rId108"/>
    <p:sldId id="280" r:id="rId29"/>
    <p:sldId id="281" r:id="rId30"/>
    <p:sldId id="282" r:id="rId31"/>
    <p:sldId id="283" r:id="rId32"/>
    <p:sldId id="284" r:id="rId33"/>
    <p:sldId id="285" r:id="rId34"/>
    <p:sldId id="345" r:id="rId95"/>
    <p:sldId id="359" r:id="rId109"/>
    <p:sldId id="286" r:id="rId35"/>
    <p:sldId id="287" r:id="rId36"/>
    <p:sldId id="288" r:id="rId37"/>
    <p:sldId id="289" r:id="rId38"/>
    <p:sldId id="290" r:id="rId39"/>
    <p:sldId id="291" r:id="rId40"/>
    <p:sldId id="346" r:id="rId96"/>
    <p:sldId id="360" r:id="rId110"/>
    <p:sldId id="292" r:id="rId41"/>
    <p:sldId id="293" r:id="rId42"/>
    <p:sldId id="294" r:id="rId43"/>
    <p:sldId id="295" r:id="rId44"/>
    <p:sldId id="296" r:id="rId45"/>
    <p:sldId id="297" r:id="rId46"/>
    <p:sldId id="347" r:id="rId97"/>
    <p:sldId id="361" r:id="rId111"/>
    <p:sldId id="298" r:id="rId47"/>
    <p:sldId id="299" r:id="rId48"/>
    <p:sldId id="300" r:id="rId49"/>
    <p:sldId id="301" r:id="rId50"/>
    <p:sldId id="302" r:id="rId51"/>
    <p:sldId id="303" r:id="rId52"/>
    <p:sldId id="348" r:id="rId98"/>
    <p:sldId id="362" r:id="rId112"/>
    <p:sldId id="304" r:id="rId53"/>
    <p:sldId id="305" r:id="rId54"/>
    <p:sldId id="306" r:id="rId55"/>
    <p:sldId id="307" r:id="rId56"/>
    <p:sldId id="308" r:id="rId57"/>
    <p:sldId id="309" r:id="rId58"/>
    <p:sldId id="349" r:id="rId99"/>
    <p:sldId id="363" r:id="rId113"/>
    <p:sldId id="310" r:id="rId59"/>
    <p:sldId id="311" r:id="rId60"/>
    <p:sldId id="312" r:id="rId61"/>
    <p:sldId id="313" r:id="rId62"/>
    <p:sldId id="314" r:id="rId63"/>
    <p:sldId id="315" r:id="rId64"/>
    <p:sldId id="350" r:id="rId100"/>
    <p:sldId id="364" r:id="rId114"/>
    <p:sldId id="316" r:id="rId65"/>
    <p:sldId id="317" r:id="rId66"/>
    <p:sldId id="318" r:id="rId67"/>
    <p:sldId id="319" r:id="rId68"/>
    <p:sldId id="320" r:id="rId69"/>
    <p:sldId id="321" r:id="rId70"/>
    <p:sldId id="351" r:id="rId101"/>
    <p:sldId id="365" r:id="rId115"/>
    <p:sldId id="322" r:id="rId71"/>
    <p:sldId id="323" r:id="rId72"/>
    <p:sldId id="324" r:id="rId73"/>
    <p:sldId id="325" r:id="rId74"/>
    <p:sldId id="326" r:id="rId75"/>
    <p:sldId id="327" r:id="rId76"/>
    <p:sldId id="352" r:id="rId102"/>
    <p:sldId id="366" r:id="rId116"/>
    <p:sldId id="328" r:id="rId77"/>
    <p:sldId id="329" r:id="rId78"/>
    <p:sldId id="330" r:id="rId79"/>
    <p:sldId id="331" r:id="rId80"/>
    <p:sldId id="332" r:id="rId81"/>
    <p:sldId id="333" r:id="rId82"/>
    <p:sldId id="353" r:id="rId103"/>
    <p:sldId id="367" r:id="rId117"/>
    <p:sldId id="334" r:id="rId83"/>
    <p:sldId id="335" r:id="rId84"/>
    <p:sldId id="336" r:id="rId85"/>
    <p:sldId id="337" r:id="rId86"/>
    <p:sldId id="338" r:id="rId87"/>
    <p:sldId id="339" r:id="rId88"/>
    <p:sldId id="354" r:id="rId104"/>
    <p:sldId id="368" r:id="rId118"/>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9" roundtripDataSignature="AMtx7mhq6xuQsAld53z1LCShz4YH34b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2.xml"/><Relationship Id="rId36" Type="http://schemas.openxmlformats.org/officeDocument/2006/relationships/slide" Target="slides/slide43.xml"/><Relationship Id="rId37" Type="http://schemas.openxmlformats.org/officeDocument/2006/relationships/slide" Target="slides/slide44.xml"/><Relationship Id="rId38" Type="http://schemas.openxmlformats.org/officeDocument/2006/relationships/slide" Target="slides/slide45.xml"/><Relationship Id="rId39" Type="http://schemas.openxmlformats.org/officeDocument/2006/relationships/slide" Target="slides/slide46.xml"/><Relationship Id="rId40" Type="http://schemas.openxmlformats.org/officeDocument/2006/relationships/slide" Target="slides/slide47.xml"/><Relationship Id="rId41" Type="http://schemas.openxmlformats.org/officeDocument/2006/relationships/slide" Target="slides/slide50.xml"/><Relationship Id="rId42" Type="http://schemas.openxmlformats.org/officeDocument/2006/relationships/slide" Target="slides/slide51.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5.xml"/><Relationship Id="rId47" Type="http://schemas.openxmlformats.org/officeDocument/2006/relationships/slide" Target="slides/slide58.xml"/><Relationship Id="rId48" Type="http://schemas.openxmlformats.org/officeDocument/2006/relationships/slide" Target="slides/slide59.xml"/><Relationship Id="rId49" Type="http://schemas.openxmlformats.org/officeDocument/2006/relationships/slide" Target="slides/slide60.xml"/><Relationship Id="rId50" Type="http://schemas.openxmlformats.org/officeDocument/2006/relationships/slide" Target="slides/slide61.xml"/><Relationship Id="rId51" Type="http://schemas.openxmlformats.org/officeDocument/2006/relationships/slide" Target="slides/slide62.xml"/><Relationship Id="rId52" Type="http://schemas.openxmlformats.org/officeDocument/2006/relationships/slide" Target="slides/slide63.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0.xml"/><Relationship Id="rId58" Type="http://schemas.openxmlformats.org/officeDocument/2006/relationships/slide" Target="slides/slide71.xml"/><Relationship Id="rId59" Type="http://schemas.openxmlformats.org/officeDocument/2006/relationships/slide" Target="slides/slide74.xml"/><Relationship Id="rId60" Type="http://schemas.openxmlformats.org/officeDocument/2006/relationships/slide" Target="slides/slide75.xml"/><Relationship Id="rId61" Type="http://schemas.openxmlformats.org/officeDocument/2006/relationships/slide" Target="slides/slide76.xml"/><Relationship Id="rId62" Type="http://schemas.openxmlformats.org/officeDocument/2006/relationships/slide" Target="slides/slide77.xml"/><Relationship Id="rId63" Type="http://schemas.openxmlformats.org/officeDocument/2006/relationships/slide" Target="slides/slide78.xml"/><Relationship Id="rId64" Type="http://schemas.openxmlformats.org/officeDocument/2006/relationships/slide" Target="slides/slide79.xml"/><Relationship Id="rId65" Type="http://schemas.openxmlformats.org/officeDocument/2006/relationships/slide" Target="slides/slide82.xml"/><Relationship Id="rId66" Type="http://schemas.openxmlformats.org/officeDocument/2006/relationships/slide" Target="slides/slide83.xml"/><Relationship Id="rId67" Type="http://schemas.openxmlformats.org/officeDocument/2006/relationships/slide" Target="slides/slide84.xml"/><Relationship Id="rId68" Type="http://schemas.openxmlformats.org/officeDocument/2006/relationships/slide" Target="slides/slide85.xml"/><Relationship Id="rId69" Type="http://schemas.openxmlformats.org/officeDocument/2006/relationships/slide" Target="slides/slide86.xml"/><Relationship Id="rId70" Type="http://schemas.openxmlformats.org/officeDocument/2006/relationships/slide" Target="slides/slide87.xml"/><Relationship Id="rId71" Type="http://schemas.openxmlformats.org/officeDocument/2006/relationships/slide" Target="slides/slide90.xml"/><Relationship Id="rId72" Type="http://schemas.openxmlformats.org/officeDocument/2006/relationships/slide" Target="slides/slide91.xml"/><Relationship Id="rId73" Type="http://schemas.openxmlformats.org/officeDocument/2006/relationships/slide" Target="slides/slide92.xml"/><Relationship Id="rId74" Type="http://schemas.openxmlformats.org/officeDocument/2006/relationships/slide" Target="slides/slide93.xml"/><Relationship Id="rId75" Type="http://schemas.openxmlformats.org/officeDocument/2006/relationships/slide" Target="slides/slide94.xml"/><Relationship Id="rId76" Type="http://schemas.openxmlformats.org/officeDocument/2006/relationships/slide" Target="slides/slide95.xml"/><Relationship Id="rId77" Type="http://schemas.openxmlformats.org/officeDocument/2006/relationships/slide" Target="slides/slide98.xml"/><Relationship Id="rId78" Type="http://schemas.openxmlformats.org/officeDocument/2006/relationships/slide" Target="slides/slide99.xml"/><Relationship Id="rId79" Type="http://schemas.openxmlformats.org/officeDocument/2006/relationships/slide" Target="slides/slide100.xml"/><Relationship Id="rId80" Type="http://schemas.openxmlformats.org/officeDocument/2006/relationships/slide" Target="slides/slide101.xml"/><Relationship Id="rId81" Type="http://schemas.openxmlformats.org/officeDocument/2006/relationships/slide" Target="slides/slide102.xml"/><Relationship Id="rId82" Type="http://schemas.openxmlformats.org/officeDocument/2006/relationships/slide" Target="slides/slide103.xml"/><Relationship Id="rId83" Type="http://schemas.openxmlformats.org/officeDocument/2006/relationships/slide" Target="slides/slide106.xml"/><Relationship Id="rId84" Type="http://schemas.openxmlformats.org/officeDocument/2006/relationships/slide" Target="slides/slide107.xml"/><Relationship Id="rId85" Type="http://schemas.openxmlformats.org/officeDocument/2006/relationships/slide" Target="slides/slide108.xml"/><Relationship Id="rId86" Type="http://schemas.openxmlformats.org/officeDocument/2006/relationships/slide" Target="slides/slide109.xml"/><Relationship Id="rId87" Type="http://schemas.openxmlformats.org/officeDocument/2006/relationships/slide" Target="slides/slide110.xml"/><Relationship Id="rId88" Type="http://schemas.openxmlformats.org/officeDocument/2006/relationships/slide" Target="slides/slide111.xml"/><Relationship Id="rId89" Type="http://customschemas.google.com/relationships/presentationmetadata" Target="metadata"/><Relationship Id="rId90" Type="http://schemas.openxmlformats.org/officeDocument/2006/relationships/slide" Target="slides/slide1.xml"/><Relationship Id="rId91" Type="http://schemas.openxmlformats.org/officeDocument/2006/relationships/slide" Target="slides/slide8.xml"/><Relationship Id="rId92" Type="http://schemas.openxmlformats.org/officeDocument/2006/relationships/slide" Target="slides/slide16.xml"/><Relationship Id="rId93" Type="http://schemas.openxmlformats.org/officeDocument/2006/relationships/slide" Target="slides/slide24.xml"/><Relationship Id="rId94" Type="http://schemas.openxmlformats.org/officeDocument/2006/relationships/slide" Target="slides/slide32.xml"/><Relationship Id="rId95" Type="http://schemas.openxmlformats.org/officeDocument/2006/relationships/slide" Target="slides/slide40.xml"/><Relationship Id="rId96" Type="http://schemas.openxmlformats.org/officeDocument/2006/relationships/slide" Target="slides/slide48.xml"/><Relationship Id="rId97" Type="http://schemas.openxmlformats.org/officeDocument/2006/relationships/slide" Target="slides/slide56.xml"/><Relationship Id="rId98" Type="http://schemas.openxmlformats.org/officeDocument/2006/relationships/slide" Target="slides/slide64.xml"/><Relationship Id="rId99" Type="http://schemas.openxmlformats.org/officeDocument/2006/relationships/slide" Target="slides/slide72.xml"/><Relationship Id="rId100" Type="http://schemas.openxmlformats.org/officeDocument/2006/relationships/slide" Target="slides/slide80.xml"/><Relationship Id="rId101" Type="http://schemas.openxmlformats.org/officeDocument/2006/relationships/slide" Target="slides/slide88.xml"/><Relationship Id="rId102" Type="http://schemas.openxmlformats.org/officeDocument/2006/relationships/slide" Target="slides/slide96.xml"/><Relationship Id="rId103" Type="http://schemas.openxmlformats.org/officeDocument/2006/relationships/slide" Target="slides/slide104.xml"/><Relationship Id="rId104" Type="http://schemas.openxmlformats.org/officeDocument/2006/relationships/slide" Target="slides/slide112.xml"/><Relationship Id="rId105" Type="http://schemas.openxmlformats.org/officeDocument/2006/relationships/slide" Target="slides/slide9.xml"/><Relationship Id="rId106" Type="http://schemas.openxmlformats.org/officeDocument/2006/relationships/slide" Target="slides/slide17.xml"/><Relationship Id="rId107" Type="http://schemas.openxmlformats.org/officeDocument/2006/relationships/slide" Target="slides/slide25.xml"/><Relationship Id="rId108" Type="http://schemas.openxmlformats.org/officeDocument/2006/relationships/slide" Target="slides/slide33.xml"/><Relationship Id="rId109" Type="http://schemas.openxmlformats.org/officeDocument/2006/relationships/slide" Target="slides/slide41.xml"/><Relationship Id="rId110" Type="http://schemas.openxmlformats.org/officeDocument/2006/relationships/slide" Target="slides/slide49.xml"/><Relationship Id="rId111" Type="http://schemas.openxmlformats.org/officeDocument/2006/relationships/slide" Target="slides/slide57.xml"/><Relationship Id="rId112" Type="http://schemas.openxmlformats.org/officeDocument/2006/relationships/slide" Target="slides/slide65.xml"/><Relationship Id="rId113" Type="http://schemas.openxmlformats.org/officeDocument/2006/relationships/slide" Target="slides/slide73.xml"/><Relationship Id="rId114" Type="http://schemas.openxmlformats.org/officeDocument/2006/relationships/slide" Target="slides/slide81.xml"/><Relationship Id="rId115" Type="http://schemas.openxmlformats.org/officeDocument/2006/relationships/slide" Target="slides/slide89.xml"/><Relationship Id="rId116" Type="http://schemas.openxmlformats.org/officeDocument/2006/relationships/slide" Target="slides/slide97.xml"/><Relationship Id="rId117" Type="http://schemas.openxmlformats.org/officeDocument/2006/relationships/slide" Target="slides/slide105.xml"/><Relationship Id="rId118"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 name="Google Shape;44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1" name="Google Shape;49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4" name="Google Shape;6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9" name="Google Shape;63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7" name="Google Shape;677;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6" name="Google Shape;7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3" name="Google Shape;75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3" name="Google Shape;79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2" name="Google Shape;82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7" name="Google Shape;837;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2" name="Google Shape;8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9" name="Google Shape;869;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5" name="Google Shape;88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6" name="Google Shape;88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8" name="Google Shape;90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9" name="Google Shape;90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8" name="Google Shape;93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3" name="Google Shape;95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7" name="Google Shape;967;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8" name="Google Shape;968;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5" name="Google Shape;98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2" name="Google Shape;100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4" name="Google Shape;10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9" name="Google Shape;10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3" name="Google Shape;108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4" name="Google Shape;108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1" name="Google Shape;1141;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9" name="Google Shape;116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0" name="Google Shape;117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9" name="Google Shape;1199;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0" name="Google Shape;1200;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7" name="Google Shape;1217;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3" name="Google Shape;123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4" name="Google Shape;123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7" name="Google Shape;125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5" name="Google Shape;128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6" name="Google Shape;128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1" name="Google Shape;130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7" name="Google Shape;131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8" name="Google Shape;131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4" name="Google Shape;1334;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7" name="Shape 1347"/>
        <p:cNvGrpSpPr/>
        <p:nvPr/>
      </p:nvGrpSpPr>
      <p:grpSpPr>
        <a:xfrm>
          <a:off x="0" y="0"/>
          <a:ext cx="0" cy="0"/>
          <a:chOff x="0" y="0"/>
          <a:chExt cx="0" cy="0"/>
        </a:xfrm>
      </p:grpSpPr>
      <p:sp>
        <p:nvSpPr>
          <p:cNvPr id="1348" name="Google Shape;134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9" name="Google Shape;134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0" name="Google Shape;135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3" name="Google Shape;137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2" name="Google Shape;140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4" name="Shape 1414"/>
        <p:cNvGrpSpPr/>
        <p:nvPr/>
      </p:nvGrpSpPr>
      <p:grpSpPr>
        <a:xfrm>
          <a:off x="0" y="0"/>
          <a:ext cx="0" cy="0"/>
          <a:chOff x="0" y="0"/>
          <a:chExt cx="0" cy="0"/>
        </a:xfrm>
      </p:grpSpPr>
      <p:sp>
        <p:nvSpPr>
          <p:cNvPr id="1415" name="Google Shape;141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6" name="Google Shape;141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7" name="Google Shape;141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9" name="Shape 1429"/>
        <p:cNvGrpSpPr/>
        <p:nvPr/>
      </p:nvGrpSpPr>
      <p:grpSpPr>
        <a:xfrm>
          <a:off x="0" y="0"/>
          <a:ext cx="0" cy="0"/>
          <a:chOff x="0" y="0"/>
          <a:chExt cx="0" cy="0"/>
        </a:xfrm>
      </p:grpSpPr>
      <p:sp>
        <p:nvSpPr>
          <p:cNvPr id="1430" name="Google Shape;14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1" name="Google Shape;143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2" name="Google Shape;143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9" name="Google Shape;144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5" name="Google Shape;146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6" name="Google Shape;146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8" name="Google Shape;15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3" name="Google Shape;1533;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0" name="Google Shape;1550;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6" name="Google Shape;156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7" name="Google Shape;156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2" name="Google Shape;1582;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5" name="Google Shape;1605;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archive.org/details/doctrineoffascis00muss" TargetMode="External"/><Relationship Id="rId4" Type="http://schemas.openxmlformats.org/officeDocument/2006/relationships/hyperlink" Target="https://archive.org/details/doctrineoffascis00mus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www.archives.gov/milestone-documents/president-franklin-roosevelts-annual-message-to-congress" TargetMode="External"/><Relationship Id="rId4" Type="http://schemas.openxmlformats.org/officeDocument/2006/relationships/hyperlink" Target="https://www.archives.gov/milestone-documents/president-franklin-roosevelts-annual-message-to-congres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ushmm.org/collections/bibliography/elie-wiesel" TargetMode="External"/><Relationship Id="rId4" Type="http://schemas.openxmlformats.org/officeDocument/2006/relationships/hyperlink" Target="https://www.ushmm.org/collections/bibliography/elie-wiese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www.archives.gov/legislative/features/day-of-infamy" TargetMode="External"/><Relationship Id="rId4" Type="http://schemas.openxmlformats.org/officeDocument/2006/relationships/hyperlink" Target="https://www.archives.gov/legislative/features/day-of-infam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instonchurchill.org/resources/speeches/1940-the-finest-hour/we-shall-fight-on-the-beaches/" TargetMode="External"/><Relationship Id="rId4" Type="http://schemas.openxmlformats.org/officeDocument/2006/relationships/hyperlink" Target="https://winstonchurchill.org/resources/speeches/1940-the-finest-hour/we-shall-fight-on-the-beache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www.archives.gov/historical-docs/todays-doc/?dod-date=606" TargetMode="External"/><Relationship Id="rId4" Type="http://schemas.openxmlformats.org/officeDocument/2006/relationships/hyperlink" Target="https://www.archives.gov/historical-docs/todays-doc/?dod-date=60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9.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hyperlink" Target="https://www.archives.gov/research/military/ww2/tuskegee-airmen" TargetMode="External"/><Relationship Id="rId4" Type="http://schemas.openxmlformats.org/officeDocument/2006/relationships/hyperlink" Target="https://www.archives.gov/research/military/ww2/tuskegee-airme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loc.gov/collections/world-war-ii-posters/" TargetMode="External"/><Relationship Id="rId4" Type="http://schemas.openxmlformats.org/officeDocument/2006/relationships/hyperlink" Target="https://www.loc.gov/collections/world-war-ii-posters/"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www.archives.gov/milestone-documents/executive-order-8802" TargetMode="External"/><Relationship Id="rId4" Type="http://schemas.openxmlformats.org/officeDocument/2006/relationships/hyperlink" Target="https://www.archives.gov/milestone-documents/executive-order-8802"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archives.gov/milestone-documents/executive-order-9066" TargetMode="External"/><Relationship Id="rId4" Type="http://schemas.openxmlformats.org/officeDocument/2006/relationships/hyperlink" Target="https://www.archives.gov/milestone-documents/executive-order-9066"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archives.gov/education/lessons/wwii-rationing" TargetMode="External"/><Relationship Id="rId4" Type="http://schemas.openxmlformats.org/officeDocument/2006/relationships/hyperlink" Target="https://www.archives.gov/education/lessons/wwii-rationing"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5.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hyperlink" Target="https://www.trumanlibrary.gov/library/public-papers/93/statement-president-announcing-use-bomb-hiroshima" TargetMode="External"/><Relationship Id="rId4" Type="http://schemas.openxmlformats.org/officeDocument/2006/relationships/hyperlink" Target="https://www.trumanlibrary.gov/library/public-papers/93/statement-president-announcing-use-bomb-hiroshim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2.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avalon.law.yale.edu/wwii/yalta.asp" TargetMode="External"/><Relationship Id="rId4" Type="http://schemas.openxmlformats.org/officeDocument/2006/relationships/hyperlink" Target="https://avalon.law.yale.edu/wwii/yalta.asp"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hyperlink" Target="https://www.un.org/en/about-us/un-charter/preamble" TargetMode="External"/><Relationship Id="rId4" Type="http://schemas.openxmlformats.org/officeDocument/2006/relationships/hyperlink" Target="https://www.un.org/en/about-us/un-charter/preamble"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640080"/>
            <a:ext cx="109728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This Deck Works</a:t>
            </a:r>
            <a:endParaRPr lang="en-US" sz="3800" dirty="0"/>
          </a:p>
        </p:txBody>
      </p:sp>
      <p:sp>
        <p:nvSpPr>
          <p:cNvPr id="3" name="Text 1"/>
          <p:cNvSpPr/>
          <p:nvPr/>
        </p:nvSpPr>
        <p:spPr>
          <a:xfrm>
            <a:off x="566928" y="1371600"/>
            <a:ext cx="10972800" cy="365760"/>
          </a:xfrm>
          <a:prstGeom prst="rect">
            <a:avLst/>
          </a:prstGeom>
          <a:noFill/>
          <a:ln/>
        </p:spPr>
        <p:txBody>
          <a:bodyPr wrap="square" lIns="0" tIns="0" rIns="0" bIns="0" rtlCol="0" anchor="ctr"/>
          <a:lstStyle/>
          <a:p>
            <a:pPr indent="0" marL="0">
              <a:buNone/>
            </a:pPr>
            <a:r>
              <a:rPr lang="en-US" sz="1600" i="1" dirty="0">
                <a:solidFill>
                  <a:srgbClr val="C89B3C"/>
                </a:solidFill>
                <a:latin typeface="Arial" pitchFamily="34" charset="0"/>
                <a:ea typeface="Arial" pitchFamily="34" charset="-122"/>
                <a:cs typeface="Arial" pitchFamily="34" charset="-120"/>
              </a:rPr>
              <a:t>Universal Design for Learning · Multi-Tiered System of Supports</a:t>
            </a:r>
            <a:endParaRPr lang="en-US" sz="1600" dirty="0"/>
          </a:p>
        </p:txBody>
      </p:sp>
      <p:sp>
        <p:nvSpPr>
          <p:cNvPr id="4" name="Text 2"/>
          <p:cNvSpPr/>
          <p:nvPr/>
        </p:nvSpPr>
        <p:spPr>
          <a:xfrm>
            <a:off x="548640" y="1847088"/>
            <a:ext cx="3657600" cy="292608"/>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EVERY LEARNER  ·  SAME FIRM GOAL</a:t>
            </a:r>
            <a:endParaRPr lang="en-US" sz="1100" dirty="0"/>
          </a:p>
        </p:txBody>
      </p:sp>
      <p:sp>
        <p:nvSpPr>
          <p:cNvPr id="5" name="Shape 3"/>
          <p:cNvSpPr/>
          <p:nvPr/>
        </p:nvSpPr>
        <p:spPr>
          <a:xfrm>
            <a:off x="548640" y="2148840"/>
            <a:ext cx="3566160" cy="2926080"/>
          </a:xfrm>
          <a:prstGeom prst="rect">
            <a:avLst/>
          </a:prstGeom>
          <a:solidFill>
            <a:srgbClr val="1E2C4C"/>
          </a:solidFill>
          <a:ln w="12700">
            <a:solidFill>
              <a:srgbClr val="C89B3C"/>
            </a:solidFill>
            <a:prstDash val="solid"/>
          </a:ln>
        </p:spPr>
        <p:txBody>
          <a:bodyPr/>
          <a:p/>
        </p:txBody>
      </p:sp>
      <p:sp>
        <p:nvSpPr>
          <p:cNvPr id="6" name="Text 4"/>
          <p:cNvSpPr/>
          <p:nvPr/>
        </p:nvSpPr>
        <p:spPr>
          <a:xfrm>
            <a:off x="777240"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in</a:t>
            </a:r>
            <a:endParaRPr lang="en-US" sz="1900" dirty="0"/>
          </a:p>
        </p:txBody>
      </p:sp>
      <p:sp>
        <p:nvSpPr>
          <p:cNvPr id="7" name="Text 5"/>
          <p:cNvSpPr/>
          <p:nvPr/>
        </p:nvSpPr>
        <p:spPr>
          <a:xfrm>
            <a:off x="777240"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Every lesson opens with a real question and a clear “I can” goal, so you know why it matters and where you’re headed.</a:t>
            </a:r>
            <a:endParaRPr lang="en-US" sz="1350" dirty="0"/>
          </a:p>
        </p:txBody>
      </p:sp>
      <p:sp>
        <p:nvSpPr>
          <p:cNvPr id="8" name="Shape 6"/>
          <p:cNvSpPr/>
          <p:nvPr/>
        </p:nvSpPr>
        <p:spPr>
          <a:xfrm>
            <a:off x="4315968" y="2148840"/>
            <a:ext cx="3566160" cy="292608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see it</a:t>
            </a:r>
            <a:endParaRPr lang="en-US" sz="1900" dirty="0"/>
          </a:p>
        </p:txBody>
      </p:sp>
      <p:sp>
        <p:nvSpPr>
          <p:cNvPr id="10" name="Text 8"/>
          <p:cNvSpPr/>
          <p:nvPr/>
        </p:nvSpPr>
        <p:spPr>
          <a:xfrm>
            <a:off x="4544568"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Direct instruction, primary sources, maps, and bilingual key vocabulary — the same ideas shown more than one way.</a:t>
            </a:r>
            <a:endParaRPr lang="en-US" sz="1350" dirty="0"/>
          </a:p>
        </p:txBody>
      </p:sp>
      <p:sp>
        <p:nvSpPr>
          <p:cNvPr id="11" name="Shape 9"/>
          <p:cNvSpPr/>
          <p:nvPr/>
        </p:nvSpPr>
        <p:spPr>
          <a:xfrm>
            <a:off x="8083296" y="2148840"/>
            <a:ext cx="3566160" cy="2926080"/>
          </a:xfrm>
          <a:prstGeom prst="rect">
            <a:avLst/>
          </a:prstGeom>
          <a:solidFill>
            <a:srgbClr val="1E2C4C"/>
          </a:solidFill>
          <a:ln w="12700">
            <a:solidFill>
              <a:srgbClr val="C89B3C"/>
            </a:solidFill>
            <a:prstDash val="solid"/>
          </a:ln>
        </p:spPr>
        <p:txBody>
          <a:bodyPr/>
          <a:p/>
        </p:txBody>
      </p:sp>
      <p:sp>
        <p:nvSpPr>
          <p:cNvPr id="12" name="Text 10"/>
          <p:cNvSpPr/>
          <p:nvPr/>
        </p:nvSpPr>
        <p:spPr>
          <a:xfrm>
            <a:off x="8311896"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show it</a:t>
            </a:r>
            <a:endParaRPr lang="en-US" sz="1900" dirty="0"/>
          </a:p>
        </p:txBody>
      </p:sp>
      <p:sp>
        <p:nvSpPr>
          <p:cNvPr id="13" name="Text 11"/>
          <p:cNvSpPr/>
          <p:nvPr/>
        </p:nvSpPr>
        <p:spPr>
          <a:xfrm>
            <a:off x="8311896"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Model-with-me, sentence frames, and choices in how you respond — you reach the same goal by the route that works for you.</a:t>
            </a:r>
            <a:endParaRPr lang="en-US" sz="1350" dirty="0"/>
          </a:p>
        </p:txBody>
      </p:sp>
      <p:sp>
        <p:nvSpPr>
          <p:cNvPr id="14" name="Text 12"/>
          <p:cNvSpPr/>
          <p:nvPr/>
        </p:nvSpPr>
        <p:spPr>
          <a:xfrm>
            <a:off x="548640" y="5394960"/>
            <a:ext cx="11064240" cy="640080"/>
          </a:xfrm>
          <a:prstGeom prst="rect">
            <a:avLst/>
          </a:prstGeom>
          <a:solidFill>
            <a:srgbClr val="1E2C4C"/>
          </a:solidFill>
          <a:ln/>
        </p:spPr>
        <p:txBody>
          <a:bodyPr wrap="square" lIns="76200" tIns="76200" rIns="76200" bIns="7620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Your teacher checks your progress along the way and gives you another path if you need one — </a:t>
            </a:r>
            <a:pPr algn="ctr" indent="0" marL="0">
              <a:buNone/>
            </a:pPr>
            <a:r>
              <a:rPr lang="en-US" sz="1400" b="1" i="1" dirty="0">
                <a:solidFill>
                  <a:srgbClr val="FF6B7A"/>
                </a:solidFill>
                <a:latin typeface="Arial" pitchFamily="34" charset="0"/>
                <a:ea typeface="Arial" pitchFamily="34" charset="-122"/>
                <a:cs typeface="Arial" pitchFamily="34" charset="-120"/>
              </a:rPr>
              <a:t>the goal never lowers.</a:t>
            </a:r>
            <a:endParaRPr lang="en-US" sz="1400" dirty="0"/>
          </a:p>
        </p:txBody>
      </p:sp>
      <p:sp>
        <p:nvSpPr>
          <p:cNvPr id="15" name="Text 13"/>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16" name="Text 14"/>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
        <p:nvSpPr>
          <p:cNvPr id="17" name="TextBox 1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US.45</a:t>
            </a:r>
            <a:endParaRPr b="0" i="0" sz="6000" u="none" cap="none" strike="noStrike">
              <a:solidFill>
                <a:schemeClr val="dk1"/>
              </a:solidFill>
              <a:latin typeface="Calibri"/>
              <a:ea typeface="Calibri"/>
              <a:cs typeface="Calibri"/>
              <a:sym typeface="Calibri"/>
            </a:endParaRPr>
          </a:p>
        </p:txBody>
      </p:sp>
      <p:sp>
        <p:nvSpPr>
          <p:cNvPr id="18" name="Google Shape;18;p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Rise and Spread of Fascism, Communism, and Totalitarianism</a:t>
            </a:r>
            <a:endParaRPr b="0" i="0" sz="2600" u="none" cap="none" strike="noStrike">
              <a:solidFill>
                <a:schemeClr val="dk1"/>
              </a:solidFill>
              <a:latin typeface="Calibri"/>
              <a:ea typeface="Calibri"/>
              <a:cs typeface="Calibri"/>
              <a:sym typeface="Calibri"/>
            </a:endParaRPr>
          </a:p>
        </p:txBody>
      </p:sp>
      <p:sp>
        <p:nvSpPr>
          <p:cNvPr id="19" name="Google Shape;19;p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US.45 – Explain the rise and spread of fascism, communism, and totalitarianism internationally.</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4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 name="Shape 30"/>
        <p:cNvGrpSpPr/>
        <p:nvPr/>
      </p:nvGrpSpPr>
      <p:grpSpPr>
        <a:xfrm>
          <a:off x="0" y="0"/>
          <a:ext cx="0" cy="0"/>
          <a:chOff x="0" y="0"/>
          <a:chExt cx="0" cy="0"/>
        </a:xfrm>
      </p:grpSpPr>
      <p:sp>
        <p:nvSpPr>
          <p:cNvPr id="31" name="Google Shape;31;p2"/>
          <p:cNvSpPr/>
          <p:nvPr/>
        </p:nvSpPr>
        <p:spPr>
          <a:xfrm>
            <a:off x="28725" y="247900"/>
            <a:ext cx="12191700" cy="17373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149100" y="247900"/>
            <a:ext cx="12042600" cy="1485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Fascism and communism rose as rival extremes — fascism preached ultranationalism, dictatorship, and militarism, while communism preached class struggle, proletarian revolution, and state ownership of the means of production.</a:t>
            </a:r>
            <a:endParaRPr b="0" i="0" sz="2300" u="none" cap="none" strike="noStrike">
              <a:solidFill>
                <a:schemeClr val="dk1"/>
              </a:solidFill>
              <a:latin typeface="Calibri"/>
              <a:ea typeface="Calibri"/>
              <a:cs typeface="Calibri"/>
              <a:sym typeface="Calibri"/>
            </a:endParaRPr>
          </a:p>
        </p:txBody>
      </p:sp>
      <p:sp>
        <p:nvSpPr>
          <p:cNvPr id="34" name="Google Shape;34;p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Fascism and communism rose as rival extremes — fascism preached ultranationalism, dictatorship, and militarism, while communism preached class struggle, proletarian revolution, and state ownership of the means of production.</a:t>
            </a:r>
            <a:endParaRPr b="0" i="0" sz="2200" u="none" cap="none" strike="noStrike">
              <a:solidFill>
                <a:schemeClr val="dk1"/>
              </a:solidFill>
              <a:latin typeface="Calibri"/>
              <a:ea typeface="Calibri"/>
              <a:cs typeface="Calibri"/>
              <a:sym typeface="Calibri"/>
            </a:endParaRPr>
          </a:p>
        </p:txBody>
      </p:sp>
      <p:sp>
        <p:nvSpPr>
          <p:cNvPr id="38" name="Google Shape;38;p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Fascism vs. Communism</a:t>
            </a:r>
            <a:endParaRPr b="0" i="0" sz="1000" u="none" cap="none" strike="noStrike">
              <a:solidFill>
                <a:schemeClr val="dk1"/>
              </a:solidFill>
              <a:latin typeface="Calibri"/>
              <a:ea typeface="Calibri"/>
              <a:cs typeface="Calibri"/>
              <a:sym typeface="Calibri"/>
            </a:endParaRPr>
          </a:p>
        </p:txBody>
      </p:sp>
      <p:sp>
        <p:nvSpPr>
          <p:cNvPr id="39" name="Google Shape;39;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 name="Google Shape;40;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Totalitarian states seized total control — in Italy, Germany, and the Soviet Union, one-party regimes under Mussolini, Hitler, and Stalin used propaganda, secret police, and terror to dominate all public and private life.</a:t>
            </a:r>
            <a:endParaRPr b="0" i="0" sz="2300" u="none" cap="none" strike="noStrike">
              <a:solidFill>
                <a:schemeClr val="dk1"/>
              </a:solidFill>
              <a:latin typeface="Calibri"/>
              <a:ea typeface="Calibri"/>
              <a:cs typeface="Calibri"/>
              <a:sym typeface="Calibri"/>
            </a:endParaRPr>
          </a:p>
        </p:txBody>
      </p:sp>
      <p:pic>
        <p:nvPicPr>
          <p:cNvPr descr="hh-web/public/images/textbook/unit-6/nuremberg-nazi-rally-1935.jpg"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Totalitarianism in Italy, Germany &amp; USSR</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
        <p:nvSpPr>
          <p:cNvPr id="56" name="TextBox 5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Great Depression opened the door — economic collapse, resentment over the Treaty of Versailles, weak democracies, and fear of communism pushed desperate populations toward radical, authoritarian solutions.</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Great Depression opened the door — economic collapse, resentment over the Treaty of Versailles, weak democracies, and fear of communism pushed desperate populations toward radical, authoritarian solutions.</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Factors Behind the International Spread</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
        <p:nvSpPr>
          <p:cNvPr id="73" name="TextBox 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 name="Shape 77"/>
        <p:cNvGrpSpPr/>
        <p:nvPr/>
      </p:nvGrpSpPr>
      <p:grpSpPr>
        <a:xfrm>
          <a:off x="0" y="0"/>
          <a:ext cx="0" cy="0"/>
          <a:chOff x="0" y="0"/>
          <a:chExt cx="0" cy="0"/>
        </a:xfrm>
      </p:grpSpPr>
      <p:sp>
        <p:nvSpPr>
          <p:cNvPr id="78" name="Google Shape;78;p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1" name="Google Shape;81;p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82" name="Google Shape;82;p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Mussolini’s “The Doctrine of Fascism” — weigh who wrote it and why before you read the words.</a:t>
            </a:r>
            <a:endParaRPr b="0" i="0" sz="2000" u="none" cap="none" strike="noStrike">
              <a:solidFill>
                <a:schemeClr val="dk1"/>
              </a:solidFill>
              <a:latin typeface="Calibri"/>
              <a:ea typeface="Calibri"/>
              <a:cs typeface="Calibri"/>
              <a:sym typeface="Calibri"/>
            </a:endParaRPr>
          </a:p>
        </p:txBody>
      </p:sp>
      <p:sp>
        <p:nvSpPr>
          <p:cNvPr id="83" name="Google Shape;83;p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4" name="Google Shape;84;p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Benito Mussolini</a:t>
            </a:r>
            <a:endParaRPr b="0" i="0" sz="1200" u="none" cap="none" strike="noStrike">
              <a:solidFill>
                <a:schemeClr val="dk1"/>
              </a:solidFill>
              <a:latin typeface="Calibri"/>
              <a:ea typeface="Calibri"/>
              <a:cs typeface="Calibri"/>
              <a:sym typeface="Calibri"/>
            </a:endParaRPr>
          </a:p>
        </p:txBody>
      </p:sp>
      <p:sp>
        <p:nvSpPr>
          <p:cNvPr id="85" name="Google Shape;85;p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6" name="Google Shape;86;p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1932</a:t>
            </a:r>
            <a:endParaRPr b="0" i="0" sz="1200" u="none" cap="none" strike="noStrike">
              <a:solidFill>
                <a:schemeClr val="dk1"/>
              </a:solidFill>
              <a:latin typeface="Calibri"/>
              <a:ea typeface="Calibri"/>
              <a:cs typeface="Calibri"/>
              <a:sym typeface="Calibri"/>
            </a:endParaRPr>
          </a:p>
        </p:txBody>
      </p:sp>
      <p:sp>
        <p:nvSpPr>
          <p:cNvPr id="87" name="Google Shape;87;p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8" name="Google Shape;88;p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 name="Google Shape;89;p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Doctrine of Fascism</a:t>
            </a:r>
            <a:endParaRPr b="0" i="0" sz="1400" u="none" cap="none" strike="noStrike">
              <a:solidFill>
                <a:schemeClr val="dk1"/>
              </a:solidFill>
              <a:latin typeface="Calibri"/>
              <a:ea typeface="Calibri"/>
              <a:cs typeface="Calibri"/>
              <a:sym typeface="Calibri"/>
            </a:endParaRPr>
          </a:p>
        </p:txBody>
      </p:sp>
      <p:sp>
        <p:nvSpPr>
          <p:cNvPr id="91" name="Google Shape;91;p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Benito Mussolini · 1932</a:t>
            </a:r>
            <a:endParaRPr b="0" i="0" sz="900" u="none" cap="none" strike="noStrike">
              <a:solidFill>
                <a:schemeClr val="dk1"/>
              </a:solidFill>
              <a:latin typeface="Calibri"/>
              <a:ea typeface="Calibri"/>
              <a:cs typeface="Calibri"/>
              <a:sym typeface="Calibri"/>
            </a:endParaRPr>
          </a:p>
        </p:txBody>
      </p:sp>
      <p:sp>
        <p:nvSpPr>
          <p:cNvPr id="92" name="Google Shape;92;p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100" u="none" cap="none" strike="noStrike">
              <a:solidFill>
                <a:schemeClr val="dk1"/>
              </a:solidFill>
              <a:latin typeface="Calibri"/>
              <a:ea typeface="Calibri"/>
              <a:cs typeface="Calibri"/>
              <a:sym typeface="Calibri"/>
            </a:endParaRPr>
          </a:p>
        </p:txBody>
      </p:sp>
      <p:sp>
        <p:nvSpPr>
          <p:cNvPr id="93" name="Google Shape;93;p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5" name="Google Shape;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
        <p:nvSpPr>
          <p:cNvPr id="96" name="TextBox 9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0" name="Shape 100"/>
        <p:cNvGrpSpPr/>
        <p:nvPr/>
      </p:nvGrpSpPr>
      <p:grpSpPr>
        <a:xfrm>
          <a:off x="0" y="0"/>
          <a:ext cx="0" cy="0"/>
          <a:chOff x="0" y="0"/>
          <a:chExt cx="0" cy="0"/>
        </a:xfrm>
      </p:grpSpPr>
      <p:sp>
        <p:nvSpPr>
          <p:cNvPr id="101" name="Google Shape;101;p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 name="Google Shape;102;p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103" name="Google Shape;103;p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4" name="Google Shape;104;p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7" name="Google Shape;107;p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8" name="Google Shape;108;p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Dictators and their parties who seized total power, and industrialists and elites who backed strongmen to crush labor movements and communism.</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3" name="Google Shape;113;p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4" name="Google Shape;114;p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dissidents, ethnic and religious minorities, and ordinary citizens who lost civil liberties, free press, and eventually their lives under state terror.</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9" name="Google Shape;119;p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21" name="Google Shape;121;p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Single-party dictatorships that abolished checks on power — Mussolini, Hitler, and Stalin ruling through propaganda, secret police, and force.</a:t>
            </a:r>
            <a:endParaRPr b="0" i="0" sz="1200" u="none" cap="none" strike="noStrike">
              <a:solidFill>
                <a:schemeClr val="dk1"/>
              </a:solidFill>
              <a:latin typeface="Calibri"/>
              <a:ea typeface="Calibri"/>
              <a:cs typeface="Calibri"/>
              <a:sym typeface="Calibri"/>
            </a:endParaRPr>
          </a:p>
        </p:txBody>
      </p:sp>
      <p:sp>
        <p:nvSpPr>
          <p:cNvPr id="122" name="Google Shape;122;p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Doctrine of Fascism, Benito Mussolini, 1932 (Internet Archive)</a:t>
            </a:r>
            <a:endParaRPr b="0" i="0" sz="1000" u="none" cap="none" strike="noStrike">
              <a:solidFill>
                <a:schemeClr val="dk1"/>
              </a:solidFill>
              <a:latin typeface="Calibri"/>
              <a:ea typeface="Calibri"/>
              <a:cs typeface="Calibri"/>
              <a:sym typeface="Calibri"/>
            </a:endParaRPr>
          </a:p>
        </p:txBody>
      </p:sp>
      <p:sp>
        <p:nvSpPr>
          <p:cNvPr id="123" name="Google Shape;123;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 name="Google Shape;124;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
        <p:nvSpPr>
          <p:cNvPr id="125" name="TextBox 1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 name="Shape 129"/>
        <p:cNvGrpSpPr/>
        <p:nvPr/>
      </p:nvGrpSpPr>
      <p:grpSpPr>
        <a:xfrm>
          <a:off x="0" y="0"/>
          <a:ext cx="0" cy="0"/>
          <a:chOff x="0" y="0"/>
          <a:chExt cx="0" cy="0"/>
        </a:xfrm>
      </p:grpSpPr>
      <p:sp>
        <p:nvSpPr>
          <p:cNvPr id="130" name="Google Shape;130;p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US.46</a:t>
            </a:r>
            <a:endParaRPr b="0" i="0" sz="6000" u="none" cap="none" strike="noStrike">
              <a:solidFill>
                <a:schemeClr val="dk1"/>
              </a:solidFill>
              <a:latin typeface="Calibri"/>
              <a:ea typeface="Calibri"/>
              <a:cs typeface="Calibri"/>
              <a:sym typeface="Calibri"/>
            </a:endParaRPr>
          </a:p>
        </p:txBody>
      </p:sp>
      <p:sp>
        <p:nvSpPr>
          <p:cNvPr id="132" name="Google Shape;132;p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FDR's Response to World Crises</a:t>
            </a:r>
            <a:endParaRPr b="0" i="0" sz="2600" u="none" cap="none" strike="noStrike">
              <a:solidFill>
                <a:schemeClr val="dk1"/>
              </a:solidFill>
              <a:latin typeface="Calibri"/>
              <a:ea typeface="Calibri"/>
              <a:cs typeface="Calibri"/>
              <a:sym typeface="Calibri"/>
            </a:endParaRPr>
          </a:p>
        </p:txBody>
      </p:sp>
      <p:sp>
        <p:nvSpPr>
          <p:cNvPr id="133" name="Google Shape;133;p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US.46 – Explain President Franklin D. Roosevelt's response to world crises, including: The Quarantine Speech, the Four Freedoms speech, the Atlantic Charter, and the Lend-Lease Act.</a:t>
            </a:r>
            <a:endParaRPr b="0" i="0" sz="1600" u="none" cap="none" strike="noStrike">
              <a:solidFill>
                <a:schemeClr val="dk1"/>
              </a:solidFill>
              <a:latin typeface="Calibri"/>
              <a:ea typeface="Calibri"/>
              <a:cs typeface="Calibri"/>
              <a:sym typeface="Calibri"/>
            </a:endParaRPr>
          </a:p>
        </p:txBody>
      </p:sp>
      <p:sp>
        <p:nvSpPr>
          <p:cNvPr id="135" name="Google Shape;135;p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400" u="none" cap="none" strike="noStrike">
              <a:solidFill>
                <a:schemeClr val="dk1"/>
              </a:solidFill>
              <a:latin typeface="Calibri"/>
              <a:ea typeface="Calibri"/>
              <a:cs typeface="Calibri"/>
              <a:sym typeface="Calibri"/>
            </a:endParaRPr>
          </a:p>
        </p:txBody>
      </p:sp>
      <p:sp>
        <p:nvSpPr>
          <p:cNvPr id="138" name="Google Shape;138;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 name="Google Shape;139;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4" name="Shape 144"/>
        <p:cNvGrpSpPr/>
        <p:nvPr/>
      </p:nvGrpSpPr>
      <p:grpSpPr>
        <a:xfrm>
          <a:off x="0" y="0"/>
          <a:ext cx="0" cy="0"/>
          <a:chOff x="0" y="0"/>
          <a:chExt cx="0" cy="0"/>
        </a:xfrm>
      </p:grpSpPr>
      <p:sp>
        <p:nvSpPr>
          <p:cNvPr id="145" name="Google Shape;145;p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49" name="Google Shape;149;p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FDR warned against aggression, then defined the stakes — the 1937 Quarantine Speech urged isolating aggressor nations, and the 1941 Four Freedoms Speech framed the coming struggle around freedom of speech, worship, from want, and from fear.</a:t>
            </a:r>
            <a:endParaRPr b="0" i="0" sz="2300" u="none" cap="none" strike="noStrike">
              <a:solidFill>
                <a:schemeClr val="dk1"/>
              </a:solidFill>
              <a:latin typeface="Calibri"/>
              <a:ea typeface="Calibri"/>
              <a:cs typeface="Calibri"/>
              <a:sym typeface="Calibri"/>
            </a:endParaRPr>
          </a:p>
        </p:txBody>
      </p:sp>
      <p:pic>
        <p:nvPicPr>
          <p:cNvPr descr="hh-web/public/images/textbook/unit-6/fdr-fireside-chat-1941.jpg" id="150" name="Google Shape;150;p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1" name="Google Shape;151;p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Quarantine Speech &amp; Four Freedoms</a:t>
            </a:r>
            <a:endParaRPr b="0" i="0" sz="1000" u="none" cap="none" strike="noStrike">
              <a:solidFill>
                <a:schemeClr val="dk1"/>
              </a:solidFill>
              <a:latin typeface="Calibri"/>
              <a:ea typeface="Calibri"/>
              <a:cs typeface="Calibri"/>
              <a:sym typeface="Calibri"/>
            </a:endParaRPr>
          </a:p>
        </p:txBody>
      </p:sp>
      <p:sp>
        <p:nvSpPr>
          <p:cNvPr id="153" name="Google Shape;1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 name="Google Shape;1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
        <p:nvSpPr>
          <p:cNvPr id="155" name="TextBox 15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 name="Shape 159"/>
        <p:cNvGrpSpPr/>
        <p:nvPr/>
      </p:nvGrpSpPr>
      <p:grpSpPr>
        <a:xfrm>
          <a:off x="0" y="0"/>
          <a:ext cx="0" cy="0"/>
          <a:chOff x="0" y="0"/>
          <a:chExt cx="0" cy="0"/>
        </a:xfrm>
      </p:grpSpPr>
      <p:sp>
        <p:nvSpPr>
          <p:cNvPr id="160" name="Google Shape;160;p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Atlantic Charter set Allied war aims — meeting Churchill secretly off Newfoundland in August 1941, FDR set postwar principles of self-determination and collective security before the U.S. had even entered the war.</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Atlantic Charter set Allied war aims — meeting Churchill secretly off Newfoundland in August 1941, FDR set postwar principles of self-determination and collective security before the U.S. had even entered the war.</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Atlantic Charter</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
        <p:nvSpPr>
          <p:cNvPr id="172" name="TextBox 17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 name="Shape 176"/>
        <p:cNvGrpSpPr/>
        <p:nvPr/>
      </p:nvGrpSpPr>
      <p:grpSpPr>
        <a:xfrm>
          <a:off x="0" y="0"/>
          <a:ext cx="0" cy="0"/>
          <a:chOff x="0" y="0"/>
          <a:chExt cx="0" cy="0"/>
        </a:xfrm>
      </p:grpSpPr>
      <p:sp>
        <p:nvSpPr>
          <p:cNvPr id="177" name="Google Shape;177;p1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80" name="Google Shape;180;p1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81" name="Google Shape;181;p1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Lend-Lease made America the “arsenal of democracy” — the March 1941 Lend-Lease Act let the U.S. supply Britain and the Allies with military equipment without immediate payment, ending strict neutrality short of war.</a:t>
            </a:r>
            <a:endParaRPr b="0" i="0" sz="2300" u="none" cap="none" strike="noStrike">
              <a:solidFill>
                <a:schemeClr val="dk1"/>
              </a:solidFill>
              <a:latin typeface="Calibri"/>
              <a:ea typeface="Calibri"/>
              <a:cs typeface="Calibri"/>
              <a:sym typeface="Calibri"/>
            </a:endParaRPr>
          </a:p>
        </p:txBody>
      </p:sp>
      <p:sp>
        <p:nvSpPr>
          <p:cNvPr id="182" name="Google Shape;182;p1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85" name="Google Shape;185;p1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Lend-Lease made America the “arsenal of democracy” — the March 1941 Lend-Lease Act let the U.S. supply Britain and the Allies with military equipment without immediate payment, ending strict neutrality short of war.</a:t>
            </a:r>
            <a:endParaRPr b="0" i="0" sz="2200" u="none" cap="none" strike="noStrike">
              <a:solidFill>
                <a:schemeClr val="dk1"/>
              </a:solidFill>
              <a:latin typeface="Calibri"/>
              <a:ea typeface="Calibri"/>
              <a:cs typeface="Calibri"/>
              <a:sym typeface="Calibri"/>
            </a:endParaRPr>
          </a:p>
        </p:txBody>
      </p:sp>
      <p:sp>
        <p:nvSpPr>
          <p:cNvPr id="186" name="Google Shape;186;p1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Lend-Lease Act</a:t>
            </a:r>
            <a:endParaRPr b="0" i="0" sz="10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8" name="Google Shape;188;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
        <p:nvSpPr>
          <p:cNvPr id="189" name="TextBox 1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 name="Shape 193"/>
        <p:cNvGrpSpPr/>
        <p:nvPr/>
      </p:nvGrpSpPr>
      <p:grpSpPr>
        <a:xfrm>
          <a:off x="0" y="0"/>
          <a:ext cx="0" cy="0"/>
          <a:chOff x="0" y="0"/>
          <a:chExt cx="0" cy="0"/>
        </a:xfrm>
      </p:grpSpPr>
      <p:sp>
        <p:nvSpPr>
          <p:cNvPr id="194" name="Google Shape;194;p1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97" name="Google Shape;197;p1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98" name="Google Shape;198;p1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Four Freedoms Speech — identify the speaker, date, and purpose before you weigh his words.</a:t>
            </a:r>
            <a:endParaRPr b="0" i="0" sz="2000" u="none" cap="none" strike="noStrike">
              <a:solidFill>
                <a:schemeClr val="dk1"/>
              </a:solidFill>
              <a:latin typeface="Calibri"/>
              <a:ea typeface="Calibri"/>
              <a:cs typeface="Calibri"/>
              <a:sym typeface="Calibri"/>
            </a:endParaRPr>
          </a:p>
        </p:txBody>
      </p:sp>
      <p:sp>
        <p:nvSpPr>
          <p:cNvPr id="199" name="Google Shape;199;p1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00" name="Google Shape;200;p1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201" name="Google Shape;201;p1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02" name="Google Shape;202;p1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January 6, 1941</a:t>
            </a:r>
            <a:endParaRPr b="0" i="0" sz="1200" u="none" cap="none" strike="noStrike">
              <a:solidFill>
                <a:schemeClr val="dk1"/>
              </a:solidFill>
              <a:latin typeface="Calibri"/>
              <a:ea typeface="Calibri"/>
              <a:cs typeface="Calibri"/>
              <a:sym typeface="Calibri"/>
            </a:endParaRPr>
          </a:p>
        </p:txBody>
      </p:sp>
      <p:sp>
        <p:nvSpPr>
          <p:cNvPr id="203" name="Google Shape;203;p1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04" name="Google Shape;204;p1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205" name="Google Shape;205;p1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Four Freedoms Speech</a:t>
            </a:r>
            <a:endParaRPr b="0" i="0" sz="1400" u="none" cap="none" strike="noStrike">
              <a:solidFill>
                <a:schemeClr val="dk1"/>
              </a:solidFill>
              <a:latin typeface="Calibri"/>
              <a:ea typeface="Calibri"/>
              <a:cs typeface="Calibri"/>
              <a:sym typeface="Calibri"/>
            </a:endParaRPr>
          </a:p>
        </p:txBody>
      </p:sp>
      <p:sp>
        <p:nvSpPr>
          <p:cNvPr id="207" name="Google Shape;207;p1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January 6, 1941</a:t>
            </a:r>
            <a:endParaRPr b="0" i="0" sz="900" u="none" cap="none" strike="noStrike">
              <a:solidFill>
                <a:schemeClr val="dk1"/>
              </a:solidFill>
              <a:latin typeface="Calibri"/>
              <a:ea typeface="Calibri"/>
              <a:cs typeface="Calibri"/>
              <a:sym typeface="Calibri"/>
            </a:endParaRPr>
          </a:p>
        </p:txBody>
      </p:sp>
      <p:sp>
        <p:nvSpPr>
          <p:cNvPr id="208" name="Google Shape;208;p1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100" u="none" cap="none" strike="noStrike">
              <a:solidFill>
                <a:schemeClr val="dk1"/>
              </a:solidFill>
              <a:latin typeface="Calibri"/>
              <a:ea typeface="Calibri"/>
              <a:cs typeface="Calibri"/>
              <a:sym typeface="Calibri"/>
            </a:endParaRPr>
          </a:p>
        </p:txBody>
      </p:sp>
      <p:sp>
        <p:nvSpPr>
          <p:cNvPr id="209" name="Google Shape;209;p1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10" name="Google Shape;210;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 name="Google Shape;211;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
        <p:nvSpPr>
          <p:cNvPr id="212" name="TextBox 21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6" name="Shape 216"/>
        <p:cNvGrpSpPr/>
        <p:nvPr/>
      </p:nvGrpSpPr>
      <p:grpSpPr>
        <a:xfrm>
          <a:off x="0" y="0"/>
          <a:ext cx="0" cy="0"/>
          <a:chOff x="0" y="0"/>
          <a:chExt cx="0" cy="0"/>
        </a:xfrm>
      </p:grpSpPr>
      <p:sp>
        <p:nvSpPr>
          <p:cNvPr id="217" name="Google Shape;217;p1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18" name="Google Shape;218;p1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219" name="Google Shape;219;p1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20" name="Google Shape;220;p1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23" name="Google Shape;223;p1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24" name="Google Shape;224;p1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25" name="Google Shape;225;p1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Britain and the Allies, kept in the war by American supplies, and U.S. defense industries that expanded under Lend-Lease production.</a:t>
            </a:r>
            <a:endParaRPr b="0" i="0" sz="1200" u="none" cap="none" strike="noStrike">
              <a:solidFill>
                <a:schemeClr val="dk1"/>
              </a:solidFill>
              <a:latin typeface="Calibri"/>
              <a:ea typeface="Calibri"/>
              <a:cs typeface="Calibri"/>
              <a:sym typeface="Calibri"/>
            </a:endParaRPr>
          </a:p>
        </p:txBody>
      </p:sp>
      <p:sp>
        <p:nvSpPr>
          <p:cNvPr id="226" name="Google Shape;226;p1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29" name="Google Shape;229;p1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30" name="Google Shape;230;p1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1" name="Google Shape;231;p1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Isolationists whose influence FDR steadily eroded, and Axis powers whose enemies were now backed by American industrial might.</a:t>
            </a:r>
            <a:endParaRPr b="0" i="0" sz="1200" u="none" cap="none" strike="noStrike">
              <a:solidFill>
                <a:schemeClr val="dk1"/>
              </a:solidFill>
              <a:latin typeface="Calibri"/>
              <a:ea typeface="Calibri"/>
              <a:cs typeface="Calibri"/>
              <a:sym typeface="Calibri"/>
            </a:endParaRPr>
          </a:p>
        </p:txBody>
      </p:sp>
      <p:sp>
        <p:nvSpPr>
          <p:cNvPr id="232" name="Google Shape;232;p1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35" name="Google Shape;235;p1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36" name="Google Shape;236;p1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7" name="Google Shape;237;p1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steered a neutral nation toward the Allies, and Congress, which passed Lend-Lease over isolationist objection.</a:t>
            </a:r>
            <a:endParaRPr b="0" i="0" sz="1200" u="none" cap="none" strike="noStrike">
              <a:solidFill>
                <a:schemeClr val="dk1"/>
              </a:solidFill>
              <a:latin typeface="Calibri"/>
              <a:ea typeface="Calibri"/>
              <a:cs typeface="Calibri"/>
              <a:sym typeface="Calibri"/>
            </a:endParaRPr>
          </a:p>
        </p:txBody>
      </p:sp>
      <p:sp>
        <p:nvSpPr>
          <p:cNvPr id="238" name="Google Shape;238;p1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Four Freedoms Speech, President Franklin D. Roosevelt, January 6, 1941 (National Archives)</a:t>
            </a:r>
            <a:endParaRPr b="0" i="0" sz="1000" u="none" cap="none" strike="noStrike">
              <a:solidFill>
                <a:schemeClr val="dk1"/>
              </a:solidFill>
              <a:latin typeface="Calibri"/>
              <a:ea typeface="Calibri"/>
              <a:cs typeface="Calibri"/>
              <a:sym typeface="Calibri"/>
            </a:endParaRPr>
          </a:p>
        </p:txBody>
      </p:sp>
      <p:sp>
        <p:nvSpPr>
          <p:cNvPr id="239" name="Google Shape;239;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0" name="Google Shape;240;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
        <p:nvSpPr>
          <p:cNvPr id="241" name="TextBox 24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45" name="Shape 245"/>
        <p:cNvGrpSpPr/>
        <p:nvPr/>
      </p:nvGrpSpPr>
      <p:grpSpPr>
        <a:xfrm>
          <a:off x="0" y="0"/>
          <a:ext cx="0" cy="0"/>
          <a:chOff x="0" y="0"/>
          <a:chExt cx="0" cy="0"/>
        </a:xfrm>
      </p:grpSpPr>
      <p:sp>
        <p:nvSpPr>
          <p:cNvPr id="246" name="Google Shape;246;p1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US.47</a:t>
            </a:r>
            <a:endParaRPr b="0" i="0" sz="6000" u="none" cap="none" strike="noStrike">
              <a:solidFill>
                <a:schemeClr val="dk1"/>
              </a:solidFill>
              <a:latin typeface="Calibri"/>
              <a:ea typeface="Calibri"/>
              <a:cs typeface="Calibri"/>
              <a:sym typeface="Calibri"/>
            </a:endParaRPr>
          </a:p>
        </p:txBody>
      </p:sp>
      <p:sp>
        <p:nvSpPr>
          <p:cNvPr id="248" name="Google Shape;248;p1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U.S. Response to the Holocaust</a:t>
            </a:r>
            <a:endParaRPr b="0" i="0" sz="2600" u="none" cap="none" strike="noStrike">
              <a:solidFill>
                <a:schemeClr val="dk1"/>
              </a:solidFill>
              <a:latin typeface="Calibri"/>
              <a:ea typeface="Calibri"/>
              <a:cs typeface="Calibri"/>
              <a:sym typeface="Calibri"/>
            </a:endParaRPr>
          </a:p>
        </p:txBody>
      </p:sp>
      <p:sp>
        <p:nvSpPr>
          <p:cNvPr id="249" name="Google Shape;249;p1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50" name="Google Shape;250;p1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US.47 – Analyze the response of the U.S. to the plight of European Jews before the start of the war, the U.S. liberation of concentration camps during the war, and the immigration of Holocaust survivors after the war.</a:t>
            </a:r>
            <a:endParaRPr b="0" i="0" sz="1600" u="none" cap="none" strike="noStrike">
              <a:solidFill>
                <a:schemeClr val="dk1"/>
              </a:solidFill>
              <a:latin typeface="Calibri"/>
              <a:ea typeface="Calibri"/>
              <a:cs typeface="Calibri"/>
              <a:sym typeface="Calibri"/>
            </a:endParaRPr>
          </a:p>
        </p:txBody>
      </p:sp>
      <p:sp>
        <p:nvSpPr>
          <p:cNvPr id="251" name="Google Shape;251;p1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53" name="Google Shape;253;p1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400" u="none" cap="none" strike="noStrike">
              <a:solidFill>
                <a:schemeClr val="dk1"/>
              </a:solidFill>
              <a:latin typeface="Calibri"/>
              <a:ea typeface="Calibri"/>
              <a:cs typeface="Calibri"/>
              <a:sym typeface="Calibri"/>
            </a:endParaRPr>
          </a:p>
        </p:txBody>
      </p:sp>
      <p:sp>
        <p:nvSpPr>
          <p:cNvPr id="254" name="Google Shape;254;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5" name="Google Shape;255;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0" name="Shape 260"/>
        <p:cNvGrpSpPr/>
        <p:nvPr/>
      </p:nvGrpSpPr>
      <p:grpSpPr>
        <a:xfrm>
          <a:off x="0" y="0"/>
          <a:ext cx="0" cy="0"/>
          <a:chOff x="0" y="0"/>
          <a:chExt cx="0" cy="0"/>
        </a:xfrm>
      </p:grpSpPr>
      <p:sp>
        <p:nvSpPr>
          <p:cNvPr id="261" name="Google Shape;261;p1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64" name="Google Shape;264;p1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65" name="Google Shape;265;p1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Restrictive immigration limited America’s prewar response — the 1924 National Origins Act capped immigration from the regions where most European Jews lived, and quotas were rarely filled even as Nazi persecution intensified.</a:t>
            </a:r>
            <a:endParaRPr b="0" i="0" sz="2300" u="none" cap="none" strike="noStrike">
              <a:solidFill>
                <a:schemeClr val="dk1"/>
              </a:solidFill>
              <a:latin typeface="Calibri"/>
              <a:ea typeface="Calibri"/>
              <a:cs typeface="Calibri"/>
              <a:sym typeface="Calibri"/>
            </a:endParaRPr>
          </a:p>
        </p:txBody>
      </p:sp>
      <p:sp>
        <p:nvSpPr>
          <p:cNvPr id="266" name="Google Shape;266;p1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269" name="Google Shape;269;p1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Restrictive immigration limited America’s prewar response — the 1924 National Origins Act capped immigration from the regions where most European Jews lived, and quotas were rarely filled even as Nazi persecution intensified.</a:t>
            </a:r>
            <a:endParaRPr b="0" i="0" sz="2200" u="none" cap="none" strike="noStrike">
              <a:solidFill>
                <a:schemeClr val="dk1"/>
              </a:solidFill>
              <a:latin typeface="Calibri"/>
              <a:ea typeface="Calibri"/>
              <a:cs typeface="Calibri"/>
              <a:sym typeface="Calibri"/>
            </a:endParaRPr>
          </a:p>
        </p:txBody>
      </p:sp>
      <p:sp>
        <p:nvSpPr>
          <p:cNvPr id="270" name="Google Shape;270;p1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U.S. Response Before the War</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
        <p:nvSpPr>
          <p:cNvPr id="273" name="TextBox 2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 name="Shape 277"/>
        <p:cNvGrpSpPr/>
        <p:nvPr/>
      </p:nvGrpSpPr>
      <p:grpSpPr>
        <a:xfrm>
          <a:off x="0" y="0"/>
          <a:ext cx="0" cy="0"/>
          <a:chOff x="0" y="0"/>
          <a:chExt cx="0" cy="0"/>
        </a:xfrm>
      </p:grpSpPr>
      <p:sp>
        <p:nvSpPr>
          <p:cNvPr id="278" name="Google Shape;278;p1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81" name="Google Shape;281;p1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82" name="Google Shape;282;p1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forces liberated the concentration camps — as the war ended, Soviet forces freed Majdanek and Auschwitz, and U.S. forces freed Buchenwald and Dachau, exposing the full horror of the Holocaust to the world.</a:t>
            </a:r>
            <a:endParaRPr b="0" i="0" sz="2300" u="none" cap="none" strike="noStrike">
              <a:solidFill>
                <a:schemeClr val="dk1"/>
              </a:solidFill>
              <a:latin typeface="Calibri"/>
              <a:ea typeface="Calibri"/>
              <a:cs typeface="Calibri"/>
              <a:sym typeface="Calibri"/>
            </a:endParaRPr>
          </a:p>
        </p:txBody>
      </p:sp>
      <p:pic>
        <p:nvPicPr>
          <p:cNvPr descr="hh-web/public/images/textbook/unit-6/buchenwald-liberation-1945.jpg" id="283" name="Google Shape;283;p1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84" name="Google Shape;284;p1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85" name="Google Shape;285;p1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Liberation of the Camps</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 name="Google Shape;287;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
        <p:nvSpPr>
          <p:cNvPr id="288" name="TextBox 28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2" name="Shape 292"/>
        <p:cNvGrpSpPr/>
        <p:nvPr/>
      </p:nvGrpSpPr>
      <p:grpSpPr>
        <a:xfrm>
          <a:off x="0" y="0"/>
          <a:ext cx="0" cy="0"/>
          <a:chOff x="0" y="0"/>
          <a:chExt cx="0" cy="0"/>
        </a:xfrm>
      </p:grpSpPr>
      <p:sp>
        <p:nvSpPr>
          <p:cNvPr id="293" name="Google Shape;293;p1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Postwar policy slowly opened the door to survivors — the 1948 Displaced Persons Act admitted survivors, and Kristallnacht and the Holocaust reshaped debates over refugees, human rights, and America’s moral responsibility.</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Postwar policy slowly opened the door to survivors — the 1948 Displaced Persons Act admitted survivors, and Kristallnacht and the Holocaust reshaped debates over refugees, human rights, and America’s moral responsibility.</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Postwar Immigration &amp; Moral Reckoning</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
        <p:nvSpPr>
          <p:cNvPr id="305" name="TextBox 3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 name="Shape 309"/>
        <p:cNvGrpSpPr/>
        <p:nvPr/>
      </p:nvGrpSpPr>
      <p:grpSpPr>
        <a:xfrm>
          <a:off x="0" y="0"/>
          <a:ext cx="0" cy="0"/>
          <a:chOff x="0" y="0"/>
          <a:chExt cx="0" cy="0"/>
        </a:xfrm>
      </p:grpSpPr>
      <p:sp>
        <p:nvSpPr>
          <p:cNvPr id="310" name="Google Shape;310;p1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13" name="Google Shape;313;p1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Elie Wiesel’s testimony of liberation — consider the witness, the moment, and the purpose before you read the account.</a:t>
            </a:r>
            <a:endParaRPr b="0" i="0" sz="2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Elie Wiesel</a:t>
            </a:r>
            <a:endParaRPr b="0" i="0" sz="1200" u="none" cap="none" strike="noStrike">
              <a:solidFill>
                <a:schemeClr val="dk1"/>
              </a:solidFill>
              <a:latin typeface="Calibri"/>
              <a:ea typeface="Calibri"/>
              <a:cs typeface="Calibri"/>
              <a:sym typeface="Calibri"/>
            </a:endParaRPr>
          </a:p>
        </p:txBody>
      </p:sp>
      <p:sp>
        <p:nvSpPr>
          <p:cNvPr id="317" name="Google Shape;317;p1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18" name="Google Shape;318;p1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 (describing liberation)</a:t>
            </a:r>
            <a:endParaRPr b="0" i="0" sz="1200" u="none" cap="none" strike="noStrike">
              <a:solidFill>
                <a:schemeClr val="dk1"/>
              </a:solidFill>
              <a:latin typeface="Calibri"/>
              <a:ea typeface="Calibri"/>
              <a:cs typeface="Calibri"/>
              <a:sym typeface="Calibri"/>
            </a:endParaRPr>
          </a:p>
        </p:txBody>
      </p:sp>
      <p:sp>
        <p:nvSpPr>
          <p:cNvPr id="319" name="Google Shape;319;p1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20" name="Google Shape;320;p1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321" name="Google Shape;321;p1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Testimony of Holocaust Survivor</a:t>
            </a:r>
            <a:endParaRPr b="0" i="0" sz="1400" u="none" cap="none" strike="noStrike">
              <a:solidFill>
                <a:schemeClr val="dk1"/>
              </a:solidFill>
              <a:latin typeface="Calibri"/>
              <a:ea typeface="Calibri"/>
              <a:cs typeface="Calibri"/>
              <a:sym typeface="Calibri"/>
            </a:endParaRPr>
          </a:p>
        </p:txBody>
      </p:sp>
      <p:sp>
        <p:nvSpPr>
          <p:cNvPr id="323" name="Google Shape;323;p1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Elie Wiesel · 1945 (describing liberation)</a:t>
            </a:r>
            <a:endParaRPr b="0" i="0" sz="900" u="none" cap="none" strike="noStrike">
              <a:solidFill>
                <a:schemeClr val="dk1"/>
              </a:solidFill>
              <a:latin typeface="Calibri"/>
              <a:ea typeface="Calibri"/>
              <a:cs typeface="Calibri"/>
              <a:sym typeface="Calibri"/>
            </a:endParaRPr>
          </a:p>
        </p:txBody>
      </p:sp>
      <p:sp>
        <p:nvSpPr>
          <p:cNvPr id="324" name="Google Shape;324;p1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100" u="none" cap="none" strike="noStrike">
              <a:solidFill>
                <a:schemeClr val="dk1"/>
              </a:solidFill>
              <a:latin typeface="Calibri"/>
              <a:ea typeface="Calibri"/>
              <a:cs typeface="Calibri"/>
              <a:sym typeface="Calibri"/>
            </a:endParaRPr>
          </a:p>
        </p:txBody>
      </p:sp>
      <p:sp>
        <p:nvSpPr>
          <p:cNvPr id="325" name="Google Shape;325;p1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 name="Google Shape;327;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
        <p:nvSpPr>
          <p:cNvPr id="328" name="TextBox 32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2" name="Shape 332"/>
        <p:cNvGrpSpPr/>
        <p:nvPr/>
      </p:nvGrpSpPr>
      <p:grpSpPr>
        <a:xfrm>
          <a:off x="0" y="0"/>
          <a:ext cx="0" cy="0"/>
          <a:chOff x="0" y="0"/>
          <a:chExt cx="0" cy="0"/>
        </a:xfrm>
      </p:grpSpPr>
      <p:sp>
        <p:nvSpPr>
          <p:cNvPr id="333" name="Google Shape;333;p1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334" name="Google Shape;334;p1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336" name="Google Shape;336;p1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339" name="Google Shape;339;p1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1" name="Google Shape;341;p1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Survivors eventually admitted after the war, and postwar human-rights and refugee efforts that grew from the world’s reckoning with the Holocaust.</a:t>
            </a:r>
            <a:endParaRPr b="0" i="0" sz="1200" u="none" cap="none" strike="noStrike">
              <a:solidFill>
                <a:schemeClr val="dk1"/>
              </a:solidFill>
              <a:latin typeface="Calibri"/>
              <a:ea typeface="Calibri"/>
              <a:cs typeface="Calibri"/>
              <a:sym typeface="Calibri"/>
            </a:endParaRPr>
          </a:p>
        </p:txBody>
      </p:sp>
      <p:sp>
        <p:nvSpPr>
          <p:cNvPr id="342" name="Google Shape;342;p1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345" name="Google Shape;345;p1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7" name="Google Shape;347;p1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Six million murdered European Jews and millions of other victims, and refugees turned away by restrictive prewar immigration quotas.</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351" name="Google Shape;351;p1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352" name="Google Shape;352;p1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53" name="Google Shape;353;p1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Nazi Germany, which carried out genocide; and the U.S. government, whose immigration quotas and wartime priorities shaped a limited response.</a:t>
            </a:r>
            <a:endParaRPr b="0" i="0" sz="1200" u="none" cap="none" strike="noStrike">
              <a:solidFill>
                <a:schemeClr val="dk1"/>
              </a:solidFill>
              <a:latin typeface="Calibri"/>
              <a:ea typeface="Calibri"/>
              <a:cs typeface="Calibri"/>
              <a:sym typeface="Calibri"/>
            </a:endParaRPr>
          </a:p>
        </p:txBody>
      </p:sp>
      <p:sp>
        <p:nvSpPr>
          <p:cNvPr id="354" name="Google Shape;354;p1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Testimony of Holocaust Survivor, Elie Wiesel, 1945 (describing liberation) (United States Holocaust Memorial Museum)</a:t>
            </a:r>
            <a:endParaRPr b="0" i="0" sz="1000" u="none" cap="none" strike="noStrike">
              <a:solidFill>
                <a:schemeClr val="dk1"/>
              </a:solidFill>
              <a:latin typeface="Calibri"/>
              <a:ea typeface="Calibri"/>
              <a:cs typeface="Calibri"/>
              <a:sym typeface="Calibri"/>
            </a:endParaRPr>
          </a:p>
        </p:txBody>
      </p:sp>
      <p:sp>
        <p:nvSpPr>
          <p:cNvPr id="355" name="Google Shape;35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 name="Google Shape;35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
        <p:nvSpPr>
          <p:cNvPr id="357" name="TextBox 35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61" name="Shape 361"/>
        <p:cNvGrpSpPr/>
        <p:nvPr/>
      </p:nvGrpSpPr>
      <p:grpSpPr>
        <a:xfrm>
          <a:off x="0" y="0"/>
          <a:ext cx="0" cy="0"/>
          <a:chOff x="0" y="0"/>
          <a:chExt cx="0" cy="0"/>
        </a:xfrm>
      </p:grpSpPr>
      <p:sp>
        <p:nvSpPr>
          <p:cNvPr id="362" name="Google Shape;362;p1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US.48</a:t>
            </a:r>
            <a:endParaRPr b="0" i="0" sz="6000" u="none" cap="none" strike="noStrike">
              <a:solidFill>
                <a:schemeClr val="dk1"/>
              </a:solidFill>
              <a:latin typeface="Calibri"/>
              <a:ea typeface="Calibri"/>
              <a:cs typeface="Calibri"/>
              <a:sym typeface="Calibri"/>
            </a:endParaRPr>
          </a:p>
        </p:txBody>
      </p:sp>
      <p:sp>
        <p:nvSpPr>
          <p:cNvPr id="364" name="Google Shape;364;p1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American Entry into World War II</a:t>
            </a:r>
            <a:endParaRPr b="0" i="0" sz="2600" u="none" cap="none" strike="noStrike">
              <a:solidFill>
                <a:schemeClr val="dk1"/>
              </a:solidFill>
              <a:latin typeface="Calibri"/>
              <a:ea typeface="Calibri"/>
              <a:cs typeface="Calibri"/>
              <a:sym typeface="Calibri"/>
            </a:endParaRPr>
          </a:p>
        </p:txBody>
      </p:sp>
      <p:sp>
        <p:nvSpPr>
          <p:cNvPr id="365" name="Google Shape;365;p1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66" name="Google Shape;366;p1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US.48 – Explain the reasons for American entry into World War II, including the attack on Pearl Harbor.</a:t>
            </a:r>
            <a:endParaRPr b="0" i="0" sz="1600" u="none" cap="none" strike="noStrike">
              <a:solidFill>
                <a:schemeClr val="dk1"/>
              </a:solidFill>
              <a:latin typeface="Calibri"/>
              <a:ea typeface="Calibri"/>
              <a:cs typeface="Calibri"/>
              <a:sym typeface="Calibri"/>
            </a:endParaRPr>
          </a:p>
        </p:txBody>
      </p:sp>
      <p:sp>
        <p:nvSpPr>
          <p:cNvPr id="367" name="Google Shape;367;p1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69" name="Google Shape;369;p1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400" u="none" cap="none" strike="noStrike">
              <a:solidFill>
                <a:schemeClr val="dk1"/>
              </a:solidFill>
              <a:latin typeface="Calibri"/>
              <a:ea typeface="Calibri"/>
              <a:cs typeface="Calibri"/>
              <a:sym typeface="Calibri"/>
            </a:endParaRPr>
          </a:p>
        </p:txBody>
      </p:sp>
      <p:sp>
        <p:nvSpPr>
          <p:cNvPr id="370" name="Google Shape;37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1" name="Google Shape;37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 name="Shape 376"/>
        <p:cNvGrpSpPr/>
        <p:nvPr/>
      </p:nvGrpSpPr>
      <p:grpSpPr>
        <a:xfrm>
          <a:off x="0" y="0"/>
          <a:ext cx="0" cy="0"/>
          <a:chOff x="0" y="0"/>
          <a:chExt cx="0" cy="0"/>
        </a:xfrm>
      </p:grpSpPr>
      <p:sp>
        <p:nvSpPr>
          <p:cNvPr id="377" name="Google Shape;377;p2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80" name="Google Shape;380;p2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An undeclared naval war pulled the U.S. toward Europe — German U-boats attacked American ships carrying Lend-Lease supplies, drawing the United States into an escalating undeclared war in the Atlantic.</a:t>
            </a:r>
            <a:endParaRPr b="0" i="0" sz="2300" u="none" cap="none" strike="noStrike">
              <a:solidFill>
                <a:schemeClr val="dk1"/>
              </a:solidFill>
              <a:latin typeface="Calibri"/>
              <a:ea typeface="Calibri"/>
              <a:cs typeface="Calibri"/>
              <a:sym typeface="Calibri"/>
            </a:endParaRPr>
          </a:p>
        </p:txBody>
      </p:sp>
      <p:sp>
        <p:nvSpPr>
          <p:cNvPr id="382" name="Google Shape;382;p2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85" name="Google Shape;385;p2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An undeclared naval war pulled the U.S. toward Europe — German U-boats attacked American ships carrying Lend-Lease supplies, drawing the United States into an escalating undeclared war in the Atlantic.</a:t>
            </a:r>
            <a:endParaRPr b="0" i="0" sz="2200" u="none" cap="none" strike="noStrike">
              <a:solidFill>
                <a:schemeClr val="dk1"/>
              </a:solidFill>
              <a:latin typeface="Calibri"/>
              <a:ea typeface="Calibri"/>
              <a:cs typeface="Calibri"/>
              <a:sym typeface="Calibri"/>
            </a:endParaRPr>
          </a:p>
        </p:txBody>
      </p:sp>
      <p:sp>
        <p:nvSpPr>
          <p:cNvPr id="386" name="Google Shape;386;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European Theater</a:t>
            </a:r>
            <a:endParaRPr b="0" i="0" sz="1000" u="none" cap="none" strike="noStrike">
              <a:solidFill>
                <a:schemeClr val="dk1"/>
              </a:solidFill>
              <a:latin typeface="Calibri"/>
              <a:ea typeface="Calibri"/>
              <a:cs typeface="Calibri"/>
              <a:sym typeface="Calibri"/>
            </a:endParaRPr>
          </a:p>
        </p:txBody>
      </p:sp>
      <p:sp>
        <p:nvSpPr>
          <p:cNvPr id="387" name="Google Shape;387;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8" name="Google Shape;388;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
        <p:nvSpPr>
          <p:cNvPr id="389" name="TextBox 3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3" name="Shape 393"/>
        <p:cNvGrpSpPr/>
        <p:nvPr/>
      </p:nvGrpSpPr>
      <p:grpSpPr>
        <a:xfrm>
          <a:off x="0" y="0"/>
          <a:ext cx="0" cy="0"/>
          <a:chOff x="0" y="0"/>
          <a:chExt cx="0" cy="0"/>
        </a:xfrm>
      </p:grpSpPr>
      <p:sp>
        <p:nvSpPr>
          <p:cNvPr id="394" name="Google Shape;394;p2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Pacific tensions escalated toward war — Japanese expansion across China and Southeast Asia threatened U.S. interests, and an American oil and steel embargo pushed Japan to plan a surprise strike.</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Pacific tensions escalated toward war — Japanese expansion across China and Southeast Asia threatened U.S. interests, and an American oil and steel embargo pushed Japan to plan a surprise strike.</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Pacific Theater</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
        <p:nvSpPr>
          <p:cNvPr id="406" name="TextBox 4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0" name="Shape 410"/>
        <p:cNvGrpSpPr/>
        <p:nvPr/>
      </p:nvGrpSpPr>
      <p:grpSpPr>
        <a:xfrm>
          <a:off x="0" y="0"/>
          <a:ext cx="0" cy="0"/>
          <a:chOff x="0" y="0"/>
          <a:chExt cx="0" cy="0"/>
        </a:xfrm>
      </p:grpSpPr>
      <p:sp>
        <p:nvSpPr>
          <p:cNvPr id="411" name="Google Shape;411;p2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14" name="Google Shape;414;p2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15" name="Google Shape;415;p2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Pearl Harbor ended American neutrality — the December 7, 1941 surprise attack on the U.S. Pacific Fleet destroyed isolationist opposition, unified public opinion, and brought the United States fully into World War II.</a:t>
            </a:r>
            <a:endParaRPr b="0" i="0" sz="2300" u="none" cap="none" strike="noStrike">
              <a:solidFill>
                <a:schemeClr val="dk1"/>
              </a:solidFill>
              <a:latin typeface="Calibri"/>
              <a:ea typeface="Calibri"/>
              <a:cs typeface="Calibri"/>
              <a:sym typeface="Calibri"/>
            </a:endParaRPr>
          </a:p>
        </p:txBody>
      </p:sp>
      <p:pic>
        <p:nvPicPr>
          <p:cNvPr descr="hh-web/public/images/textbook/unit-6/pearl-harbor-uss-shaw-1941.jpg" id="416" name="Google Shape;416;p2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17" name="Google Shape;417;p2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Attack on Pearl Harbor &amp; Its Consequences</a:t>
            </a:r>
            <a:endParaRPr b="0" i="0" sz="1000" u="none" cap="none" strike="noStrike">
              <a:solidFill>
                <a:schemeClr val="dk1"/>
              </a:solidFill>
              <a:latin typeface="Calibri"/>
              <a:ea typeface="Calibri"/>
              <a:cs typeface="Calibri"/>
              <a:sym typeface="Calibri"/>
            </a:endParaRPr>
          </a:p>
        </p:txBody>
      </p:sp>
      <p:sp>
        <p:nvSpPr>
          <p:cNvPr id="419" name="Google Shape;419;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0" name="Google Shape;420;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
        <p:nvSpPr>
          <p:cNvPr id="421" name="TextBox 4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5" name="Shape 425"/>
        <p:cNvGrpSpPr/>
        <p:nvPr/>
      </p:nvGrpSpPr>
      <p:grpSpPr>
        <a:xfrm>
          <a:off x="0" y="0"/>
          <a:ext cx="0" cy="0"/>
          <a:chOff x="0" y="0"/>
          <a:chExt cx="0" cy="0"/>
        </a:xfrm>
      </p:grpSpPr>
      <p:sp>
        <p:nvSpPr>
          <p:cNvPr id="426" name="Google Shape;426;p2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429" name="Google Shape;429;p2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30" name="Google Shape;430;p2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“Day of Infamy” Speech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431" name="Google Shape;431;p2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432" name="Google Shape;432;p2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434" name="Google Shape;434;p2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December 8, 1941</a:t>
            </a:r>
            <a:endParaRPr b="0" i="0" sz="1200" u="none" cap="none" strike="noStrike">
              <a:solidFill>
                <a:schemeClr val="dk1"/>
              </a:solidFill>
              <a:latin typeface="Calibri"/>
              <a:ea typeface="Calibri"/>
              <a:cs typeface="Calibri"/>
              <a:sym typeface="Calibri"/>
            </a:endParaRPr>
          </a:p>
        </p:txBody>
      </p:sp>
      <p:sp>
        <p:nvSpPr>
          <p:cNvPr id="435" name="Google Shape;435;p2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436" name="Google Shape;436;p2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437" name="Google Shape;437;p2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Day of Infamy Speech</a:t>
            </a:r>
            <a:endParaRPr b="0" i="0" sz="1400" u="none" cap="none" strike="noStrike">
              <a:solidFill>
                <a:schemeClr val="dk1"/>
              </a:solidFill>
              <a:latin typeface="Calibri"/>
              <a:ea typeface="Calibri"/>
              <a:cs typeface="Calibri"/>
              <a:sym typeface="Calibri"/>
            </a:endParaRPr>
          </a:p>
        </p:txBody>
      </p:sp>
      <p:sp>
        <p:nvSpPr>
          <p:cNvPr id="439" name="Google Shape;439;p2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December 8, 1941</a:t>
            </a:r>
            <a:endParaRPr b="0" i="0" sz="900" u="none" cap="none" strike="noStrike">
              <a:solidFill>
                <a:schemeClr val="dk1"/>
              </a:solidFill>
              <a:latin typeface="Calibri"/>
              <a:ea typeface="Calibri"/>
              <a:cs typeface="Calibri"/>
              <a:sym typeface="Calibri"/>
            </a:endParaRPr>
          </a:p>
        </p:txBody>
      </p:sp>
      <p:sp>
        <p:nvSpPr>
          <p:cNvPr id="440" name="Google Shape;440;p2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100" u="none" cap="none" strike="noStrike">
              <a:solidFill>
                <a:schemeClr val="dk1"/>
              </a:solidFill>
              <a:latin typeface="Calibri"/>
              <a:ea typeface="Calibri"/>
              <a:cs typeface="Calibri"/>
              <a:sym typeface="Calibri"/>
            </a:endParaRPr>
          </a:p>
        </p:txBody>
      </p:sp>
      <p:sp>
        <p:nvSpPr>
          <p:cNvPr id="441" name="Google Shape;441;p2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 name="Google Shape;443;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
        <p:nvSpPr>
          <p:cNvPr id="444" name="TextBox 44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48" name="Shape 448"/>
        <p:cNvGrpSpPr/>
        <p:nvPr/>
      </p:nvGrpSpPr>
      <p:grpSpPr>
        <a:xfrm>
          <a:off x="0" y="0"/>
          <a:ext cx="0" cy="0"/>
          <a:chOff x="0" y="0"/>
          <a:chExt cx="0" cy="0"/>
        </a:xfrm>
      </p:grpSpPr>
      <p:sp>
        <p:nvSpPr>
          <p:cNvPr id="449" name="Google Shape;449;p2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50" name="Google Shape;450;p2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51" name="Google Shape;451;p2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52" name="Google Shape;452;p2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55" name="Google Shape;455;p2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56" name="Google Shape;456;p2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57" name="Google Shape;457;p2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joined by America’s full industrial and military power, and interventionists whose warnings were vindicated by the attack.</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61" name="Google Shape;461;p2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62" name="Google Shape;462;p2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3" name="Google Shape;463;p2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2,400 killed at Pearl Harbor, the sailors and civilians of the Pacific Fleet, and the millions of Americans soon sent to war.</a:t>
            </a:r>
            <a:endParaRPr b="0" i="0" sz="1200" u="none" cap="none" strike="noStrike">
              <a:solidFill>
                <a:schemeClr val="dk1"/>
              </a:solidFill>
              <a:latin typeface="Calibri"/>
              <a:ea typeface="Calibri"/>
              <a:cs typeface="Calibri"/>
              <a:sym typeface="Calibri"/>
            </a:endParaRPr>
          </a:p>
        </p:txBody>
      </p:sp>
      <p:sp>
        <p:nvSpPr>
          <p:cNvPr id="464" name="Google Shape;464;p2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67" name="Google Shape;467;p2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68" name="Google Shape;468;p2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9" name="Google Shape;469;p2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Japan’s military leaders, who ordered the attack; and President Roosevelt and Congress, who declared war the next day.</a:t>
            </a:r>
            <a:endParaRPr b="0" i="0" sz="1200" u="none" cap="none" strike="noStrike">
              <a:solidFill>
                <a:schemeClr val="dk1"/>
              </a:solidFill>
              <a:latin typeface="Calibri"/>
              <a:ea typeface="Calibri"/>
              <a:cs typeface="Calibri"/>
              <a:sym typeface="Calibri"/>
            </a:endParaRPr>
          </a:p>
        </p:txBody>
      </p:sp>
      <p:sp>
        <p:nvSpPr>
          <p:cNvPr id="470" name="Google Shape;470;p2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Day of Infamy Speech, President Franklin D. Roosevelt, December 8, 1941 (National Archives)</a:t>
            </a:r>
            <a:endParaRPr b="0" i="0" sz="1000" u="none" cap="none" strike="noStrike">
              <a:solidFill>
                <a:schemeClr val="dk1"/>
              </a:solidFill>
              <a:latin typeface="Calibri"/>
              <a:ea typeface="Calibri"/>
              <a:cs typeface="Calibri"/>
              <a:sym typeface="Calibri"/>
            </a:endParaRPr>
          </a:p>
        </p:txBody>
      </p:sp>
      <p:sp>
        <p:nvSpPr>
          <p:cNvPr id="471" name="Google Shape;471;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
        <p:nvSpPr>
          <p:cNvPr id="473" name="TextBox 4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2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US.49</a:t>
            </a:r>
            <a:endParaRPr b="0" i="0" sz="6000" u="none" cap="none" strike="noStrike">
              <a:solidFill>
                <a:schemeClr val="dk1"/>
              </a:solidFill>
              <a:latin typeface="Calibri"/>
              <a:ea typeface="Calibri"/>
              <a:cs typeface="Calibri"/>
              <a:sym typeface="Calibri"/>
            </a:endParaRPr>
          </a:p>
        </p:txBody>
      </p:sp>
      <p:sp>
        <p:nvSpPr>
          <p:cNvPr id="480" name="Google Shape;480;p2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WWII Leaders &amp; Key Figures</a:t>
            </a:r>
            <a:endParaRPr b="0" i="0" sz="2600" u="none" cap="none" strike="noStrike">
              <a:solidFill>
                <a:schemeClr val="dk1"/>
              </a:solidFill>
              <a:latin typeface="Calibri"/>
              <a:ea typeface="Calibri"/>
              <a:cs typeface="Calibri"/>
              <a:sym typeface="Calibri"/>
            </a:endParaRPr>
          </a:p>
        </p:txBody>
      </p:sp>
      <p:sp>
        <p:nvSpPr>
          <p:cNvPr id="481" name="Google Shape;481;p2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82" name="Google Shape;482;p2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US.49 – 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600" u="none" cap="none" strike="noStrike">
              <a:solidFill>
                <a:schemeClr val="dk1"/>
              </a:solidFill>
              <a:latin typeface="Calibri"/>
              <a:ea typeface="Calibri"/>
              <a:cs typeface="Calibri"/>
              <a:sym typeface="Calibri"/>
            </a:endParaRPr>
          </a:p>
        </p:txBody>
      </p:sp>
      <p:sp>
        <p:nvSpPr>
          <p:cNvPr id="483" name="Google Shape;483;p2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400" u="none" cap="none" strike="noStrike">
              <a:solidFill>
                <a:schemeClr val="dk1"/>
              </a:solidFill>
              <a:latin typeface="Calibri"/>
              <a:ea typeface="Calibri"/>
              <a:cs typeface="Calibri"/>
              <a:sym typeface="Calibri"/>
            </a:endParaRPr>
          </a:p>
        </p:txBody>
      </p:sp>
      <p:sp>
        <p:nvSpPr>
          <p:cNvPr id="486" name="Google Shape;486;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7" name="Google Shape;487;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2" name="Shape 492"/>
        <p:cNvGrpSpPr/>
        <p:nvPr/>
      </p:nvGrpSpPr>
      <p:grpSpPr>
        <a:xfrm>
          <a:off x="0" y="0"/>
          <a:ext cx="0" cy="0"/>
          <a:chOff x="0" y="0"/>
          <a:chExt cx="0" cy="0"/>
        </a:xfrm>
      </p:grpSpPr>
      <p:sp>
        <p:nvSpPr>
          <p:cNvPr id="493" name="Google Shape;493;p2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6" name="Google Shape;496;p2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497" name="Google Shape;497;p2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leaders rallied nations and coalitions — Churchill inspired British resistance, FDR marshaled American production, and Stalin drove the Soviet war effort on the Eastern Front against Nazi Germany.</a:t>
            </a:r>
            <a:endParaRPr b="0" i="0" sz="2300" u="none" cap="none" strike="noStrike">
              <a:solidFill>
                <a:schemeClr val="dk1"/>
              </a:solidFill>
              <a:latin typeface="Calibri"/>
              <a:ea typeface="Calibri"/>
              <a:cs typeface="Calibri"/>
              <a:sym typeface="Calibri"/>
            </a:endParaRPr>
          </a:p>
        </p:txBody>
      </p:sp>
      <p:sp>
        <p:nvSpPr>
          <p:cNvPr id="498" name="Google Shape;498;p2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01" name="Google Shape;501;p2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leaders rallied nations and coalitions — Churchill inspired British resistance, FDR marshaled American production, and Stalin drove the Soviet war effort on the Eastern Front against Nazi Germany.</a:t>
            </a:r>
            <a:endParaRPr b="0" i="0" sz="2200" u="none" cap="none" strike="noStrike">
              <a:solidFill>
                <a:schemeClr val="dk1"/>
              </a:solidFill>
              <a:latin typeface="Calibri"/>
              <a:ea typeface="Calibri"/>
              <a:cs typeface="Calibri"/>
              <a:sym typeface="Calibri"/>
            </a:endParaRPr>
          </a:p>
        </p:txBody>
      </p:sp>
      <p:sp>
        <p:nvSpPr>
          <p:cNvPr id="502" name="Google Shape;502;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Political Leaders</a:t>
            </a:r>
            <a:endParaRPr b="0" i="0" sz="1000" u="none" cap="none" strike="noStrike">
              <a:solidFill>
                <a:schemeClr val="dk1"/>
              </a:solidFill>
              <a:latin typeface="Calibri"/>
              <a:ea typeface="Calibri"/>
              <a:cs typeface="Calibri"/>
              <a:sym typeface="Calibri"/>
            </a:endParaRPr>
          </a:p>
        </p:txBody>
      </p:sp>
      <p:sp>
        <p:nvSpPr>
          <p:cNvPr id="503" name="Google Shape;503;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 name="Google Shape;504;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
        <p:nvSpPr>
          <p:cNvPr id="505" name="TextBox 5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9" name="Shape 509"/>
        <p:cNvGrpSpPr/>
        <p:nvPr/>
      </p:nvGrpSpPr>
      <p:grpSpPr>
        <a:xfrm>
          <a:off x="0" y="0"/>
          <a:ext cx="0" cy="0"/>
          <a:chOff x="0" y="0"/>
          <a:chExt cx="0" cy="0"/>
        </a:xfrm>
      </p:grpSpPr>
      <p:sp>
        <p:nvSpPr>
          <p:cNvPr id="510" name="Google Shape;510;p2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13" name="Google Shape;513;p2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14" name="Google Shape;514;p2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commanders planned victory in two theaters — Eisenhower directed D-Day and the war in Europe, while MacArthur and Nimitz led the island-hopping campaign that carried the fight across the Pacific to Japan.</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515" name="Google Shape;515;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16" name="Google Shape;516;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17" name="Google Shape;517;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Military Leaders</a:t>
            </a:r>
            <a:endParaRPr b="0" i="0" sz="1000" u="none" cap="none" strike="noStrike">
              <a:solidFill>
                <a:schemeClr val="dk1"/>
              </a:solidFill>
              <a:latin typeface="Calibri"/>
              <a:ea typeface="Calibri"/>
              <a:cs typeface="Calibri"/>
              <a:sym typeface="Calibri"/>
            </a:endParaRPr>
          </a:p>
        </p:txBody>
      </p:sp>
      <p:sp>
        <p:nvSpPr>
          <p:cNvPr id="518" name="Google Shape;518;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9" name="Google Shape;519;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
        <p:nvSpPr>
          <p:cNvPr id="520" name="TextBox 51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 name="Shape 524"/>
        <p:cNvGrpSpPr/>
        <p:nvPr/>
      </p:nvGrpSpPr>
      <p:grpSpPr>
        <a:xfrm>
          <a:off x="0" y="0"/>
          <a:ext cx="0" cy="0"/>
          <a:chOff x="0" y="0"/>
          <a:chExt cx="0" cy="0"/>
        </a:xfrm>
      </p:grpSpPr>
      <p:sp>
        <p:nvSpPr>
          <p:cNvPr id="525" name="Google Shape;525;p2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Axis leaders drove aggression and defeat — Hitler’s blitzkrieg and invasion of the USSR, Mussolini’s fascist Italy, and Japan’s militarist expansion set the course of the war and ended in the collapse of all three regimes.</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Axis leaders drove aggression and defeat — Hitler’s blitzkrieg and invasion of the USSR, Mussolini’s fascist Italy, and Japan’s militarist expansion set the course of the war and ended in the collapse of all three regimes.</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Axis Leaders &amp; Comparing Leadership</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
        <p:nvSpPr>
          <p:cNvPr id="537" name="TextBox 53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 name="Shape 541"/>
        <p:cNvGrpSpPr/>
        <p:nvPr/>
      </p:nvGrpSpPr>
      <p:grpSpPr>
        <a:xfrm>
          <a:off x="0" y="0"/>
          <a:ext cx="0" cy="0"/>
          <a:chOff x="0" y="0"/>
          <a:chExt cx="0" cy="0"/>
        </a:xfrm>
      </p:grpSpPr>
      <p:sp>
        <p:nvSpPr>
          <p:cNvPr id="542" name="Google Shape;542;p2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45" name="Google Shape;545;p2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46" name="Google Shape;546;p2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Churchill’s “We Shall Fight on the Beaches” Speech — weigh the speaker, moment, and audience before you read the words.</a:t>
            </a:r>
            <a:endParaRPr b="0" i="0" sz="2000" u="none" cap="none" strike="noStrike">
              <a:solidFill>
                <a:schemeClr val="dk1"/>
              </a:solidFill>
              <a:latin typeface="Calibri"/>
              <a:ea typeface="Calibri"/>
              <a:cs typeface="Calibri"/>
              <a:sym typeface="Calibri"/>
            </a:endParaRPr>
          </a:p>
        </p:txBody>
      </p:sp>
      <p:sp>
        <p:nvSpPr>
          <p:cNvPr id="547" name="Google Shape;547;p2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Winston Churchill</a:t>
            </a:r>
            <a:endParaRPr b="0" i="0" sz="1200" u="none" cap="none" strike="noStrike">
              <a:solidFill>
                <a:schemeClr val="dk1"/>
              </a:solidFill>
              <a:latin typeface="Calibri"/>
              <a:ea typeface="Calibri"/>
              <a:cs typeface="Calibri"/>
              <a:sym typeface="Calibri"/>
            </a:endParaRPr>
          </a:p>
        </p:txBody>
      </p:sp>
      <p:sp>
        <p:nvSpPr>
          <p:cNvPr id="549" name="Google Shape;549;p2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50" name="Google Shape;550;p2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4, 1940</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52" name="Google Shape;552;p2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553" name="Google Shape;553;p2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 Shall Fight on the Beaches Speech</a:t>
            </a:r>
            <a:endParaRPr b="0" i="0" sz="1400" u="none" cap="none" strike="noStrike">
              <a:solidFill>
                <a:schemeClr val="dk1"/>
              </a:solidFill>
              <a:latin typeface="Calibri"/>
              <a:ea typeface="Calibri"/>
              <a:cs typeface="Calibri"/>
              <a:sym typeface="Calibri"/>
            </a:endParaRPr>
          </a:p>
        </p:txBody>
      </p:sp>
      <p:sp>
        <p:nvSpPr>
          <p:cNvPr id="555" name="Google Shape;555;p2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Winston Churchill · June 4, 1940</a:t>
            </a:r>
            <a:endParaRPr b="0" i="0" sz="900" u="none" cap="none" strike="noStrike">
              <a:solidFill>
                <a:schemeClr val="dk1"/>
              </a:solidFill>
              <a:latin typeface="Calibri"/>
              <a:ea typeface="Calibri"/>
              <a:cs typeface="Calibri"/>
              <a:sym typeface="Calibri"/>
            </a:endParaRPr>
          </a:p>
        </p:txBody>
      </p:sp>
      <p:sp>
        <p:nvSpPr>
          <p:cNvPr id="556" name="Google Shape;556;p2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100" u="none" cap="none" strike="noStrike">
              <a:solidFill>
                <a:schemeClr val="dk1"/>
              </a:solidFill>
              <a:latin typeface="Calibri"/>
              <a:ea typeface="Calibri"/>
              <a:cs typeface="Calibri"/>
              <a:sym typeface="Calibri"/>
            </a:endParaRPr>
          </a:p>
        </p:txBody>
      </p:sp>
      <p:sp>
        <p:nvSpPr>
          <p:cNvPr id="557" name="Google Shape;557;p2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558" name="Google Shape;558;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 name="Google Shape;559;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
        <p:nvSpPr>
          <p:cNvPr id="560" name="TextBox 55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4" name="Shape 564"/>
        <p:cNvGrpSpPr/>
        <p:nvPr/>
      </p:nvGrpSpPr>
      <p:grpSpPr>
        <a:xfrm>
          <a:off x="0" y="0"/>
          <a:ext cx="0" cy="0"/>
          <a:chOff x="0" y="0"/>
          <a:chExt cx="0" cy="0"/>
        </a:xfrm>
      </p:grpSpPr>
      <p:sp>
        <p:nvSpPr>
          <p:cNvPr id="565" name="Google Shape;565;p3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66" name="Google Shape;566;p3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67" name="Google Shape;567;p3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68" name="Google Shape;568;p3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71" name="Google Shape;571;p3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72" name="Google Shape;572;p3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3" name="Google Shape;573;p3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nations and their peoples, freed from Axis conquest, and leaders like Churchill and Eisenhower whose reputations were cemented by victory.</a:t>
            </a:r>
            <a:endParaRPr b="0" i="0" sz="1200" u="none" cap="none" strike="noStrike">
              <a:solidFill>
                <a:schemeClr val="dk1"/>
              </a:solidFill>
              <a:latin typeface="Calibri"/>
              <a:ea typeface="Calibri"/>
              <a:cs typeface="Calibri"/>
              <a:sym typeface="Calibri"/>
            </a:endParaRPr>
          </a:p>
        </p:txBody>
      </p:sp>
      <p:sp>
        <p:nvSpPr>
          <p:cNvPr id="574" name="Google Shape;574;p3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77" name="Google Shape;577;p3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78" name="Google Shape;578;p3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9" name="Google Shape;579;p3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millions of soldiers and civilians killed worldwide, and the populations subjected to Axis occupation and total war.</a:t>
            </a:r>
            <a:endParaRPr b="0" i="0" sz="1200" u="none" cap="none" strike="noStrike">
              <a:solidFill>
                <a:schemeClr val="dk1"/>
              </a:solidFill>
              <a:latin typeface="Calibri"/>
              <a:ea typeface="Calibri"/>
              <a:cs typeface="Calibri"/>
              <a:sym typeface="Calibri"/>
            </a:endParaRPr>
          </a:p>
        </p:txBody>
      </p:sp>
      <p:sp>
        <p:nvSpPr>
          <p:cNvPr id="580" name="Google Shape;580;p3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83" name="Google Shape;583;p3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84" name="Google Shape;584;p3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85" name="Google Shape;585;p3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and Axis heads of state and their top commanders, whose strategic decisions directed the movements of entire armies.</a:t>
            </a:r>
            <a:endParaRPr b="0" i="0" sz="1200" u="none" cap="none" strike="noStrike">
              <a:solidFill>
                <a:schemeClr val="dk1"/>
              </a:solidFill>
              <a:latin typeface="Calibri"/>
              <a:ea typeface="Calibri"/>
              <a:cs typeface="Calibri"/>
              <a:sym typeface="Calibri"/>
            </a:endParaRPr>
          </a:p>
        </p:txBody>
      </p:sp>
      <p:sp>
        <p:nvSpPr>
          <p:cNvPr id="586" name="Google Shape;586;p3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We Shall Fight on the Beaches Speech, Winston Churchill, June 4, 1940 (International Churchill Society)</a:t>
            </a:r>
            <a:endParaRPr b="0" i="0" sz="1000" u="none" cap="none" strike="noStrike">
              <a:solidFill>
                <a:schemeClr val="dk1"/>
              </a:solidFill>
              <a:latin typeface="Calibri"/>
              <a:ea typeface="Calibri"/>
              <a:cs typeface="Calibri"/>
              <a:sym typeface="Calibri"/>
            </a:endParaRPr>
          </a:p>
        </p:txBody>
      </p:sp>
      <p:sp>
        <p:nvSpPr>
          <p:cNvPr id="587" name="Google Shape;587;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8" name="Google Shape;588;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
        <p:nvSpPr>
          <p:cNvPr id="589" name="TextBox 5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3" name="Shape 593"/>
        <p:cNvGrpSpPr/>
        <p:nvPr/>
      </p:nvGrpSpPr>
      <p:grpSpPr>
        <a:xfrm>
          <a:off x="0" y="0"/>
          <a:ext cx="0" cy="0"/>
          <a:chOff x="0" y="0"/>
          <a:chExt cx="0" cy="0"/>
        </a:xfrm>
      </p:grpSpPr>
      <p:sp>
        <p:nvSpPr>
          <p:cNvPr id="594" name="Google Shape;594;p3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US.50</a:t>
            </a:r>
            <a:endParaRPr b="0" i="0" sz="6000" u="none" cap="none" strike="noStrike">
              <a:solidFill>
                <a:schemeClr val="dk1"/>
              </a:solidFill>
              <a:latin typeface="Calibri"/>
              <a:ea typeface="Calibri"/>
              <a:cs typeface="Calibri"/>
              <a:sym typeface="Calibri"/>
            </a:endParaRPr>
          </a:p>
        </p:txBody>
      </p:sp>
      <p:sp>
        <p:nvSpPr>
          <p:cNvPr id="596" name="Google Shape;596;p3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Major WWII Battles: Midway, Iwo Jima, Okinawa &amp; D-Day</a:t>
            </a:r>
            <a:endParaRPr b="0" i="0" sz="2600" u="none" cap="none" strike="noStrike">
              <a:solidFill>
                <a:schemeClr val="dk1"/>
              </a:solidFill>
              <a:latin typeface="Calibri"/>
              <a:ea typeface="Calibri"/>
              <a:cs typeface="Calibri"/>
              <a:sym typeface="Calibri"/>
            </a:endParaRPr>
          </a:p>
        </p:txBody>
      </p:sp>
      <p:sp>
        <p:nvSpPr>
          <p:cNvPr id="597" name="Google Shape;597;p3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98" name="Google Shape;598;p3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US.50 – Explain the role of geographic and military factors on the outcomes of battles in the Pacific and European theaters of war, including the Battles of Midway, Iwo Jima, Okinawa, and D-Day.</a:t>
            </a:r>
            <a:endParaRPr b="0" i="0" sz="1600" u="none" cap="none" strike="noStrike">
              <a:solidFill>
                <a:schemeClr val="dk1"/>
              </a:solidFill>
              <a:latin typeface="Calibri"/>
              <a:ea typeface="Calibri"/>
              <a:cs typeface="Calibri"/>
              <a:sym typeface="Calibri"/>
            </a:endParaRPr>
          </a:p>
        </p:txBody>
      </p:sp>
      <p:sp>
        <p:nvSpPr>
          <p:cNvPr id="599" name="Google Shape;599;p3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400" u="none" cap="none" strike="noStrike">
              <a:solidFill>
                <a:schemeClr val="dk1"/>
              </a:solidFill>
              <a:latin typeface="Calibri"/>
              <a:ea typeface="Calibri"/>
              <a:cs typeface="Calibri"/>
              <a:sym typeface="Calibri"/>
            </a:endParaRPr>
          </a:p>
        </p:txBody>
      </p:sp>
      <p:sp>
        <p:nvSpPr>
          <p:cNvPr id="602" name="Google Shape;602;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03" name="Google Shape;603;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8" name="Shape 608"/>
        <p:cNvGrpSpPr/>
        <p:nvPr/>
      </p:nvGrpSpPr>
      <p:grpSpPr>
        <a:xfrm>
          <a:off x="0" y="0"/>
          <a:ext cx="0" cy="0"/>
          <a:chOff x="0" y="0"/>
          <a:chExt cx="0" cy="0"/>
        </a:xfrm>
      </p:grpSpPr>
      <p:sp>
        <p:nvSpPr>
          <p:cNvPr id="609" name="Google Shape;609;p3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Midway turned the tide in the Pacific — in June 1942 American codebreaking and carrier air power sank four Japanese carriers at Midway Atoll, halting Japanese expansion and shifting the initiative to the United States.</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Midway turned the tide in the Pacific — in June 1942 American codebreaking and carrier air power sank four Japanese carriers at Midway Atoll, halting Japanese expansion and shifting the initiative to the United States.</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Battle of Midway (June 1942)</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
        <p:nvSpPr>
          <p:cNvPr id="621" name="TextBox 6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25" name="Shape 625"/>
        <p:cNvGrpSpPr/>
        <p:nvPr/>
      </p:nvGrpSpPr>
      <p:grpSpPr>
        <a:xfrm>
          <a:off x="0" y="0"/>
          <a:ext cx="0" cy="0"/>
          <a:chOff x="0" y="0"/>
          <a:chExt cx="0" cy="0"/>
        </a:xfrm>
      </p:grpSpPr>
      <p:sp>
        <p:nvSpPr>
          <p:cNvPr id="626" name="Google Shape;626;p3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29" name="Google Shape;629;p3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30" name="Google Shape;630;p3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Iwo Jima and Okinawa showed the cost of nearing Japan — volcanic terrain and dug-in defenders made these 1945 battles among the war’s bloodiest, and the staggering casualties shaped the decision to use the atomic bomb.</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631" name="Google Shape;63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32" name="Google Shape;63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33" name="Google Shape;63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Iwo Jima &amp; Okinawa (1945)</a:t>
            </a:r>
            <a:endParaRPr b="0" i="0" sz="1000" u="none" cap="none" strike="noStrike">
              <a:solidFill>
                <a:schemeClr val="dk1"/>
              </a:solidFill>
              <a:latin typeface="Calibri"/>
              <a:ea typeface="Calibri"/>
              <a:cs typeface="Calibri"/>
              <a:sym typeface="Calibri"/>
            </a:endParaRPr>
          </a:p>
        </p:txBody>
      </p:sp>
      <p:sp>
        <p:nvSpPr>
          <p:cNvPr id="634" name="Google Shape;63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5" name="Google Shape;63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
        <p:nvSpPr>
          <p:cNvPr id="636" name="TextBox 63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40" name="Shape 640"/>
        <p:cNvGrpSpPr/>
        <p:nvPr/>
      </p:nvGrpSpPr>
      <p:grpSpPr>
        <a:xfrm>
          <a:off x="0" y="0"/>
          <a:ext cx="0" cy="0"/>
          <a:chOff x="0" y="0"/>
          <a:chExt cx="0" cy="0"/>
        </a:xfrm>
      </p:grpSpPr>
      <p:sp>
        <p:nvSpPr>
          <p:cNvPr id="641" name="Google Shape;641;p3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4" name="Google Shape;644;p3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45" name="Google Shape;645;p3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D-Day opened the Western Front — on June 6, 1944, the largest amphibious invasion in history landed Allied forces on the beaches of Normandy, beginning the liberation of Western Europe from Nazi control.</a:t>
            </a:r>
            <a:endParaRPr b="0" i="0" sz="2300" u="none" cap="none" strike="noStrike">
              <a:solidFill>
                <a:schemeClr val="dk1"/>
              </a:solidFill>
              <a:latin typeface="Calibri"/>
              <a:ea typeface="Calibri"/>
              <a:cs typeface="Calibri"/>
              <a:sym typeface="Calibri"/>
            </a:endParaRPr>
          </a:p>
        </p:txBody>
      </p:sp>
      <p:pic>
        <p:nvPicPr>
          <p:cNvPr descr="hh-web/public/images/textbook/unit-6/dday-omaha-beach-1944.jpg" id="646" name="Google Shape;646;p3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47" name="Google Shape;647;p3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48" name="Google Shape;648;p3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D-Day: Normandy Invasion (June 6, 1944)</a:t>
            </a:r>
            <a:endParaRPr b="0" i="0" sz="1000" u="none" cap="none" strike="noStrike">
              <a:solidFill>
                <a:schemeClr val="dk1"/>
              </a:solidFill>
              <a:latin typeface="Calibri"/>
              <a:ea typeface="Calibri"/>
              <a:cs typeface="Calibri"/>
              <a:sym typeface="Calibri"/>
            </a:endParaRPr>
          </a:p>
        </p:txBody>
      </p:sp>
      <p:sp>
        <p:nvSpPr>
          <p:cNvPr id="649" name="Google Shape;649;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0" name="Google Shape;650;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
        <p:nvSpPr>
          <p:cNvPr id="651" name="TextBox 65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5" name="Shape 655"/>
        <p:cNvGrpSpPr/>
        <p:nvPr/>
      </p:nvGrpSpPr>
      <p:grpSpPr>
        <a:xfrm>
          <a:off x="0" y="0"/>
          <a:ext cx="0" cy="0"/>
          <a:chOff x="0" y="0"/>
          <a:chExt cx="0" cy="0"/>
        </a:xfrm>
      </p:grpSpPr>
      <p:sp>
        <p:nvSpPr>
          <p:cNvPr id="656" name="Google Shape;656;p3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59" name="Google Shape;659;p3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60" name="Google Shape;660;p3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Eisenhower’s D-Day Order of the Day — identify the author, date, and purpose before you analyze the source.</a:t>
            </a:r>
            <a:endParaRPr b="0" i="0" sz="20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General Dwight D. Eisenhower</a:t>
            </a:r>
            <a:endParaRPr b="0" i="0" sz="1200" u="none" cap="none" strike="noStrike">
              <a:solidFill>
                <a:schemeClr val="dk1"/>
              </a:solidFill>
              <a:latin typeface="Calibri"/>
              <a:ea typeface="Calibri"/>
              <a:cs typeface="Calibri"/>
              <a:sym typeface="Calibri"/>
            </a:endParaRPr>
          </a:p>
        </p:txBody>
      </p:sp>
      <p:sp>
        <p:nvSpPr>
          <p:cNvPr id="663" name="Google Shape;663;p3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64" name="Google Shape;664;p3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6, 1944</a:t>
            </a:r>
            <a:endParaRPr b="0" i="0" sz="1200" u="none" cap="none" strike="noStrike">
              <a:solidFill>
                <a:schemeClr val="dk1"/>
              </a:solidFill>
              <a:latin typeface="Calibri"/>
              <a:ea typeface="Calibri"/>
              <a:cs typeface="Calibri"/>
              <a:sym typeface="Calibri"/>
            </a:endParaRPr>
          </a:p>
        </p:txBody>
      </p:sp>
      <p:sp>
        <p:nvSpPr>
          <p:cNvPr id="665" name="Google Shape;665;p3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66" name="Google Shape;666;p3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667" name="Google Shape;667;p3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Order of the Day - D-Day</a:t>
            </a:r>
            <a:endParaRPr b="0" i="0" sz="1400" u="none" cap="none" strike="noStrike">
              <a:solidFill>
                <a:schemeClr val="dk1"/>
              </a:solidFill>
              <a:latin typeface="Calibri"/>
              <a:ea typeface="Calibri"/>
              <a:cs typeface="Calibri"/>
              <a:sym typeface="Calibri"/>
            </a:endParaRPr>
          </a:p>
        </p:txBody>
      </p:sp>
      <p:sp>
        <p:nvSpPr>
          <p:cNvPr id="669" name="Google Shape;669;p3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General Dwight D. Eisenhower · June 6, 1944</a:t>
            </a:r>
            <a:endParaRPr b="0" i="0" sz="900" u="none" cap="none" strike="noStrike">
              <a:solidFill>
                <a:schemeClr val="dk1"/>
              </a:solidFill>
              <a:latin typeface="Calibri"/>
              <a:ea typeface="Calibri"/>
              <a:cs typeface="Calibri"/>
              <a:sym typeface="Calibri"/>
            </a:endParaRPr>
          </a:p>
        </p:txBody>
      </p:sp>
      <p:sp>
        <p:nvSpPr>
          <p:cNvPr id="670" name="Google Shape;670;p3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100" u="none" cap="none" strike="noStrike">
              <a:solidFill>
                <a:schemeClr val="dk1"/>
              </a:solidFill>
              <a:latin typeface="Calibri"/>
              <a:ea typeface="Calibri"/>
              <a:cs typeface="Calibri"/>
              <a:sym typeface="Calibri"/>
            </a:endParaRPr>
          </a:p>
        </p:txBody>
      </p:sp>
      <p:sp>
        <p:nvSpPr>
          <p:cNvPr id="671" name="Google Shape;671;p3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672" name="Google Shape;672;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73" name="Google Shape;673;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
        <p:nvSpPr>
          <p:cNvPr id="674" name="TextBox 67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678" name="Shape 678"/>
        <p:cNvGrpSpPr/>
        <p:nvPr/>
      </p:nvGrpSpPr>
      <p:grpSpPr>
        <a:xfrm>
          <a:off x="0" y="0"/>
          <a:ext cx="0" cy="0"/>
          <a:chOff x="0" y="0"/>
          <a:chExt cx="0" cy="0"/>
        </a:xfrm>
      </p:grpSpPr>
      <p:sp>
        <p:nvSpPr>
          <p:cNvPr id="679" name="Google Shape;679;p3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80" name="Google Shape;680;p3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81" name="Google Shape;681;p3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82" name="Google Shape;682;p3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85" name="Google Shape;685;p3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86" name="Google Shape;686;p3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87" name="Google Shape;687;p3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and liberated peoples of Europe and the Pacific, as each victory brought the defeat of the Axis closer.</a:t>
            </a:r>
            <a:endParaRPr b="0" i="0" sz="1200" u="none" cap="none" strike="noStrike">
              <a:solidFill>
                <a:schemeClr val="dk1"/>
              </a:solidFill>
              <a:latin typeface="Calibri"/>
              <a:ea typeface="Calibri"/>
              <a:cs typeface="Calibri"/>
              <a:sym typeface="Calibri"/>
            </a:endParaRPr>
          </a:p>
        </p:txBody>
      </p:sp>
      <p:sp>
        <p:nvSpPr>
          <p:cNvPr id="688" name="Google Shape;688;p3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91" name="Google Shape;691;p3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92" name="Google Shape;692;p3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3" name="Google Shape;693;p3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soldiers killed and wounded storming beaches and islands, and civilians caught in some of the deadliest battles of the war.</a:t>
            </a:r>
            <a:endParaRPr b="0" i="0" sz="1200" u="none" cap="none" strike="noStrike">
              <a:solidFill>
                <a:schemeClr val="dk1"/>
              </a:solidFill>
              <a:latin typeface="Calibri"/>
              <a:ea typeface="Calibri"/>
              <a:cs typeface="Calibri"/>
              <a:sym typeface="Calibri"/>
            </a:endParaRPr>
          </a:p>
        </p:txBody>
      </p:sp>
      <p:sp>
        <p:nvSpPr>
          <p:cNvPr id="694" name="Google Shape;694;p3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97" name="Google Shape;697;p3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98" name="Google Shape;698;p3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9" name="Google Shape;699;p3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Allied commanders like Eisenhower and Nimitz, who chose where and when to strike based on geographic and strategic advantage.</a:t>
            </a:r>
            <a:endParaRPr b="0" i="0" sz="1200" u="none" cap="none" strike="noStrike">
              <a:solidFill>
                <a:schemeClr val="dk1"/>
              </a:solidFill>
              <a:latin typeface="Calibri"/>
              <a:ea typeface="Calibri"/>
              <a:cs typeface="Calibri"/>
              <a:sym typeface="Calibri"/>
            </a:endParaRPr>
          </a:p>
        </p:txBody>
      </p:sp>
      <p:sp>
        <p:nvSpPr>
          <p:cNvPr id="700" name="Google Shape;700;p3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Order of the Day - D-Day, General Dwight D. Eisenhower, June 6, 1944 (National Archives)</a:t>
            </a:r>
            <a:endParaRPr b="0" i="0" sz="1000" u="none" cap="none" strike="noStrike">
              <a:solidFill>
                <a:schemeClr val="dk1"/>
              </a:solidFill>
              <a:latin typeface="Calibri"/>
              <a:ea typeface="Calibri"/>
              <a:cs typeface="Calibri"/>
              <a:sym typeface="Calibri"/>
            </a:endParaRPr>
          </a:p>
        </p:txBody>
      </p:sp>
      <p:sp>
        <p:nvSpPr>
          <p:cNvPr id="701" name="Google Shape;701;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2" name="Google Shape;702;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
        <p:nvSpPr>
          <p:cNvPr id="703" name="TextBox 70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07" name="Shape 707"/>
        <p:cNvGrpSpPr/>
        <p:nvPr/>
      </p:nvGrpSpPr>
      <p:grpSpPr>
        <a:xfrm>
          <a:off x="0" y="0"/>
          <a:ext cx="0" cy="0"/>
          <a:chOff x="0" y="0"/>
          <a:chExt cx="0" cy="0"/>
        </a:xfrm>
      </p:grpSpPr>
      <p:sp>
        <p:nvSpPr>
          <p:cNvPr id="708" name="Google Shape;708;p3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US.51</a:t>
            </a:r>
            <a:endParaRPr b="0" i="0" sz="6000" u="none" cap="none" strike="noStrike">
              <a:solidFill>
                <a:schemeClr val="dk1"/>
              </a:solidFill>
              <a:latin typeface="Calibri"/>
              <a:ea typeface="Calibri"/>
              <a:cs typeface="Calibri"/>
              <a:sym typeface="Calibri"/>
            </a:endParaRPr>
          </a:p>
        </p:txBody>
      </p:sp>
      <p:sp>
        <p:nvSpPr>
          <p:cNvPr id="710" name="Google Shape;710;p3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Special Fighting Forces in WWII</a:t>
            </a:r>
            <a:endParaRPr b="0" i="0" sz="26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712" name="Google Shape;712;p3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US.51 – Identify the roles and sacrifices of individual American soldiers, as well as the unique contributions of special fighting forces such as the Tuskegee Airmen, the 442nd Regimental Combat team, the 101st Airborne, and the Navajo Code Talkers.</a:t>
            </a:r>
            <a:endParaRPr b="0" i="0" sz="1600" u="none" cap="none" strike="noStrike">
              <a:solidFill>
                <a:schemeClr val="dk1"/>
              </a:solidFill>
              <a:latin typeface="Calibri"/>
              <a:ea typeface="Calibri"/>
              <a:cs typeface="Calibri"/>
              <a:sym typeface="Calibri"/>
            </a:endParaRPr>
          </a:p>
        </p:txBody>
      </p:sp>
      <p:sp>
        <p:nvSpPr>
          <p:cNvPr id="713" name="Google Shape;713;p3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715" name="Google Shape;715;p3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400" u="none" cap="none" strike="noStrike">
              <a:solidFill>
                <a:schemeClr val="dk1"/>
              </a:solidFill>
              <a:latin typeface="Calibri"/>
              <a:ea typeface="Calibri"/>
              <a:cs typeface="Calibri"/>
              <a:sym typeface="Calibri"/>
            </a:endParaRPr>
          </a:p>
        </p:txBody>
      </p:sp>
      <p:sp>
        <p:nvSpPr>
          <p:cNvPr id="716" name="Google Shape;716;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7" name="Google Shape;717;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2" name="Shape 722"/>
        <p:cNvGrpSpPr/>
        <p:nvPr/>
      </p:nvGrpSpPr>
      <p:grpSpPr>
        <a:xfrm>
          <a:off x="0" y="0"/>
          <a:ext cx="0" cy="0"/>
          <a:chOff x="0" y="0"/>
          <a:chExt cx="0" cy="0"/>
        </a:xfrm>
      </p:grpSpPr>
      <p:sp>
        <p:nvSpPr>
          <p:cNvPr id="723" name="Google Shape;723;p3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6" name="Google Shape;726;p3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27" name="Google Shape;727;p3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Segregated units proved themselves in combat — the Tuskegee Airmen, the first African American military aviators, escorted bombers with distinction, and the Japanese American 442nd became the most decorated unit of its size in U.S. history.</a:t>
            </a:r>
            <a:endParaRPr b="0" i="0" sz="2300" u="none" cap="none" strike="noStrike">
              <a:solidFill>
                <a:schemeClr val="dk1"/>
              </a:solidFill>
              <a:latin typeface="Calibri"/>
              <a:ea typeface="Calibri"/>
              <a:cs typeface="Calibri"/>
              <a:sym typeface="Calibri"/>
            </a:endParaRPr>
          </a:p>
        </p:txBody>
      </p:sp>
      <p:pic>
        <p:nvPicPr>
          <p:cNvPr descr="hh-web/public/images/textbook/unit-6/tuskegee-airmen-1945.jpg" id="728" name="Google Shape;728;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9" name="Google Shape;729;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30" name="Google Shape;730;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Tuskegee Airmen &amp; the 442nd</a:t>
            </a:r>
            <a:endParaRPr b="0" i="0" sz="1000" u="none" cap="none" strike="noStrike">
              <a:solidFill>
                <a:schemeClr val="dk1"/>
              </a:solidFill>
              <a:latin typeface="Calibri"/>
              <a:ea typeface="Calibri"/>
              <a:cs typeface="Calibri"/>
              <a:sym typeface="Calibri"/>
            </a:endParaRPr>
          </a:p>
        </p:txBody>
      </p:sp>
      <p:sp>
        <p:nvSpPr>
          <p:cNvPr id="731" name="Google Shape;731;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32" name="Google Shape;732;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
        <p:nvSpPr>
          <p:cNvPr id="733" name="TextBox 73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37" name="Shape 737"/>
        <p:cNvGrpSpPr/>
        <p:nvPr/>
      </p:nvGrpSpPr>
      <p:grpSpPr>
        <a:xfrm>
          <a:off x="0" y="0"/>
          <a:ext cx="0" cy="0"/>
          <a:chOff x="0" y="0"/>
          <a:chExt cx="0" cy="0"/>
        </a:xfrm>
      </p:grpSpPr>
      <p:sp>
        <p:nvSpPr>
          <p:cNvPr id="738" name="Google Shape;738;p3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Specialized forces carried out decisive missions — the 101st Airborne “Screaming Eagles” parachuted into Normandy on D-Day, securing key objectives behind enemy lines to protect the invasion — a division with deep Tennessee ties at Fort Campbell.</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Specialized forces carried out decisive missions — the 101st Airborne “Screaming Eagles” parachuted into Normandy on D-Day, securing key objectives behind enemy lines to protect the invasion — a division with deep Tennessee ties at Fort Campbell.</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101st Airborne Division (TN)</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
        <p:nvSpPr>
          <p:cNvPr id="750" name="TextBox 74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54" name="Shape 754"/>
        <p:cNvGrpSpPr/>
        <p:nvPr/>
      </p:nvGrpSpPr>
      <p:grpSpPr>
        <a:xfrm>
          <a:off x="0" y="0"/>
          <a:ext cx="0" cy="0"/>
          <a:chOff x="0" y="0"/>
          <a:chExt cx="0" cy="0"/>
        </a:xfrm>
      </p:grpSpPr>
      <p:sp>
        <p:nvSpPr>
          <p:cNvPr id="755" name="Google Shape;755;p4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Navajo Code Talkers created an unbreakable code — Navajo Marines used their native language to transmit secret messages the Japanese never broke, saving lives while these forces often fought two wars — one abroad and one against prejudice at home.</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Navajo Code Talkers created an unbreakable code — Navajo Marines used their native language to transmit secret messages the Japanese never broke, saving lives while these forces often fought two wars — one abroad and one against prejudice at home.</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Navajo Code Talkers &amp; Individual Sacrifice</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
        <p:nvSpPr>
          <p:cNvPr id="767" name="TextBox 7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1" name="Shape 771"/>
        <p:cNvGrpSpPr/>
        <p:nvPr/>
      </p:nvGrpSpPr>
      <p:grpSpPr>
        <a:xfrm>
          <a:off x="0" y="0"/>
          <a:ext cx="0" cy="0"/>
          <a:chOff x="0" y="0"/>
          <a:chExt cx="0" cy="0"/>
        </a:xfrm>
      </p:grpSpPr>
      <p:sp>
        <p:nvSpPr>
          <p:cNvPr id="772" name="Google Shape;772;p4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75" name="Google Shape;775;p4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76" name="Google Shape;776;p4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Tuskegee Airmen Commendation — consider who issued it and why before you weigh its words.</a:t>
            </a:r>
            <a:endParaRPr b="0" i="0" sz="2000" u="none" cap="none" strike="noStrike">
              <a:solidFill>
                <a:schemeClr val="dk1"/>
              </a:solidFill>
              <a:latin typeface="Calibri"/>
              <a:ea typeface="Calibri"/>
              <a:cs typeface="Calibri"/>
              <a:sym typeface="Calibri"/>
            </a:endParaRPr>
          </a:p>
        </p:txBody>
      </p:sp>
      <p:sp>
        <p:nvSpPr>
          <p:cNvPr id="777" name="Google Shape;777;p4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Army Air Forces</a:t>
            </a:r>
            <a:endParaRPr b="0" i="0" sz="1200" u="none" cap="none" strike="noStrike">
              <a:solidFill>
                <a:schemeClr val="dk1"/>
              </a:solidFill>
              <a:latin typeface="Calibri"/>
              <a:ea typeface="Calibri"/>
              <a:cs typeface="Calibri"/>
              <a:sym typeface="Calibri"/>
            </a:endParaRPr>
          </a:p>
        </p:txBody>
      </p:sp>
      <p:sp>
        <p:nvSpPr>
          <p:cNvPr id="779" name="Google Shape;779;p4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80" name="Google Shape;780;p4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a:t>
            </a:r>
            <a:endParaRPr b="0" i="0" sz="1200" u="none" cap="none" strike="noStrike">
              <a:solidFill>
                <a:schemeClr val="dk1"/>
              </a:solidFill>
              <a:latin typeface="Calibri"/>
              <a:ea typeface="Calibri"/>
              <a:cs typeface="Calibri"/>
              <a:sym typeface="Calibri"/>
            </a:endParaRPr>
          </a:p>
        </p:txBody>
      </p:sp>
      <p:sp>
        <p:nvSpPr>
          <p:cNvPr id="781" name="Google Shape;781;p4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82" name="Google Shape;782;p4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783" name="Google Shape;783;p4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4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Tuskegee Airmen Commendation</a:t>
            </a:r>
            <a:endParaRPr b="0" i="0" sz="1400" u="none" cap="none" strike="noStrike">
              <a:solidFill>
                <a:schemeClr val="dk1"/>
              </a:solidFill>
              <a:latin typeface="Calibri"/>
              <a:ea typeface="Calibri"/>
              <a:cs typeface="Calibri"/>
              <a:sym typeface="Calibri"/>
            </a:endParaRPr>
          </a:p>
        </p:txBody>
      </p:sp>
      <p:sp>
        <p:nvSpPr>
          <p:cNvPr id="785" name="Google Shape;785;p4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Army Air Forces · 1945</a:t>
            </a:r>
            <a:endParaRPr b="0" i="0" sz="900" u="none" cap="none" strike="noStrike">
              <a:solidFill>
                <a:schemeClr val="dk1"/>
              </a:solidFill>
              <a:latin typeface="Calibri"/>
              <a:ea typeface="Calibri"/>
              <a:cs typeface="Calibri"/>
              <a:sym typeface="Calibri"/>
            </a:endParaRPr>
          </a:p>
        </p:txBody>
      </p:sp>
      <p:sp>
        <p:nvSpPr>
          <p:cNvPr id="786" name="Google Shape;786;p4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100" u="none" cap="none" strike="noStrike">
              <a:solidFill>
                <a:schemeClr val="dk1"/>
              </a:solidFill>
              <a:latin typeface="Calibri"/>
              <a:ea typeface="Calibri"/>
              <a:cs typeface="Calibri"/>
              <a:sym typeface="Calibri"/>
            </a:endParaRPr>
          </a:p>
        </p:txBody>
      </p:sp>
      <p:sp>
        <p:nvSpPr>
          <p:cNvPr id="787" name="Google Shape;787;p4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88" name="Google Shape;78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89" name="Google Shape;78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
        <p:nvSpPr>
          <p:cNvPr id="790" name="TextBox 78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94" name="Shape 794"/>
        <p:cNvGrpSpPr/>
        <p:nvPr/>
      </p:nvGrpSpPr>
      <p:grpSpPr>
        <a:xfrm>
          <a:off x="0" y="0"/>
          <a:ext cx="0" cy="0"/>
          <a:chOff x="0" y="0"/>
          <a:chExt cx="0" cy="0"/>
        </a:xfrm>
      </p:grpSpPr>
      <p:sp>
        <p:nvSpPr>
          <p:cNvPr id="795" name="Google Shape;795;p4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96" name="Google Shape;796;p4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97" name="Google Shape;797;p4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98" name="Google Shape;798;p4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4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4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801" name="Google Shape;801;p4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802" name="Google Shape;802;p4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3" name="Google Shape;803;p4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war effort, strengthened by these forces’ skill, and the later civil-rights cause, which drew on their proven service and sacrifice.</a:t>
            </a:r>
            <a:endParaRPr b="0" i="0" sz="1200" u="none" cap="none" strike="noStrike">
              <a:solidFill>
                <a:schemeClr val="dk1"/>
              </a:solidFill>
              <a:latin typeface="Calibri"/>
              <a:ea typeface="Calibri"/>
              <a:cs typeface="Calibri"/>
              <a:sym typeface="Calibri"/>
            </a:endParaRPr>
          </a:p>
        </p:txBody>
      </p:sp>
      <p:sp>
        <p:nvSpPr>
          <p:cNvPr id="804" name="Google Shape;804;p4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4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4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807" name="Google Shape;807;p4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808" name="Google Shape;808;p4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9" name="Google Shape;809;p4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Soldiers of color who fought and died while facing discrimination, and Japanese American troops whose families were interned at home.</a:t>
            </a:r>
            <a:endParaRPr b="0" i="0" sz="1200" u="none" cap="none" strike="noStrike">
              <a:solidFill>
                <a:schemeClr val="dk1"/>
              </a:solidFill>
              <a:latin typeface="Calibri"/>
              <a:ea typeface="Calibri"/>
              <a:cs typeface="Calibri"/>
              <a:sym typeface="Calibri"/>
            </a:endParaRPr>
          </a:p>
        </p:txBody>
      </p:sp>
      <p:sp>
        <p:nvSpPr>
          <p:cNvPr id="810" name="Google Shape;810;p4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813" name="Google Shape;813;p4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814" name="Google Shape;814;p4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15" name="Google Shape;815;p4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Department and military commanders who deployed these units, and the soldiers themselves who volunteered despite injustice.</a:t>
            </a:r>
            <a:endParaRPr b="0" i="0" sz="1200" u="none" cap="none" strike="noStrike">
              <a:solidFill>
                <a:schemeClr val="dk1"/>
              </a:solidFill>
              <a:latin typeface="Calibri"/>
              <a:ea typeface="Calibri"/>
              <a:cs typeface="Calibri"/>
              <a:sym typeface="Calibri"/>
            </a:endParaRPr>
          </a:p>
        </p:txBody>
      </p:sp>
      <p:sp>
        <p:nvSpPr>
          <p:cNvPr id="816" name="Google Shape;816;p4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Tuskegee Airmen Commendation, U.S. Army Air Forces, 1945 (National Archives)</a:t>
            </a:r>
            <a:endParaRPr b="0" i="0" sz="1000" u="none" cap="none" strike="noStrike">
              <a:solidFill>
                <a:schemeClr val="dk1"/>
              </a:solidFill>
              <a:latin typeface="Calibri"/>
              <a:ea typeface="Calibri"/>
              <a:cs typeface="Calibri"/>
              <a:sym typeface="Calibri"/>
            </a:endParaRPr>
          </a:p>
        </p:txBody>
      </p:sp>
      <p:sp>
        <p:nvSpPr>
          <p:cNvPr id="817" name="Google Shape;817;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8" name="Google Shape;818;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
        <p:nvSpPr>
          <p:cNvPr id="819" name="TextBox 81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23" name="Shape 823"/>
        <p:cNvGrpSpPr/>
        <p:nvPr/>
      </p:nvGrpSpPr>
      <p:grpSpPr>
        <a:xfrm>
          <a:off x="0" y="0"/>
          <a:ext cx="0" cy="0"/>
          <a:chOff x="0" y="0"/>
          <a:chExt cx="0" cy="0"/>
        </a:xfrm>
      </p:grpSpPr>
      <p:sp>
        <p:nvSpPr>
          <p:cNvPr id="824" name="Google Shape;824;p4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US.52</a:t>
            </a:r>
            <a:endParaRPr b="0" i="0" sz="6000" u="none" cap="none" strike="noStrike">
              <a:solidFill>
                <a:schemeClr val="dk1"/>
              </a:solidFill>
              <a:latin typeface="Calibri"/>
              <a:ea typeface="Calibri"/>
              <a:cs typeface="Calibri"/>
              <a:sym typeface="Calibri"/>
            </a:endParaRPr>
          </a:p>
        </p:txBody>
      </p:sp>
      <p:sp>
        <p:nvSpPr>
          <p:cNvPr id="826" name="Google Shape;826;p4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Women in World War II</a:t>
            </a:r>
            <a:endParaRPr b="0" i="0" sz="26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US.52 – Examine and explain the entry of large numbers of women into the workforce and armed forces during World War II and the subsequent impact on American society.</a:t>
            </a:r>
            <a:endParaRPr b="0" i="0" sz="1600" u="none" cap="none" strike="noStrike">
              <a:solidFill>
                <a:schemeClr val="dk1"/>
              </a:solidFill>
              <a:latin typeface="Calibri"/>
              <a:ea typeface="Calibri"/>
              <a:cs typeface="Calibri"/>
              <a:sym typeface="Calibri"/>
            </a:endParaRPr>
          </a:p>
        </p:txBody>
      </p:sp>
      <p:sp>
        <p:nvSpPr>
          <p:cNvPr id="829" name="Google Shape;829;p4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31" name="Google Shape;831;p4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400" u="none" cap="none" strike="noStrike">
              <a:solidFill>
                <a:schemeClr val="dk1"/>
              </a:solidFill>
              <a:latin typeface="Calibri"/>
              <a:ea typeface="Calibri"/>
              <a:cs typeface="Calibri"/>
              <a:sym typeface="Calibri"/>
            </a:endParaRPr>
          </a:p>
        </p:txBody>
      </p:sp>
      <p:sp>
        <p:nvSpPr>
          <p:cNvPr id="832" name="Google Shape;832;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3" name="Google Shape;833;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38" name="Shape 838"/>
        <p:cNvGrpSpPr/>
        <p:nvPr/>
      </p:nvGrpSpPr>
      <p:grpSpPr>
        <a:xfrm>
          <a:off x="0" y="0"/>
          <a:ext cx="0" cy="0"/>
          <a:chOff x="0" y="0"/>
          <a:chExt cx="0" cy="0"/>
        </a:xfrm>
      </p:grpSpPr>
      <p:sp>
        <p:nvSpPr>
          <p:cNvPr id="839" name="Google Shape;839;p4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42" name="Google Shape;842;p4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Labor shortages drew women into war work — with 16 million men in uniform, a massive labor shortage opened defense-industry and armed-forces roles to women, embodied by the “Rosie the Riveter” image.</a:t>
            </a:r>
            <a:endParaRPr b="0" i="0" sz="2300" u="none" cap="none" strike="noStrike">
              <a:solidFill>
                <a:schemeClr val="dk1"/>
              </a:solidFill>
              <a:latin typeface="Calibri"/>
              <a:ea typeface="Calibri"/>
              <a:cs typeface="Calibri"/>
              <a:sym typeface="Calibri"/>
            </a:endParaRPr>
          </a:p>
        </p:txBody>
      </p:sp>
      <p:pic>
        <p:nvPicPr>
          <p:cNvPr descr="hh-web/public/images/textbook/unit-6/rosie-riveter-vultee-nashville-1943.jpg" id="844" name="Google Shape;844;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5" name="Google Shape;845;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6" name="Google Shape;846;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Factors Leading to Women’s Participation</a:t>
            </a:r>
            <a:endParaRPr b="0" i="0" sz="1000" u="none" cap="none" strike="noStrike">
              <a:solidFill>
                <a:schemeClr val="dk1"/>
              </a:solidFill>
              <a:latin typeface="Calibri"/>
              <a:ea typeface="Calibri"/>
              <a:cs typeface="Calibri"/>
              <a:sym typeface="Calibri"/>
            </a:endParaRPr>
          </a:p>
        </p:txBody>
      </p:sp>
      <p:sp>
        <p:nvSpPr>
          <p:cNvPr id="847" name="Google Shape;8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8" name="Google Shape;8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
        <p:nvSpPr>
          <p:cNvPr id="849" name="TextBox 84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53" name="Shape 853"/>
        <p:cNvGrpSpPr/>
        <p:nvPr/>
      </p:nvGrpSpPr>
      <p:grpSpPr>
        <a:xfrm>
          <a:off x="0" y="0"/>
          <a:ext cx="0" cy="0"/>
          <a:chOff x="0" y="0"/>
          <a:chExt cx="0" cy="0"/>
        </a:xfrm>
      </p:grpSpPr>
      <p:sp>
        <p:nvSpPr>
          <p:cNvPr id="854" name="Google Shape;854;p4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Women faced discrimination even as they built the war machine — they earned about 65% of men’s wages in dangerous conditions, yet built bombers, ships, and munitions that were essential to Allied production.</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faced discrimination even as they built the war machine — they earned about 65% of men’s wages in dangerous conditions, yet built bombers, ships, and munitions that were essential to Allied production.</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Challenges, Opportunities &amp; Production</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
        <p:nvSpPr>
          <p:cNvPr id="866" name="TextBox 86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70" name="Shape 870"/>
        <p:cNvGrpSpPr/>
        <p:nvPr/>
      </p:nvGrpSpPr>
      <p:grpSpPr>
        <a:xfrm>
          <a:off x="0" y="0"/>
          <a:ext cx="0" cy="0"/>
          <a:chOff x="0" y="0"/>
          <a:chExt cx="0" cy="0"/>
        </a:xfrm>
      </p:grpSpPr>
      <p:sp>
        <p:nvSpPr>
          <p:cNvPr id="871" name="Google Shape;871;p4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74" name="Google Shape;874;p4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75" name="Google Shape;875;p4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war reshaped women’s long-term role — many were laid off for returning veterans and pushed back toward the home, but wartime work permanently changed expectations and helped lay groundwork for later movements.</a:t>
            </a:r>
            <a:endParaRPr b="0" i="0" sz="2300" u="none" cap="none" strike="noStrike">
              <a:solidFill>
                <a:schemeClr val="dk1"/>
              </a:solidFill>
              <a:latin typeface="Calibri"/>
              <a:ea typeface="Calibri"/>
              <a:cs typeface="Calibri"/>
              <a:sym typeface="Calibri"/>
            </a:endParaRPr>
          </a:p>
        </p:txBody>
      </p:sp>
      <p:sp>
        <p:nvSpPr>
          <p:cNvPr id="876" name="Google Shape;876;p4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79" name="Google Shape;879;p4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war reshaped women’s long-term role — many were laid off for returning veterans and pushed back toward the home, but wartime work permanently changed expectations and helped lay groundwork for later movements.</a:t>
            </a:r>
            <a:endParaRPr b="0" i="0" sz="2200" u="none" cap="none" strike="noStrike">
              <a:solidFill>
                <a:schemeClr val="dk1"/>
              </a:solidFill>
              <a:latin typeface="Calibri"/>
              <a:ea typeface="Calibri"/>
              <a:cs typeface="Calibri"/>
              <a:sym typeface="Calibri"/>
            </a:endParaRPr>
          </a:p>
        </p:txBody>
      </p:sp>
      <p:sp>
        <p:nvSpPr>
          <p:cNvPr id="880" name="Google Shape;880;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Long-term Effects on Society</a:t>
            </a:r>
            <a:endParaRPr b="0" i="0" sz="1000" u="none" cap="none" strike="noStrike">
              <a:solidFill>
                <a:schemeClr val="dk1"/>
              </a:solidFill>
              <a:latin typeface="Calibri"/>
              <a:ea typeface="Calibri"/>
              <a:cs typeface="Calibri"/>
              <a:sym typeface="Calibri"/>
            </a:endParaRPr>
          </a:p>
        </p:txBody>
      </p:sp>
      <p:sp>
        <p:nvSpPr>
          <p:cNvPr id="881" name="Google Shape;881;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2" name="Google Shape;882;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
        <p:nvSpPr>
          <p:cNvPr id="883" name="TextBox 88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87" name="Shape 887"/>
        <p:cNvGrpSpPr/>
        <p:nvPr/>
      </p:nvGrpSpPr>
      <p:grpSpPr>
        <a:xfrm>
          <a:off x="0" y="0"/>
          <a:ext cx="0" cy="0"/>
          <a:chOff x="0" y="0"/>
          <a:chExt cx="0" cy="0"/>
        </a:xfrm>
      </p:grpSpPr>
      <p:sp>
        <p:nvSpPr>
          <p:cNvPr id="888" name="Google Shape;888;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91" name="Google Shape;891;p4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92" name="Google Shape;892;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Production Board poster text — weigh who produced it and why before you read the message.</a:t>
            </a:r>
            <a:endParaRPr b="0" i="0" sz="2000" u="none" cap="none" strike="noStrike">
              <a:solidFill>
                <a:schemeClr val="dk1"/>
              </a:solidFill>
              <a:latin typeface="Calibri"/>
              <a:ea typeface="Calibri"/>
              <a:cs typeface="Calibri"/>
              <a:sym typeface="Calibri"/>
            </a:endParaRPr>
          </a:p>
        </p:txBody>
      </p:sp>
      <p:sp>
        <p:nvSpPr>
          <p:cNvPr id="893" name="Google Shape;893;p4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94" name="Google Shape;894;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War Production Board</a:t>
            </a:r>
            <a:endParaRPr b="0" i="0" sz="1200" u="none" cap="none" strike="noStrike">
              <a:solidFill>
                <a:schemeClr val="dk1"/>
              </a:solidFill>
              <a:latin typeface="Calibri"/>
              <a:ea typeface="Calibri"/>
              <a:cs typeface="Calibri"/>
              <a:sym typeface="Calibri"/>
            </a:endParaRPr>
          </a:p>
        </p:txBody>
      </p:sp>
      <p:sp>
        <p:nvSpPr>
          <p:cNvPr id="895" name="Google Shape;895;p4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96" name="Google Shape;896;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897" name="Google Shape;897;p4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8" name="Google Shape;898;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9" name="Google Shape;899;p4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Production Board Poster Text</a:t>
            </a:r>
            <a:endParaRPr b="0" i="0" sz="1400" u="none" cap="none" strike="noStrike">
              <a:solidFill>
                <a:schemeClr val="dk1"/>
              </a:solidFill>
              <a:latin typeface="Calibri"/>
              <a:ea typeface="Calibri"/>
              <a:cs typeface="Calibri"/>
              <a:sym typeface="Calibri"/>
            </a:endParaRPr>
          </a:p>
        </p:txBody>
      </p:sp>
      <p:sp>
        <p:nvSpPr>
          <p:cNvPr id="901" name="Google Shape;901;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War Production Board · 1943</a:t>
            </a:r>
            <a:endParaRPr b="0" i="0" sz="900" u="none" cap="none" strike="noStrike">
              <a:solidFill>
                <a:schemeClr val="dk1"/>
              </a:solidFill>
              <a:latin typeface="Calibri"/>
              <a:ea typeface="Calibri"/>
              <a:cs typeface="Calibri"/>
              <a:sym typeface="Calibri"/>
            </a:endParaRPr>
          </a:p>
        </p:txBody>
      </p:sp>
      <p:sp>
        <p:nvSpPr>
          <p:cNvPr id="902" name="Google Shape;902;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100" u="none" cap="none" strike="noStrike">
              <a:solidFill>
                <a:schemeClr val="dk1"/>
              </a:solidFill>
              <a:latin typeface="Calibri"/>
              <a:ea typeface="Calibri"/>
              <a:cs typeface="Calibri"/>
              <a:sym typeface="Calibri"/>
            </a:endParaRPr>
          </a:p>
        </p:txBody>
      </p:sp>
      <p:sp>
        <p:nvSpPr>
          <p:cNvPr id="903" name="Google Shape;903;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904" name="Google Shape;904;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5" name="Google Shape;905;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
        <p:nvSpPr>
          <p:cNvPr id="906" name="TextBox 9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0" name="Shape 910"/>
        <p:cNvGrpSpPr/>
        <p:nvPr/>
      </p:nvGrpSpPr>
      <p:grpSpPr>
        <a:xfrm>
          <a:off x="0" y="0"/>
          <a:ext cx="0" cy="0"/>
          <a:chOff x="0" y="0"/>
          <a:chExt cx="0" cy="0"/>
        </a:xfrm>
      </p:grpSpPr>
      <p:sp>
        <p:nvSpPr>
          <p:cNvPr id="911" name="Google Shape;911;p4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12" name="Google Shape;912;p4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913" name="Google Shape;913;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4" name="Google Shape;914;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7" name="Google Shape;917;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8" name="Google Shape;918;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19" name="Google Shape;919;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economy, powered by women’s labor, and women who gained new skills, wages, and a lasting sense of capability.</a:t>
            </a:r>
            <a:endParaRPr b="0" i="0" sz="1200" u="none" cap="none" strike="noStrike">
              <a:solidFill>
                <a:schemeClr val="dk1"/>
              </a:solidFill>
              <a:latin typeface="Calibri"/>
              <a:ea typeface="Calibri"/>
              <a:cs typeface="Calibri"/>
              <a:sym typeface="Calibri"/>
            </a:endParaRPr>
          </a:p>
        </p:txBody>
      </p:sp>
      <p:sp>
        <p:nvSpPr>
          <p:cNvPr id="920" name="Google Shape;920;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3" name="Google Shape;923;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4" name="Google Shape;924;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25" name="Google Shape;925;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Women paid less than men in hazardous jobs, then laid off after the war, and those pressured to abandon the workforce for returning veterans.</a:t>
            </a:r>
            <a:endParaRPr b="0" i="0" sz="1200" u="none" cap="none" strike="noStrike">
              <a:solidFill>
                <a:schemeClr val="dk1"/>
              </a:solidFill>
              <a:latin typeface="Calibri"/>
              <a:ea typeface="Calibri"/>
              <a:cs typeface="Calibri"/>
              <a:sym typeface="Calibri"/>
            </a:endParaRPr>
          </a:p>
        </p:txBody>
      </p:sp>
      <p:sp>
        <p:nvSpPr>
          <p:cNvPr id="926" name="Google Shape;926;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9" name="Google Shape;929;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30" name="Google Shape;930;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31" name="Google Shape;931;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Government and industry that recruited women for the duration, then employers and social pressure that pushed them out at war’s end.</a:t>
            </a:r>
            <a:endParaRPr b="0" i="0" sz="1200" u="none" cap="none" strike="noStrike">
              <a:solidFill>
                <a:schemeClr val="dk1"/>
              </a:solidFill>
              <a:latin typeface="Calibri"/>
              <a:ea typeface="Calibri"/>
              <a:cs typeface="Calibri"/>
              <a:sym typeface="Calibri"/>
            </a:endParaRPr>
          </a:p>
        </p:txBody>
      </p:sp>
      <p:sp>
        <p:nvSpPr>
          <p:cNvPr id="932" name="Google Shape;932;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Production Board Poster Text, U.S. War Production Board, 1943 (Library of Congress)</a:t>
            </a:r>
            <a:endParaRPr b="0" i="0" sz="1000" u="none" cap="none" strike="noStrike">
              <a:solidFill>
                <a:schemeClr val="dk1"/>
              </a:solidFill>
              <a:latin typeface="Calibri"/>
              <a:ea typeface="Calibri"/>
              <a:cs typeface="Calibri"/>
              <a:sym typeface="Calibri"/>
            </a:endParaRPr>
          </a:p>
        </p:txBody>
      </p:sp>
      <p:sp>
        <p:nvSpPr>
          <p:cNvPr id="933" name="Google Shape;933;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4" name="Google Shape;934;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
        <p:nvSpPr>
          <p:cNvPr id="935" name="TextBox 93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39" name="Shape 939"/>
        <p:cNvGrpSpPr/>
        <p:nvPr/>
      </p:nvGrpSpPr>
      <p:grpSpPr>
        <a:xfrm>
          <a:off x="0" y="0"/>
          <a:ext cx="0" cy="0"/>
          <a:chOff x="0" y="0"/>
          <a:chExt cx="0" cy="0"/>
        </a:xfrm>
      </p:grpSpPr>
      <p:sp>
        <p:nvSpPr>
          <p:cNvPr id="940" name="Google Shape;940;p4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US.53</a:t>
            </a:r>
            <a:endParaRPr b="0" i="0" sz="6000" u="none" cap="none" strike="noStrike">
              <a:solidFill>
                <a:schemeClr val="dk1"/>
              </a:solidFill>
              <a:latin typeface="Calibri"/>
              <a:ea typeface="Calibri"/>
              <a:cs typeface="Calibri"/>
              <a:sym typeface="Calibri"/>
            </a:endParaRPr>
          </a:p>
        </p:txBody>
      </p:sp>
      <p:sp>
        <p:nvSpPr>
          <p:cNvPr id="942" name="Google Shape;942;p4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African Americans in WWII</a:t>
            </a:r>
            <a:endParaRPr b="0" i="0" sz="2600" u="none" cap="none" strike="noStrike">
              <a:solidFill>
                <a:schemeClr val="dk1"/>
              </a:solidFill>
              <a:latin typeface="Calibri"/>
              <a:ea typeface="Calibri"/>
              <a:cs typeface="Calibri"/>
              <a:sym typeface="Calibri"/>
            </a:endParaRPr>
          </a:p>
        </p:txBody>
      </p:sp>
      <p:sp>
        <p:nvSpPr>
          <p:cNvPr id="943" name="Google Shape;943;p4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944" name="Google Shape;944;p4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US.53 – Examine the impact of World War II on economic and social conditions for African Americans, including the Fair Employment Practices Committee and the eventual integration of the armed forces by President Harry S. Truman. (TCA)</a:t>
            </a:r>
            <a:endParaRPr b="0" i="0" sz="1600" u="none" cap="none" strike="noStrike">
              <a:solidFill>
                <a:schemeClr val="dk1"/>
              </a:solidFill>
              <a:latin typeface="Calibri"/>
              <a:ea typeface="Calibri"/>
              <a:cs typeface="Calibri"/>
              <a:sym typeface="Calibri"/>
            </a:endParaRPr>
          </a:p>
        </p:txBody>
      </p:sp>
      <p:sp>
        <p:nvSpPr>
          <p:cNvPr id="945" name="Google Shape;945;p4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947" name="Google Shape;947;p4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400" u="none" cap="none" strike="noStrike">
              <a:solidFill>
                <a:schemeClr val="dk1"/>
              </a:solidFill>
              <a:latin typeface="Calibri"/>
              <a:ea typeface="Calibri"/>
              <a:cs typeface="Calibri"/>
              <a:sym typeface="Calibri"/>
            </a:endParaRPr>
          </a:p>
        </p:txBody>
      </p:sp>
      <p:sp>
        <p:nvSpPr>
          <p:cNvPr id="948" name="Google Shape;948;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9" name="Google Shape;949;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4" name="Shape 954"/>
        <p:cNvGrpSpPr/>
        <p:nvPr/>
      </p:nvGrpSpPr>
      <p:grpSpPr>
        <a:xfrm>
          <a:off x="0" y="0"/>
          <a:ext cx="0" cy="0"/>
          <a:chOff x="0" y="0"/>
          <a:chExt cx="0" cy="0"/>
        </a:xfrm>
      </p:grpSpPr>
      <p:sp>
        <p:nvSpPr>
          <p:cNvPr id="955" name="Google Shape;955;p5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5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5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58" name="Google Shape;958;p5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59" name="Google Shape;959;p5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Second Great Migration reshaped Black America — 1.5 million African Americans moved North and West in the 1940s for defense-industry jobs, transforming cities like Detroit, Chicago, and Los Angeles.</a:t>
            </a:r>
            <a:endParaRPr b="0" i="0" sz="2300" u="none" cap="none" strike="noStrike">
              <a:solidFill>
                <a:schemeClr val="dk1"/>
              </a:solidFill>
              <a:latin typeface="Calibri"/>
              <a:ea typeface="Calibri"/>
              <a:cs typeface="Calibri"/>
              <a:sym typeface="Calibri"/>
            </a:endParaRPr>
          </a:p>
        </p:txBody>
      </p:sp>
      <p:pic>
        <p:nvPicPr>
          <p:cNvPr descr="hh-web/public/images/textbook/unit-6/north-american-aviation-integrated-workers-1942.jpg" id="960" name="Google Shape;960;p5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961" name="Google Shape;961;p5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962" name="Google Shape;962;p5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Second Great Migration &amp; Opportunity</a:t>
            </a:r>
            <a:endParaRPr b="0" i="0" sz="1000" u="none" cap="none" strike="noStrike">
              <a:solidFill>
                <a:schemeClr val="dk1"/>
              </a:solidFill>
              <a:latin typeface="Calibri"/>
              <a:ea typeface="Calibri"/>
              <a:cs typeface="Calibri"/>
              <a:sym typeface="Calibri"/>
            </a:endParaRPr>
          </a:p>
        </p:txBody>
      </p:sp>
      <p:sp>
        <p:nvSpPr>
          <p:cNvPr id="963" name="Google Shape;963;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64" name="Google Shape;964;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
        <p:nvSpPr>
          <p:cNvPr id="965" name="TextBox 96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69" name="Shape 969"/>
        <p:cNvGrpSpPr/>
        <p:nvPr/>
      </p:nvGrpSpPr>
      <p:grpSpPr>
        <a:xfrm>
          <a:off x="0" y="0"/>
          <a:ext cx="0" cy="0"/>
          <a:chOff x="0" y="0"/>
          <a:chExt cx="0" cy="0"/>
        </a:xfrm>
      </p:grpSpPr>
      <p:sp>
        <p:nvSpPr>
          <p:cNvPr id="970" name="Google Shape;970;p5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5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5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73" name="Google Shape;973;p5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74" name="Google Shape;974;p5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Double V campaign linked the war to civil rights — the Pittsburgh Courier’s “Double V” demanded victory against fascism abroad and racism at home, framing wartime service as a claim on full citizenship.</a:t>
            </a:r>
            <a:endParaRPr b="0" i="0" sz="2300" u="none" cap="none" strike="noStrike">
              <a:solidFill>
                <a:schemeClr val="dk1"/>
              </a:solidFill>
              <a:latin typeface="Calibri"/>
              <a:ea typeface="Calibri"/>
              <a:cs typeface="Calibri"/>
              <a:sym typeface="Calibri"/>
            </a:endParaRPr>
          </a:p>
        </p:txBody>
      </p:sp>
      <p:sp>
        <p:nvSpPr>
          <p:cNvPr id="975" name="Google Shape;975;p5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5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5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78" name="Google Shape;978;p5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Double V campaign linked the war to civil rights — the Pittsburgh Courier’s “Double V” demanded victory against fascism abroad and racism at home, framing wartime service as a claim on full citizenship.</a:t>
            </a:r>
            <a:endParaRPr b="0" i="0" sz="2200" u="none" cap="none" strike="noStrike">
              <a:solidFill>
                <a:schemeClr val="dk1"/>
              </a:solidFill>
              <a:latin typeface="Calibri"/>
              <a:ea typeface="Calibri"/>
              <a:cs typeface="Calibri"/>
              <a:sym typeface="Calibri"/>
            </a:endParaRPr>
          </a:p>
        </p:txBody>
      </p:sp>
      <p:sp>
        <p:nvSpPr>
          <p:cNvPr id="979" name="Google Shape;979;p5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Double V Campaign</a:t>
            </a:r>
            <a:endParaRPr b="0" i="0" sz="1000" u="none" cap="none" strike="noStrike">
              <a:solidFill>
                <a:schemeClr val="dk1"/>
              </a:solidFill>
              <a:latin typeface="Calibri"/>
              <a:ea typeface="Calibri"/>
              <a:cs typeface="Calibri"/>
              <a:sym typeface="Calibri"/>
            </a:endParaRPr>
          </a:p>
        </p:txBody>
      </p:sp>
      <p:sp>
        <p:nvSpPr>
          <p:cNvPr id="980" name="Google Shape;980;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81" name="Google Shape;981;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
        <p:nvSpPr>
          <p:cNvPr id="982" name="TextBox 98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86" name="Shape 986"/>
        <p:cNvGrpSpPr/>
        <p:nvPr/>
      </p:nvGrpSpPr>
      <p:grpSpPr>
        <a:xfrm>
          <a:off x="0" y="0"/>
          <a:ext cx="0" cy="0"/>
          <a:chOff x="0" y="0"/>
          <a:chExt cx="0" cy="0"/>
        </a:xfrm>
      </p:grpSpPr>
      <p:sp>
        <p:nvSpPr>
          <p:cNvPr id="987" name="Google Shape;987;p5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Federal pressure opened jobs, then the military — A. Philip Randolph’s threatened march won Executive Order 8802 and the FEPC banning defense-industry discrimination, and Executive Order 9981 later desegregated the armed forces.</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Federal pressure opened jobs, then the military — A. Philip Randolph’s threatened march won Executive Order 8802 and the FEPC banning defense-industry discrimination, and Executive Order 9981 later desegregated the armed forces.</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FEPC &amp; Integration of the Armed Forces</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
        <p:nvSpPr>
          <p:cNvPr id="999" name="TextBox 9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3" name="Shape 1003"/>
        <p:cNvGrpSpPr/>
        <p:nvPr/>
      </p:nvGrpSpPr>
      <p:grpSpPr>
        <a:xfrm>
          <a:off x="0" y="0"/>
          <a:ext cx="0" cy="0"/>
          <a:chOff x="0" y="0"/>
          <a:chExt cx="0" cy="0"/>
        </a:xfrm>
      </p:grpSpPr>
      <p:sp>
        <p:nvSpPr>
          <p:cNvPr id="1004" name="Google Shape;1004;p5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007" name="Google Shape;1007;p5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08" name="Google Shape;1008;p5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8802 — identify who issued it, when, and why before you analyze the source.</a:t>
            </a:r>
            <a:endParaRPr b="0" i="0" sz="2000" u="none" cap="none" strike="noStrike">
              <a:solidFill>
                <a:schemeClr val="dk1"/>
              </a:solidFill>
              <a:latin typeface="Calibri"/>
              <a:ea typeface="Calibri"/>
              <a:cs typeface="Calibri"/>
              <a:sym typeface="Calibri"/>
            </a:endParaRPr>
          </a:p>
        </p:txBody>
      </p:sp>
      <p:sp>
        <p:nvSpPr>
          <p:cNvPr id="1009" name="Google Shape;1009;p5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010" name="Google Shape;1010;p5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011" name="Google Shape;1011;p5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012" name="Google Shape;1012;p5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25, 1941</a:t>
            </a:r>
            <a:endParaRPr b="0" i="0" sz="1200" u="none" cap="none" strike="noStrike">
              <a:solidFill>
                <a:schemeClr val="dk1"/>
              </a:solidFill>
              <a:latin typeface="Calibri"/>
              <a:ea typeface="Calibri"/>
              <a:cs typeface="Calibri"/>
              <a:sym typeface="Calibri"/>
            </a:endParaRPr>
          </a:p>
        </p:txBody>
      </p:sp>
      <p:sp>
        <p:nvSpPr>
          <p:cNvPr id="1013" name="Google Shape;1013;p5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4" name="Google Shape;1014;p5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015" name="Google Shape;1015;p5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8802</a:t>
            </a:r>
            <a:endParaRPr b="0" i="0" sz="1400" u="none" cap="none" strike="noStrike">
              <a:solidFill>
                <a:schemeClr val="dk1"/>
              </a:solidFill>
              <a:latin typeface="Calibri"/>
              <a:ea typeface="Calibri"/>
              <a:cs typeface="Calibri"/>
              <a:sym typeface="Calibri"/>
            </a:endParaRPr>
          </a:p>
        </p:txBody>
      </p:sp>
      <p:sp>
        <p:nvSpPr>
          <p:cNvPr id="1017" name="Google Shape;1017;p5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June 25, 1941</a:t>
            </a:r>
            <a:endParaRPr b="0" i="0" sz="900" u="none" cap="none" strike="noStrike">
              <a:solidFill>
                <a:schemeClr val="dk1"/>
              </a:solidFill>
              <a:latin typeface="Calibri"/>
              <a:ea typeface="Calibri"/>
              <a:cs typeface="Calibri"/>
              <a:sym typeface="Calibri"/>
            </a:endParaRPr>
          </a:p>
        </p:txBody>
      </p:sp>
      <p:sp>
        <p:nvSpPr>
          <p:cNvPr id="1018" name="Google Shape;1018;p5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100" u="none" cap="none" strike="noStrike">
              <a:solidFill>
                <a:schemeClr val="dk1"/>
              </a:solidFill>
              <a:latin typeface="Calibri"/>
              <a:ea typeface="Calibri"/>
              <a:cs typeface="Calibri"/>
              <a:sym typeface="Calibri"/>
            </a:endParaRPr>
          </a:p>
        </p:txBody>
      </p:sp>
      <p:sp>
        <p:nvSpPr>
          <p:cNvPr id="1019" name="Google Shape;1019;p5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20" name="Google Shape;1020;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21" name="Google Shape;1021;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
        <p:nvSpPr>
          <p:cNvPr id="1022" name="TextBox 10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26" name="Shape 1026"/>
        <p:cNvGrpSpPr/>
        <p:nvPr/>
      </p:nvGrpSpPr>
      <p:grpSpPr>
        <a:xfrm>
          <a:off x="0" y="0"/>
          <a:ext cx="0" cy="0"/>
          <a:chOff x="0" y="0"/>
          <a:chExt cx="0" cy="0"/>
        </a:xfrm>
      </p:grpSpPr>
      <p:sp>
        <p:nvSpPr>
          <p:cNvPr id="1027" name="Google Shape;1027;p5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8" name="Google Shape;1028;p5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29" name="Google Shape;1029;p5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30" name="Google Shape;1030;p5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33" name="Google Shape;1033;p5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34" name="Google Shape;1034;p5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35" name="Google Shape;1035;p5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 workers who gained defense jobs, and the emerging civil-rights movement, energized by wartime demands for equality.</a:t>
            </a:r>
            <a:endParaRPr b="0" i="0" sz="1200" u="none" cap="none" strike="noStrike">
              <a:solidFill>
                <a:schemeClr val="dk1"/>
              </a:solidFill>
              <a:latin typeface="Calibri"/>
              <a:ea typeface="Calibri"/>
              <a:cs typeface="Calibri"/>
              <a:sym typeface="Calibri"/>
            </a:endParaRPr>
          </a:p>
        </p:txBody>
      </p:sp>
      <p:sp>
        <p:nvSpPr>
          <p:cNvPr id="1036" name="Google Shape;1036;p5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039" name="Google Shape;1039;p5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040" name="Google Shape;1040;p5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1" name="Google Shape;1041;p5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Black Americans who still faced segregation, violence, and discrimination even in war industries and a still-segregated military.</a:t>
            </a:r>
            <a:endParaRPr b="0" i="0" sz="1200" u="none" cap="none" strike="noStrike">
              <a:solidFill>
                <a:schemeClr val="dk1"/>
              </a:solidFill>
              <a:latin typeface="Calibri"/>
              <a:ea typeface="Calibri"/>
              <a:cs typeface="Calibri"/>
              <a:sym typeface="Calibri"/>
            </a:endParaRPr>
          </a:p>
        </p:txBody>
      </p:sp>
      <p:sp>
        <p:nvSpPr>
          <p:cNvPr id="1042" name="Google Shape;1042;p5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045" name="Google Shape;1045;p5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046" name="Google Shape;1046;p5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7" name="Google Shape;1047;p5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pressured by A. Philip Randolph, who issued EO 8802; and President Truman, who ordered military desegregation.</a:t>
            </a:r>
            <a:endParaRPr b="0" i="0" sz="1200" u="none" cap="none" strike="noStrike">
              <a:solidFill>
                <a:schemeClr val="dk1"/>
              </a:solidFill>
              <a:latin typeface="Calibri"/>
              <a:ea typeface="Calibri"/>
              <a:cs typeface="Calibri"/>
              <a:sym typeface="Calibri"/>
            </a:endParaRPr>
          </a:p>
        </p:txBody>
      </p:sp>
      <p:sp>
        <p:nvSpPr>
          <p:cNvPr id="1048" name="Google Shape;1048;p5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8802, President Franklin D. Roosevelt, June 25, 1941 (National Archives)</a:t>
            </a:r>
            <a:endParaRPr b="0" i="0" sz="1000" u="none" cap="none" strike="noStrike">
              <a:solidFill>
                <a:schemeClr val="dk1"/>
              </a:solidFill>
              <a:latin typeface="Calibri"/>
              <a:ea typeface="Calibri"/>
              <a:cs typeface="Calibri"/>
              <a:sym typeface="Calibri"/>
            </a:endParaRPr>
          </a:p>
        </p:txBody>
      </p:sp>
      <p:sp>
        <p:nvSpPr>
          <p:cNvPr id="1049" name="Google Shape;1049;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0" name="Google Shape;1050;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
        <p:nvSpPr>
          <p:cNvPr id="1051" name="TextBox 105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55" name="Shape 1055"/>
        <p:cNvGrpSpPr/>
        <p:nvPr/>
      </p:nvGrpSpPr>
      <p:grpSpPr>
        <a:xfrm>
          <a:off x="0" y="0"/>
          <a:ext cx="0" cy="0"/>
          <a:chOff x="0" y="0"/>
          <a:chExt cx="0" cy="0"/>
        </a:xfrm>
      </p:grpSpPr>
      <p:sp>
        <p:nvSpPr>
          <p:cNvPr id="1056" name="Google Shape;1056;p5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US.54</a:t>
            </a:r>
            <a:endParaRPr b="0" i="0" sz="6000" u="none" cap="none" strike="noStrike">
              <a:solidFill>
                <a:schemeClr val="dk1"/>
              </a:solidFill>
              <a:latin typeface="Calibri"/>
              <a:ea typeface="Calibri"/>
              <a:cs typeface="Calibri"/>
              <a:sym typeface="Calibri"/>
            </a:endParaRPr>
          </a:p>
        </p:txBody>
      </p:sp>
      <p:sp>
        <p:nvSpPr>
          <p:cNvPr id="1058" name="Google Shape;1058;p5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Japanese American Internment &amp; Korematsu</a:t>
            </a:r>
            <a:endParaRPr b="0" i="0" sz="2600" u="none" cap="none" strike="noStrike">
              <a:solidFill>
                <a:schemeClr val="dk1"/>
              </a:solidFill>
              <a:latin typeface="Calibri"/>
              <a:ea typeface="Calibri"/>
              <a:cs typeface="Calibri"/>
              <a:sym typeface="Calibri"/>
            </a:endParaRPr>
          </a:p>
        </p:txBody>
      </p:sp>
      <p:sp>
        <p:nvSpPr>
          <p:cNvPr id="1059" name="Google Shape;1059;p5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060" name="Google Shape;1060;p5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US.54 – Describe the constitutional issues and impact of the internment of Japanese Americans on the U.S., including the Fred Korematsu v. United States of America decision.</a:t>
            </a:r>
            <a:endParaRPr b="0" i="0" sz="1600" u="none" cap="none" strike="noStrike">
              <a:solidFill>
                <a:schemeClr val="dk1"/>
              </a:solidFill>
              <a:latin typeface="Calibri"/>
              <a:ea typeface="Calibri"/>
              <a:cs typeface="Calibri"/>
              <a:sym typeface="Calibri"/>
            </a:endParaRPr>
          </a:p>
        </p:txBody>
      </p:sp>
      <p:sp>
        <p:nvSpPr>
          <p:cNvPr id="1061" name="Google Shape;1061;p5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063" name="Google Shape;1063;p5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400" u="none" cap="none" strike="noStrike">
              <a:solidFill>
                <a:schemeClr val="dk1"/>
              </a:solidFill>
              <a:latin typeface="Calibri"/>
              <a:ea typeface="Calibri"/>
              <a:cs typeface="Calibri"/>
              <a:sym typeface="Calibri"/>
            </a:endParaRPr>
          </a:p>
        </p:txBody>
      </p:sp>
      <p:sp>
        <p:nvSpPr>
          <p:cNvPr id="1064" name="Google Shape;10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65" name="Google Shape;10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70" name="Shape 1070"/>
        <p:cNvGrpSpPr/>
        <p:nvPr/>
      </p:nvGrpSpPr>
      <p:grpSpPr>
        <a:xfrm>
          <a:off x="0" y="0"/>
          <a:ext cx="0" cy="0"/>
          <a:chOff x="0" y="0"/>
          <a:chExt cx="0" cy="0"/>
        </a:xfrm>
      </p:grpSpPr>
      <p:sp>
        <p:nvSpPr>
          <p:cNvPr id="1071" name="Google Shape;1071;p5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74" name="Google Shape;1074;p5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75" name="Google Shape;1075;p5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Executive Order 9066 authorized mass internment — after Pearl Harbor, the February 1942 order forced roughly 120,000 Japanese Americans — most of them U.S. citizens — from their homes into remote camps.</a:t>
            </a:r>
            <a:endParaRPr b="0" i="0" sz="2300" u="none" cap="none" strike="noStrike">
              <a:solidFill>
                <a:schemeClr val="dk1"/>
              </a:solidFill>
              <a:latin typeface="Calibri"/>
              <a:ea typeface="Calibri"/>
              <a:cs typeface="Calibri"/>
              <a:sym typeface="Calibri"/>
            </a:endParaRPr>
          </a:p>
        </p:txBody>
      </p:sp>
      <p:pic>
        <p:nvPicPr>
          <p:cNvPr descr="hh-web/public/images/textbook/unit-6/japanese-internment-mochida-family-1942.jpg" id="1076" name="Google Shape;1076;p5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077" name="Google Shape;1077;p5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078" name="Google Shape;1078;p5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Executive Order 9066 &amp; Internment</a:t>
            </a:r>
            <a:endParaRPr b="0" i="0" sz="1000" u="none" cap="none" strike="noStrike">
              <a:solidFill>
                <a:schemeClr val="dk1"/>
              </a:solidFill>
              <a:latin typeface="Calibri"/>
              <a:ea typeface="Calibri"/>
              <a:cs typeface="Calibri"/>
              <a:sym typeface="Calibri"/>
            </a:endParaRPr>
          </a:p>
        </p:txBody>
      </p:sp>
      <p:sp>
        <p:nvSpPr>
          <p:cNvPr id="1079" name="Google Shape;1079;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80" name="Google Shape;1080;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
        <p:nvSpPr>
          <p:cNvPr id="1081" name="TextBox 108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5" name="Shape 1085"/>
        <p:cNvGrpSpPr/>
        <p:nvPr/>
      </p:nvGrpSpPr>
      <p:grpSpPr>
        <a:xfrm>
          <a:off x="0" y="0"/>
          <a:ext cx="0" cy="0"/>
          <a:chOff x="0" y="0"/>
          <a:chExt cx="0" cy="0"/>
        </a:xfrm>
      </p:grpSpPr>
      <p:sp>
        <p:nvSpPr>
          <p:cNvPr id="1086" name="Google Shape;1086;p5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89" name="Google Shape;1089;p5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90" name="Google Shape;1090;p5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Internment violated core constitutional rights — people were removed without individual hearings, evidence of disloyalty, or due process, and were confined based solely on ancestry.</a:t>
            </a:r>
            <a:endParaRPr b="0" i="0" sz="2300" u="none" cap="none" strike="noStrike">
              <a:solidFill>
                <a:schemeClr val="dk1"/>
              </a:solidFill>
              <a:latin typeface="Calibri"/>
              <a:ea typeface="Calibri"/>
              <a:cs typeface="Calibri"/>
              <a:sym typeface="Calibri"/>
            </a:endParaRPr>
          </a:p>
        </p:txBody>
      </p:sp>
      <p:sp>
        <p:nvSpPr>
          <p:cNvPr id="1091" name="Google Shape;1091;p57"/>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094" name="Google Shape;1094;p57"/>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Internment violated core constitutional rights — people were removed without individual hearings, evidence of disloyalty, or due process, and were confined based solely on ancestry.</a:t>
            </a:r>
            <a:endParaRPr b="0" i="0" sz="2200" u="none" cap="none" strike="noStrike">
              <a:solidFill>
                <a:schemeClr val="dk1"/>
              </a:solidFill>
              <a:latin typeface="Calibri"/>
              <a:ea typeface="Calibri"/>
              <a:cs typeface="Calibri"/>
              <a:sym typeface="Calibri"/>
            </a:endParaRPr>
          </a:p>
        </p:txBody>
      </p:sp>
      <p:sp>
        <p:nvSpPr>
          <p:cNvPr id="1095" name="Google Shape;1095;p5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Constitutional Issues</a:t>
            </a:r>
            <a:endParaRPr b="0" i="0" sz="1000" u="none" cap="none" strike="noStrike">
              <a:solidFill>
                <a:schemeClr val="dk1"/>
              </a:solidFill>
              <a:latin typeface="Calibri"/>
              <a:ea typeface="Calibri"/>
              <a:cs typeface="Calibri"/>
              <a:sym typeface="Calibri"/>
            </a:endParaRPr>
          </a:p>
        </p:txBody>
      </p:sp>
      <p:sp>
        <p:nvSpPr>
          <p:cNvPr id="1096" name="Google Shape;1096;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
        <p:nvSpPr>
          <p:cNvPr id="1098" name="TextBox 109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5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Korematsu upheld internment, then history reversed it — in 1944 the Supreme Court upheld the exclusion order in Korematsu v. United States, but decades later the Civil Liberties Act of 1988 apologized and paid reparations.</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Korematsu upheld internment, then history reversed it — in 1944 the Supreme Court upheld the exclusion order in Korematsu v. United States, but decades later the Civil Liberties Act of 1988 apologized and paid reparations.</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Korematsu v. U.S. &amp; Historical Lessons</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5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123" name="Google Shape;1123;p5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24" name="Google Shape;1124;p5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9066 — note who issued it, when, and why before you weigh its words.</a:t>
            </a:r>
            <a:endParaRPr b="0" i="0" sz="2000" u="none" cap="none" strike="noStrike">
              <a:solidFill>
                <a:schemeClr val="dk1"/>
              </a:solidFill>
              <a:latin typeface="Calibri"/>
              <a:ea typeface="Calibri"/>
              <a:cs typeface="Calibri"/>
              <a:sym typeface="Calibri"/>
            </a:endParaRPr>
          </a:p>
        </p:txBody>
      </p:sp>
      <p:sp>
        <p:nvSpPr>
          <p:cNvPr id="1125" name="Google Shape;1125;p5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126" name="Google Shape;1126;p5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127" name="Google Shape;1127;p5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128" name="Google Shape;1128;p5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 1942</a:t>
            </a:r>
            <a:endParaRPr b="0" i="0" sz="1200" u="none" cap="none" strike="noStrike">
              <a:solidFill>
                <a:schemeClr val="dk1"/>
              </a:solidFill>
              <a:latin typeface="Calibri"/>
              <a:ea typeface="Calibri"/>
              <a:cs typeface="Calibri"/>
              <a:sym typeface="Calibri"/>
            </a:endParaRPr>
          </a:p>
        </p:txBody>
      </p:sp>
      <p:sp>
        <p:nvSpPr>
          <p:cNvPr id="1129" name="Google Shape;1129;p5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130" name="Google Shape;1130;p5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131" name="Google Shape;1131;p5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9066</a:t>
            </a:r>
            <a:endParaRPr b="0" i="0" sz="1400" u="none" cap="none" strike="noStrike">
              <a:solidFill>
                <a:schemeClr val="dk1"/>
              </a:solidFill>
              <a:latin typeface="Calibri"/>
              <a:ea typeface="Calibri"/>
              <a:cs typeface="Calibri"/>
              <a:sym typeface="Calibri"/>
            </a:endParaRPr>
          </a:p>
        </p:txBody>
      </p:sp>
      <p:sp>
        <p:nvSpPr>
          <p:cNvPr id="1133" name="Google Shape;1133;p5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February 19, 1942</a:t>
            </a:r>
            <a:endParaRPr b="0" i="0" sz="900" u="none" cap="none" strike="noStrike">
              <a:solidFill>
                <a:schemeClr val="dk1"/>
              </a:solidFill>
              <a:latin typeface="Calibri"/>
              <a:ea typeface="Calibri"/>
              <a:cs typeface="Calibri"/>
              <a:sym typeface="Calibri"/>
            </a:endParaRPr>
          </a:p>
        </p:txBody>
      </p:sp>
      <p:sp>
        <p:nvSpPr>
          <p:cNvPr id="1134" name="Google Shape;1134;p5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100" u="none" cap="none" strike="noStrike">
              <a:solidFill>
                <a:schemeClr val="dk1"/>
              </a:solidFill>
              <a:latin typeface="Calibri"/>
              <a:ea typeface="Calibri"/>
              <a:cs typeface="Calibri"/>
              <a:sym typeface="Calibri"/>
            </a:endParaRPr>
          </a:p>
        </p:txBody>
      </p:sp>
      <p:sp>
        <p:nvSpPr>
          <p:cNvPr id="1135" name="Google Shape;1135;p5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36" name="Google Shape;1136;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7" name="Google Shape;1137;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
        <p:nvSpPr>
          <p:cNvPr id="1138" name="TextBox 113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42" name="Shape 1142"/>
        <p:cNvGrpSpPr/>
        <p:nvPr/>
      </p:nvGrpSpPr>
      <p:grpSpPr>
        <a:xfrm>
          <a:off x="0" y="0"/>
          <a:ext cx="0" cy="0"/>
          <a:chOff x="0" y="0"/>
          <a:chExt cx="0" cy="0"/>
        </a:xfrm>
      </p:grpSpPr>
      <p:sp>
        <p:nvSpPr>
          <p:cNvPr id="1143" name="Google Shape;1143;p6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144" name="Google Shape;1144;p6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45" name="Google Shape;1145;p6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146" name="Google Shape;1146;p6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6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6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149" name="Google Shape;1149;p6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150" name="Google Shape;1150;p6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1" name="Google Shape;1151;p6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Wartime officials who claimed security justification, and some who acquired the property Japanese Americans were forced to abandon.</a:t>
            </a:r>
            <a:endParaRPr b="0" i="0" sz="1200" u="none" cap="none" strike="noStrike">
              <a:solidFill>
                <a:schemeClr val="dk1"/>
              </a:solidFill>
              <a:latin typeface="Calibri"/>
              <a:ea typeface="Calibri"/>
              <a:cs typeface="Calibri"/>
              <a:sym typeface="Calibri"/>
            </a:endParaRPr>
          </a:p>
        </p:txBody>
      </p:sp>
      <p:sp>
        <p:nvSpPr>
          <p:cNvPr id="1152" name="Google Shape;1152;p6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6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6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55" name="Google Shape;1155;p6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56" name="Google Shape;1156;p6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7" name="Google Shape;1157;p6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120,000 interned Japanese Americans who lost homes, businesses, and freedom — an estimated $400 million in property and lasting trauma.</a:t>
            </a:r>
            <a:endParaRPr b="0" i="0" sz="1200" u="none" cap="none" strike="noStrike">
              <a:solidFill>
                <a:schemeClr val="dk1"/>
              </a:solidFill>
              <a:latin typeface="Calibri"/>
              <a:ea typeface="Calibri"/>
              <a:cs typeface="Calibri"/>
              <a:sym typeface="Calibri"/>
            </a:endParaRPr>
          </a:p>
        </p:txBody>
      </p:sp>
      <p:sp>
        <p:nvSpPr>
          <p:cNvPr id="1158" name="Google Shape;1158;p6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6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6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61" name="Google Shape;1161;p6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162" name="Google Shape;1162;p6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63" name="Google Shape;1163;p6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signed EO 9066; the military, which carried out removal; and the Supreme Court, which upheld it in Korematsu.</a:t>
            </a:r>
            <a:endParaRPr b="0" i="0" sz="1200" u="none" cap="none" strike="noStrike">
              <a:solidFill>
                <a:schemeClr val="dk1"/>
              </a:solidFill>
              <a:latin typeface="Calibri"/>
              <a:ea typeface="Calibri"/>
              <a:cs typeface="Calibri"/>
              <a:sym typeface="Calibri"/>
            </a:endParaRPr>
          </a:p>
        </p:txBody>
      </p:sp>
      <p:sp>
        <p:nvSpPr>
          <p:cNvPr id="1164" name="Google Shape;1164;p6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9066, President Franklin D. Roosevelt, February 19, 1942 (National Archives)</a:t>
            </a:r>
            <a:endParaRPr b="0" i="0" sz="1000" u="none" cap="none" strike="noStrike">
              <a:solidFill>
                <a:schemeClr val="dk1"/>
              </a:solidFill>
              <a:latin typeface="Calibri"/>
              <a:ea typeface="Calibri"/>
              <a:cs typeface="Calibri"/>
              <a:sym typeface="Calibri"/>
            </a:endParaRPr>
          </a:p>
        </p:txBody>
      </p:sp>
      <p:sp>
        <p:nvSpPr>
          <p:cNvPr id="1165" name="Google Shape;116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66" name="Google Shape;116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
        <p:nvSpPr>
          <p:cNvPr id="1167" name="TextBox 11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71" name="Shape 1171"/>
        <p:cNvGrpSpPr/>
        <p:nvPr/>
      </p:nvGrpSpPr>
      <p:grpSpPr>
        <a:xfrm>
          <a:off x="0" y="0"/>
          <a:ext cx="0" cy="0"/>
          <a:chOff x="0" y="0"/>
          <a:chExt cx="0" cy="0"/>
        </a:xfrm>
      </p:grpSpPr>
      <p:sp>
        <p:nvSpPr>
          <p:cNvPr id="1172" name="Google Shape;1172;p6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6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US.55</a:t>
            </a:r>
            <a:endParaRPr b="0" i="0" sz="6000" u="none" cap="none" strike="noStrike">
              <a:solidFill>
                <a:schemeClr val="dk1"/>
              </a:solidFill>
              <a:latin typeface="Calibri"/>
              <a:ea typeface="Calibri"/>
              <a:cs typeface="Calibri"/>
              <a:sym typeface="Calibri"/>
            </a:endParaRPr>
          </a:p>
        </p:txBody>
      </p:sp>
      <p:sp>
        <p:nvSpPr>
          <p:cNvPr id="1174" name="Google Shape;1174;p6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Home Front Mobilization</a:t>
            </a:r>
            <a:endParaRPr b="0" i="0" sz="2600" u="none" cap="none" strike="noStrike">
              <a:solidFill>
                <a:schemeClr val="dk1"/>
              </a:solidFill>
              <a:latin typeface="Calibri"/>
              <a:ea typeface="Calibri"/>
              <a:cs typeface="Calibri"/>
              <a:sym typeface="Calibri"/>
            </a:endParaRPr>
          </a:p>
        </p:txBody>
      </p:sp>
      <p:sp>
        <p:nvSpPr>
          <p:cNvPr id="1175" name="Google Shape;1175;p6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176" name="Google Shape;1176;p6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US.55 – Describe the war's impact on the home front, including: rationing, bond drives, propaganda, movement to cities and industrial centers, Bracero program, conversion of factories for wartime production, location of prisoner of war camps in Tennessee.</a:t>
            </a:r>
            <a:endParaRPr b="0" i="0" sz="1600" u="none" cap="none" strike="noStrike">
              <a:solidFill>
                <a:schemeClr val="dk1"/>
              </a:solidFill>
              <a:latin typeface="Calibri"/>
              <a:ea typeface="Calibri"/>
              <a:cs typeface="Calibri"/>
              <a:sym typeface="Calibri"/>
            </a:endParaRPr>
          </a:p>
        </p:txBody>
      </p:sp>
      <p:sp>
        <p:nvSpPr>
          <p:cNvPr id="1177" name="Google Shape;1177;p6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6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179" name="Google Shape;1179;p6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400" u="none" cap="none" strike="noStrike">
              <a:solidFill>
                <a:schemeClr val="dk1"/>
              </a:solidFill>
              <a:latin typeface="Calibri"/>
              <a:ea typeface="Calibri"/>
              <a:cs typeface="Calibri"/>
              <a:sym typeface="Calibri"/>
            </a:endParaRPr>
          </a:p>
        </p:txBody>
      </p:sp>
      <p:sp>
        <p:nvSpPr>
          <p:cNvPr id="1180" name="Google Shape;1180;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1" name="Google Shape;1181;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6" name="Shape 1186"/>
        <p:cNvGrpSpPr/>
        <p:nvPr/>
      </p:nvGrpSpPr>
      <p:grpSpPr>
        <a:xfrm>
          <a:off x="0" y="0"/>
          <a:ext cx="0" cy="0"/>
          <a:chOff x="0" y="0"/>
          <a:chExt cx="0" cy="0"/>
        </a:xfrm>
      </p:grpSpPr>
      <p:sp>
        <p:nvSpPr>
          <p:cNvPr id="1187" name="Google Shape;1187;p6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6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6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90" name="Google Shape;1190;p6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191" name="Google Shape;1191;p6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Rationing and conservation reshaped daily life — ration books controlled civilian access to gasoline, tires, sugar, meat, and coffee, and victory gardens and scrap drives turned home-front sacrifice into war production.</a:t>
            </a:r>
            <a:endParaRPr b="0" i="0" sz="2300" u="none" cap="none" strike="noStrike">
              <a:solidFill>
                <a:schemeClr val="dk1"/>
              </a:solidFill>
              <a:latin typeface="Calibri"/>
              <a:ea typeface="Calibri"/>
              <a:cs typeface="Calibri"/>
              <a:sym typeface="Calibri"/>
            </a:endParaRPr>
          </a:p>
        </p:txBody>
      </p:sp>
      <p:pic>
        <p:nvPicPr>
          <p:cNvPr descr="hh-web/public/images/textbook/unit-6/victory-garden-home-front-1943.jpg" id="1192" name="Google Shape;1192;p6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193" name="Google Shape;1193;p6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194" name="Google Shape;1194;p6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Rationing &amp; Conservation</a:t>
            </a:r>
            <a:endParaRPr b="0" i="0" sz="1000" u="none" cap="none" strike="noStrike">
              <a:solidFill>
                <a:schemeClr val="dk1"/>
              </a:solidFill>
              <a:latin typeface="Calibri"/>
              <a:ea typeface="Calibri"/>
              <a:cs typeface="Calibri"/>
              <a:sym typeface="Calibri"/>
            </a:endParaRPr>
          </a:p>
        </p:txBody>
      </p:sp>
      <p:sp>
        <p:nvSpPr>
          <p:cNvPr id="1195" name="Google Shape;1195;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96" name="Google Shape;1196;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
        <p:nvSpPr>
          <p:cNvPr id="1197" name="TextBox 119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01" name="Shape 1201"/>
        <p:cNvGrpSpPr/>
        <p:nvPr/>
      </p:nvGrpSpPr>
      <p:grpSpPr>
        <a:xfrm>
          <a:off x="0" y="0"/>
          <a:ext cx="0" cy="0"/>
          <a:chOff x="0" y="0"/>
          <a:chExt cx="0" cy="0"/>
        </a:xfrm>
      </p:grpSpPr>
      <p:sp>
        <p:nvSpPr>
          <p:cNvPr id="1202" name="Google Shape;1202;p6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6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6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05" name="Google Shape;1205;p6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06" name="Google Shape;1206;p6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Bonds and propaganda financed and unified the war — Liberty and Victory bond drives funded the war and gave civilians a direct stake, while government propaganda sustained morale and mobilized the public.</a:t>
            </a:r>
            <a:endParaRPr b="0" i="0" sz="2300" u="none" cap="none" strike="noStrike">
              <a:solidFill>
                <a:schemeClr val="dk1"/>
              </a:solidFill>
              <a:latin typeface="Calibri"/>
              <a:ea typeface="Calibri"/>
              <a:cs typeface="Calibri"/>
              <a:sym typeface="Calibri"/>
            </a:endParaRPr>
          </a:p>
        </p:txBody>
      </p:sp>
      <p:sp>
        <p:nvSpPr>
          <p:cNvPr id="1207" name="Google Shape;1207;p63"/>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63"/>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63"/>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10" name="Google Shape;1210;p63"/>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Bonds and propaganda financed and unified the war — Liberty and Victory bond drives funded the war and gave civilians a direct stake, while government propaganda sustained morale and mobilized the public.</a:t>
            </a:r>
            <a:endParaRPr b="0" i="0" sz="2200" u="none" cap="none" strike="noStrike">
              <a:solidFill>
                <a:schemeClr val="dk1"/>
              </a:solidFill>
              <a:latin typeface="Calibri"/>
              <a:ea typeface="Calibri"/>
              <a:cs typeface="Calibri"/>
              <a:sym typeface="Calibri"/>
            </a:endParaRPr>
          </a:p>
        </p:txBody>
      </p:sp>
      <p:sp>
        <p:nvSpPr>
          <p:cNvPr id="1211" name="Google Shape;1211;p6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War Bonds &amp; Propaganda</a:t>
            </a:r>
            <a:endParaRPr b="0" i="0" sz="1000" u="none" cap="none" strike="noStrike">
              <a:solidFill>
                <a:schemeClr val="dk1"/>
              </a:solidFill>
              <a:latin typeface="Calibri"/>
              <a:ea typeface="Calibri"/>
              <a:cs typeface="Calibri"/>
              <a:sym typeface="Calibri"/>
            </a:endParaRPr>
          </a:p>
        </p:txBody>
      </p:sp>
      <p:sp>
        <p:nvSpPr>
          <p:cNvPr id="1212" name="Google Shape;1212;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13" name="Google Shape;1213;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
        <p:nvSpPr>
          <p:cNvPr id="1214" name="TextBox 121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18" name="Shape 1218"/>
        <p:cNvGrpSpPr/>
        <p:nvPr/>
      </p:nvGrpSpPr>
      <p:grpSpPr>
        <a:xfrm>
          <a:off x="0" y="0"/>
          <a:ext cx="0" cy="0"/>
          <a:chOff x="0" y="0"/>
          <a:chExt cx="0" cy="0"/>
        </a:xfrm>
      </p:grpSpPr>
      <p:sp>
        <p:nvSpPr>
          <p:cNvPr id="1219" name="Google Shape;1219;p6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Wartime migration and Tennessee’s role transformed communities — millions moved to defense centers, straining housing, while Tennessee hosted training installations, POW camps, and defense industries central to the war effort.</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Wartime migration and Tennessee’s role transformed communities — millions moved to defense centers, straining housing, while Tennessee hosted training installations, POW camps, and defense industries central to the war effort.</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Migration &amp; Tennessee’s Wartime Role (TN)</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
        <p:nvSpPr>
          <p:cNvPr id="1231" name="TextBox 12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35" name="Shape 1235"/>
        <p:cNvGrpSpPr/>
        <p:nvPr/>
      </p:nvGrpSpPr>
      <p:grpSpPr>
        <a:xfrm>
          <a:off x="0" y="0"/>
          <a:ext cx="0" cy="0"/>
          <a:chOff x="0" y="0"/>
          <a:chExt cx="0" cy="0"/>
        </a:xfrm>
      </p:grpSpPr>
      <p:sp>
        <p:nvSpPr>
          <p:cNvPr id="1236" name="Google Shape;1236;p6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6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6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239" name="Google Shape;1239;p6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40" name="Google Shape;1240;p6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Ration Book instructions — identify the issuing office and its purpose before you read the text.</a:t>
            </a:r>
            <a:endParaRPr b="0" i="0" sz="2000" u="none" cap="none" strike="noStrike">
              <a:solidFill>
                <a:schemeClr val="dk1"/>
              </a:solidFill>
              <a:latin typeface="Calibri"/>
              <a:ea typeface="Calibri"/>
              <a:cs typeface="Calibri"/>
              <a:sym typeface="Calibri"/>
            </a:endParaRPr>
          </a:p>
        </p:txBody>
      </p:sp>
      <p:sp>
        <p:nvSpPr>
          <p:cNvPr id="1241" name="Google Shape;1241;p6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242" name="Google Shape;1242;p6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Office of Price Administration</a:t>
            </a:r>
            <a:endParaRPr b="0" i="0" sz="1200" u="none" cap="none" strike="noStrike">
              <a:solidFill>
                <a:schemeClr val="dk1"/>
              </a:solidFill>
              <a:latin typeface="Calibri"/>
              <a:ea typeface="Calibri"/>
              <a:cs typeface="Calibri"/>
              <a:sym typeface="Calibri"/>
            </a:endParaRPr>
          </a:p>
        </p:txBody>
      </p:sp>
      <p:sp>
        <p:nvSpPr>
          <p:cNvPr id="1243" name="Google Shape;1243;p6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244" name="Google Shape;1244;p6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1245" name="Google Shape;1245;p6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246" name="Google Shape;1246;p6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247" name="Google Shape;1247;p6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Ration Book Instructions</a:t>
            </a:r>
            <a:endParaRPr b="0" i="0" sz="1400" u="none" cap="none" strike="noStrike">
              <a:solidFill>
                <a:schemeClr val="dk1"/>
              </a:solidFill>
              <a:latin typeface="Calibri"/>
              <a:ea typeface="Calibri"/>
              <a:cs typeface="Calibri"/>
              <a:sym typeface="Calibri"/>
            </a:endParaRPr>
          </a:p>
        </p:txBody>
      </p:sp>
      <p:sp>
        <p:nvSpPr>
          <p:cNvPr id="1249" name="Google Shape;1249;p6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Price Administration · 1943</a:t>
            </a:r>
            <a:endParaRPr b="0" i="0" sz="900" u="none" cap="none" strike="noStrike">
              <a:solidFill>
                <a:schemeClr val="dk1"/>
              </a:solidFill>
              <a:latin typeface="Calibri"/>
              <a:ea typeface="Calibri"/>
              <a:cs typeface="Calibri"/>
              <a:sym typeface="Calibri"/>
            </a:endParaRPr>
          </a:p>
        </p:txBody>
      </p:sp>
      <p:sp>
        <p:nvSpPr>
          <p:cNvPr id="1250" name="Google Shape;1250;p6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100" u="none" cap="none" strike="noStrike">
              <a:solidFill>
                <a:schemeClr val="dk1"/>
              </a:solidFill>
              <a:latin typeface="Calibri"/>
              <a:ea typeface="Calibri"/>
              <a:cs typeface="Calibri"/>
              <a:sym typeface="Calibri"/>
            </a:endParaRPr>
          </a:p>
        </p:txBody>
      </p:sp>
      <p:sp>
        <p:nvSpPr>
          <p:cNvPr id="1251" name="Google Shape;1251;p6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252" name="Google Shape;1252;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
        <p:nvSpPr>
          <p:cNvPr id="1254" name="TextBox 125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58" name="Shape 1258"/>
        <p:cNvGrpSpPr/>
        <p:nvPr/>
      </p:nvGrpSpPr>
      <p:grpSpPr>
        <a:xfrm>
          <a:off x="0" y="0"/>
          <a:ext cx="0" cy="0"/>
          <a:chOff x="0" y="0"/>
          <a:chExt cx="0" cy="0"/>
        </a:xfrm>
      </p:grpSpPr>
      <p:sp>
        <p:nvSpPr>
          <p:cNvPr id="1259" name="Google Shape;1259;p6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60" name="Google Shape;1260;p6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61" name="Google Shape;1261;p6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262" name="Google Shape;1262;p6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65" name="Google Shape;1265;p6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266" name="Google Shape;1266;p6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67" name="Google Shape;1267;p6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effort, financed and supplied by home-front sacrifice, and regions like Tennessee that gained industry, bases, and jobs.</a:t>
            </a:r>
            <a:endParaRPr b="0" i="0" sz="1200" u="none" cap="none" strike="noStrike">
              <a:solidFill>
                <a:schemeClr val="dk1"/>
              </a:solidFill>
              <a:latin typeface="Calibri"/>
              <a:ea typeface="Calibri"/>
              <a:cs typeface="Calibri"/>
              <a:sym typeface="Calibri"/>
            </a:endParaRPr>
          </a:p>
        </p:txBody>
      </p:sp>
      <p:sp>
        <p:nvSpPr>
          <p:cNvPr id="1268" name="Google Shape;1268;p6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271" name="Google Shape;1271;p6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272" name="Google Shape;1272;p6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3" name="Google Shape;1273;p6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Civilians who gave up goods to rationing, families separated by wartime migration, and communities strained by rapid, crowded growth.</a:t>
            </a:r>
            <a:endParaRPr b="0" i="0" sz="1200" u="none" cap="none" strike="noStrike">
              <a:solidFill>
                <a:schemeClr val="dk1"/>
              </a:solidFill>
              <a:latin typeface="Calibri"/>
              <a:ea typeface="Calibri"/>
              <a:cs typeface="Calibri"/>
              <a:sym typeface="Calibri"/>
            </a:endParaRPr>
          </a:p>
        </p:txBody>
      </p:sp>
      <p:sp>
        <p:nvSpPr>
          <p:cNvPr id="1274" name="Google Shape;1274;p6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277" name="Google Shape;1277;p6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78" name="Google Shape;1278;p6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9" name="Google Shape;1279;p6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Federal agencies like the Office of Price Administration and War Production Board that set rationing, bond, and production policy.</a:t>
            </a:r>
            <a:endParaRPr b="0" i="0" sz="1200" u="none" cap="none" strike="noStrike">
              <a:solidFill>
                <a:schemeClr val="dk1"/>
              </a:solidFill>
              <a:latin typeface="Calibri"/>
              <a:ea typeface="Calibri"/>
              <a:cs typeface="Calibri"/>
              <a:sym typeface="Calibri"/>
            </a:endParaRPr>
          </a:p>
        </p:txBody>
      </p:sp>
      <p:sp>
        <p:nvSpPr>
          <p:cNvPr id="1280" name="Google Shape;1280;p6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Ration Book Instructions, Office of Price Administration, 1943 (National Archives)</a:t>
            </a:r>
            <a:endParaRPr b="0" i="0" sz="1000" u="none" cap="none" strike="noStrike">
              <a:solidFill>
                <a:schemeClr val="dk1"/>
              </a:solidFill>
              <a:latin typeface="Calibri"/>
              <a:ea typeface="Calibri"/>
              <a:cs typeface="Calibri"/>
              <a:sym typeface="Calibri"/>
            </a:endParaRPr>
          </a:p>
        </p:txBody>
      </p:sp>
      <p:sp>
        <p:nvSpPr>
          <p:cNvPr id="1281" name="Google Shape;1281;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2" name="Google Shape;1282;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
        <p:nvSpPr>
          <p:cNvPr id="1283" name="TextBox 128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87" name="Shape 1287"/>
        <p:cNvGrpSpPr/>
        <p:nvPr/>
      </p:nvGrpSpPr>
      <p:grpSpPr>
        <a:xfrm>
          <a:off x="0" y="0"/>
          <a:ext cx="0" cy="0"/>
          <a:chOff x="0" y="0"/>
          <a:chExt cx="0" cy="0"/>
        </a:xfrm>
      </p:grpSpPr>
      <p:sp>
        <p:nvSpPr>
          <p:cNvPr id="1288" name="Google Shape;1288;p6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US.56</a:t>
            </a:r>
            <a:endParaRPr b="0" i="0" sz="6000" u="none" cap="none" strike="noStrike">
              <a:solidFill>
                <a:schemeClr val="dk1"/>
              </a:solidFill>
              <a:latin typeface="Calibri"/>
              <a:ea typeface="Calibri"/>
              <a:cs typeface="Calibri"/>
              <a:sym typeface="Calibri"/>
            </a:endParaRPr>
          </a:p>
        </p:txBody>
      </p:sp>
      <p:sp>
        <p:nvSpPr>
          <p:cNvPr id="1290" name="Google Shape;1290;p6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Manhattan Project &amp; Atomic Bomb</a:t>
            </a:r>
            <a:endParaRPr b="0" i="0" sz="2600" u="none" cap="none" strike="noStrike">
              <a:solidFill>
                <a:schemeClr val="dk1"/>
              </a:solidFill>
              <a:latin typeface="Calibri"/>
              <a:ea typeface="Calibri"/>
              <a:cs typeface="Calibri"/>
              <a:sym typeface="Calibri"/>
            </a:endParaRPr>
          </a:p>
        </p:txBody>
      </p:sp>
      <p:sp>
        <p:nvSpPr>
          <p:cNvPr id="1291" name="Google Shape;1291;p6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292" name="Google Shape;1292;p6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US.56 – Describe the Manhattan Project and explain the rationale for using the atomic bomb to end the war.</a:t>
            </a:r>
            <a:endParaRPr b="0" i="0" sz="1600" u="none" cap="none" strike="noStrike">
              <a:solidFill>
                <a:schemeClr val="dk1"/>
              </a:solidFill>
              <a:latin typeface="Calibri"/>
              <a:ea typeface="Calibri"/>
              <a:cs typeface="Calibri"/>
              <a:sym typeface="Calibri"/>
            </a:endParaRPr>
          </a:p>
        </p:txBody>
      </p:sp>
      <p:sp>
        <p:nvSpPr>
          <p:cNvPr id="1293" name="Google Shape;1293;p6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295" name="Google Shape;1295;p6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400" u="none" cap="none" strike="noStrike">
              <a:solidFill>
                <a:schemeClr val="dk1"/>
              </a:solidFill>
              <a:latin typeface="Calibri"/>
              <a:ea typeface="Calibri"/>
              <a:cs typeface="Calibri"/>
              <a:sym typeface="Calibri"/>
            </a:endParaRPr>
          </a:p>
        </p:txBody>
      </p:sp>
      <p:sp>
        <p:nvSpPr>
          <p:cNvPr id="1296" name="Google Shape;129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97" name="Google Shape;129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02" name="Shape 1302"/>
        <p:cNvGrpSpPr/>
        <p:nvPr/>
      </p:nvGrpSpPr>
      <p:grpSpPr>
        <a:xfrm>
          <a:off x="0" y="0"/>
          <a:ext cx="0" cy="0"/>
          <a:chOff x="0" y="0"/>
          <a:chExt cx="0" cy="0"/>
        </a:xfrm>
      </p:grpSpPr>
      <p:sp>
        <p:nvSpPr>
          <p:cNvPr id="1303" name="Google Shape;1303;p6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06" name="Google Shape;1306;p6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07" name="Google Shape;1307;p6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Oak Ridge, Tennessee anchored the Manhattan Project — the secret “Secret City” was chosen for uranium enrichment for its remote, secure location, abundant TVA power, and rail access, growing overnight to tens of thousands of workers.</a:t>
            </a:r>
            <a:endParaRPr b="0" i="0" sz="2300" u="none" cap="none" strike="noStrike">
              <a:solidFill>
                <a:schemeClr val="dk1"/>
              </a:solidFill>
              <a:latin typeface="Calibri"/>
              <a:ea typeface="Calibri"/>
              <a:cs typeface="Calibri"/>
              <a:sym typeface="Calibri"/>
            </a:endParaRPr>
          </a:p>
        </p:txBody>
      </p:sp>
      <p:sp>
        <p:nvSpPr>
          <p:cNvPr id="1308" name="Google Shape;1308;p6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11" name="Google Shape;1311;p6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Oak Ridge, Tennessee anchored the Manhattan Project — the secret “Secret City” was chosen for uranium enrichment for its remote, secure location, abundant TVA power, and rail access, growing overnight to tens of thousands of workers.</a:t>
            </a:r>
            <a:endParaRPr b="0" i="0" sz="2200" u="none" cap="none" strike="noStrike">
              <a:solidFill>
                <a:schemeClr val="dk1"/>
              </a:solidFill>
              <a:latin typeface="Calibri"/>
              <a:ea typeface="Calibri"/>
              <a:cs typeface="Calibri"/>
              <a:sym typeface="Calibri"/>
            </a:endParaRPr>
          </a:p>
        </p:txBody>
      </p:sp>
      <p:sp>
        <p:nvSpPr>
          <p:cNvPr id="1312" name="Google Shape;1312;p6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Oak Ridge, Tennessee (TN)</a:t>
            </a:r>
            <a:endParaRPr b="0" i="0" sz="1000" u="none" cap="none" strike="noStrike">
              <a:solidFill>
                <a:schemeClr val="dk1"/>
              </a:solidFill>
              <a:latin typeface="Calibri"/>
              <a:ea typeface="Calibri"/>
              <a:cs typeface="Calibri"/>
              <a:sym typeface="Calibri"/>
            </a:endParaRPr>
          </a:p>
        </p:txBody>
      </p:sp>
      <p:sp>
        <p:nvSpPr>
          <p:cNvPr id="1313" name="Google Shape;1313;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14" name="Google Shape;1314;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
        <p:nvSpPr>
          <p:cNvPr id="1315" name="TextBox 13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19" name="Shape 1319"/>
        <p:cNvGrpSpPr/>
        <p:nvPr/>
      </p:nvGrpSpPr>
      <p:grpSpPr>
        <a:xfrm>
          <a:off x="0" y="0"/>
          <a:ext cx="0" cy="0"/>
          <a:chOff x="0" y="0"/>
          <a:chExt cx="0" cy="0"/>
        </a:xfrm>
      </p:grpSpPr>
      <p:sp>
        <p:nvSpPr>
          <p:cNvPr id="1320" name="Google Shape;1320;p6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 vast secret program built the atomic bomb — Los Alamos, Oak Ridge, and Hanford employed over 125,000 people under General Groves and Oppenheimer, and the July 1945 Trinity test proved the weapon worked.</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 vast secret program built the atomic bomb — Los Alamos, Oak Ridge, and Hanford employed over 125,000 people under General Groves and Oppenheimer, and the July 1945 Trinity test proved the weapon worked.</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Manhattan Project Overview</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
        <p:nvSpPr>
          <p:cNvPr id="1332" name="TextBox 133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36" name="Shape 1336"/>
        <p:cNvGrpSpPr/>
        <p:nvPr/>
      </p:nvGrpSpPr>
      <p:grpSpPr>
        <a:xfrm>
          <a:off x="0" y="0"/>
          <a:ext cx="0" cy="0"/>
          <a:chOff x="0" y="0"/>
          <a:chExt cx="0" cy="0"/>
        </a:xfrm>
      </p:grpSpPr>
      <p:sp>
        <p:nvSpPr>
          <p:cNvPr id="1337" name="Google Shape;1337;p7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7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7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40" name="Google Shape;1340;p7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41" name="Google Shape;1341;p7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Truman chose the bomb to end the war — facing projected casualties from a Japanese invasion, Truman authorized atomic strikes on Hiroshima and Nagasaki — a decision still debated for its human cost and long-term consequences.</a:t>
            </a:r>
            <a:endParaRPr b="0" i="0" sz="2300" u="none" cap="none" strike="noStrike">
              <a:solidFill>
                <a:schemeClr val="dk1"/>
              </a:solidFill>
              <a:latin typeface="Calibri"/>
              <a:ea typeface="Calibri"/>
              <a:cs typeface="Calibri"/>
              <a:sym typeface="Calibri"/>
            </a:endParaRPr>
          </a:p>
        </p:txBody>
      </p:sp>
      <p:pic>
        <p:nvPicPr>
          <p:cNvPr descr="hh-web/public/images/textbook/unit-6/nagasaki-atomic-bomb-1945.jpg" id="1342" name="Google Shape;1342;p7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343" name="Google Shape;1343;p7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344" name="Google Shape;1344;p7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Rationale &amp; Ethical Debate</a:t>
            </a:r>
            <a:endParaRPr b="0" i="0" sz="1000" u="none" cap="none" strike="noStrike">
              <a:solidFill>
                <a:schemeClr val="dk1"/>
              </a:solidFill>
              <a:latin typeface="Calibri"/>
              <a:ea typeface="Calibri"/>
              <a:cs typeface="Calibri"/>
              <a:sym typeface="Calibri"/>
            </a:endParaRPr>
          </a:p>
        </p:txBody>
      </p:sp>
      <p:sp>
        <p:nvSpPr>
          <p:cNvPr id="1345" name="Google Shape;134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6" name="Google Shape;134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
        <p:nvSpPr>
          <p:cNvPr id="1347" name="TextBox 134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51" name="Shape 1351"/>
        <p:cNvGrpSpPr/>
        <p:nvPr/>
      </p:nvGrpSpPr>
      <p:grpSpPr>
        <a:xfrm>
          <a:off x="0" y="0"/>
          <a:ext cx="0" cy="0"/>
          <a:chOff x="0" y="0"/>
          <a:chExt cx="0" cy="0"/>
        </a:xfrm>
      </p:grpSpPr>
      <p:sp>
        <p:nvSpPr>
          <p:cNvPr id="1352" name="Google Shape;1352;p7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7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7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355" name="Google Shape;1355;p7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56" name="Google Shape;1356;p7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Truman’s Statement on the Atomic Bomb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1357" name="Google Shape;1357;p7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358" name="Google Shape;1358;p7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Harry S. Truman</a:t>
            </a:r>
            <a:endParaRPr b="0" i="0" sz="1200" u="none" cap="none" strike="noStrike">
              <a:solidFill>
                <a:schemeClr val="dk1"/>
              </a:solidFill>
              <a:latin typeface="Calibri"/>
              <a:ea typeface="Calibri"/>
              <a:cs typeface="Calibri"/>
              <a:sym typeface="Calibri"/>
            </a:endParaRPr>
          </a:p>
        </p:txBody>
      </p:sp>
      <p:sp>
        <p:nvSpPr>
          <p:cNvPr id="1359" name="Google Shape;1359;p7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360" name="Google Shape;1360;p7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August 6, 1945</a:t>
            </a:r>
            <a:endParaRPr b="0" i="0" sz="1200" u="none" cap="none" strike="noStrike">
              <a:solidFill>
                <a:schemeClr val="dk1"/>
              </a:solidFill>
              <a:latin typeface="Calibri"/>
              <a:ea typeface="Calibri"/>
              <a:cs typeface="Calibri"/>
              <a:sym typeface="Calibri"/>
            </a:endParaRPr>
          </a:p>
        </p:txBody>
      </p:sp>
      <p:sp>
        <p:nvSpPr>
          <p:cNvPr id="1361" name="Google Shape;1361;p7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362" name="Google Shape;1362;p7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363" name="Google Shape;1363;p7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7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Statement on the Atomic Bomb</a:t>
            </a:r>
            <a:endParaRPr b="0" i="0" sz="1400" u="none" cap="none" strike="noStrike">
              <a:solidFill>
                <a:schemeClr val="dk1"/>
              </a:solidFill>
              <a:latin typeface="Calibri"/>
              <a:ea typeface="Calibri"/>
              <a:cs typeface="Calibri"/>
              <a:sym typeface="Calibri"/>
            </a:endParaRPr>
          </a:p>
        </p:txBody>
      </p:sp>
      <p:sp>
        <p:nvSpPr>
          <p:cNvPr id="1365" name="Google Shape;1365;p7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Harry S. Truman · August 6, 1945</a:t>
            </a:r>
            <a:endParaRPr b="0" i="0" sz="900" u="none" cap="none" strike="noStrike">
              <a:solidFill>
                <a:schemeClr val="dk1"/>
              </a:solidFill>
              <a:latin typeface="Calibri"/>
              <a:ea typeface="Calibri"/>
              <a:cs typeface="Calibri"/>
              <a:sym typeface="Calibri"/>
            </a:endParaRPr>
          </a:p>
        </p:txBody>
      </p:sp>
      <p:sp>
        <p:nvSpPr>
          <p:cNvPr id="1366" name="Google Shape;1366;p7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100" u="none" cap="none" strike="noStrike">
              <a:solidFill>
                <a:schemeClr val="dk1"/>
              </a:solidFill>
              <a:latin typeface="Calibri"/>
              <a:ea typeface="Calibri"/>
              <a:cs typeface="Calibri"/>
              <a:sym typeface="Calibri"/>
            </a:endParaRPr>
          </a:p>
        </p:txBody>
      </p:sp>
      <p:sp>
        <p:nvSpPr>
          <p:cNvPr id="1367" name="Google Shape;1367;p7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1368" name="Google Shape;1368;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69" name="Google Shape;1369;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
        <p:nvSpPr>
          <p:cNvPr id="1370" name="TextBox 136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74" name="Shape 1374"/>
        <p:cNvGrpSpPr/>
        <p:nvPr/>
      </p:nvGrpSpPr>
      <p:grpSpPr>
        <a:xfrm>
          <a:off x="0" y="0"/>
          <a:ext cx="0" cy="0"/>
          <a:chOff x="0" y="0"/>
          <a:chExt cx="0" cy="0"/>
        </a:xfrm>
      </p:grpSpPr>
      <p:sp>
        <p:nvSpPr>
          <p:cNvPr id="1375" name="Google Shape;1375;p7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376" name="Google Shape;1376;p7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77" name="Google Shape;1377;p7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378" name="Google Shape;1378;p7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7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7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381" name="Google Shape;1381;p7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382" name="Google Shape;1382;p7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3" name="Google Shape;1383;p7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United States, which ended the war and emerged as a nuclear superpower, and Oak Ridge, Tennessee, transformed by the project.</a:t>
            </a:r>
            <a:endParaRPr b="0" i="0" sz="1200" u="none" cap="none" strike="noStrike">
              <a:solidFill>
                <a:schemeClr val="dk1"/>
              </a:solidFill>
              <a:latin typeface="Calibri"/>
              <a:ea typeface="Calibri"/>
              <a:cs typeface="Calibri"/>
              <a:sym typeface="Calibri"/>
            </a:endParaRPr>
          </a:p>
        </p:txBody>
      </p:sp>
      <p:sp>
        <p:nvSpPr>
          <p:cNvPr id="1384" name="Google Shape;1384;p7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7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7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87" name="Google Shape;1387;p7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88" name="Google Shape;1388;p7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9" name="Google Shape;1389;p7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thousands of Japanese civilians killed and injured at Hiroshima and Nagasaki, and survivors who suffered lasting effects.</a:t>
            </a:r>
            <a:endParaRPr b="0" i="0" sz="1200" u="none" cap="none" strike="noStrike">
              <a:solidFill>
                <a:schemeClr val="dk1"/>
              </a:solidFill>
              <a:latin typeface="Calibri"/>
              <a:ea typeface="Calibri"/>
              <a:cs typeface="Calibri"/>
              <a:sym typeface="Calibri"/>
            </a:endParaRPr>
          </a:p>
        </p:txBody>
      </p:sp>
      <p:sp>
        <p:nvSpPr>
          <p:cNvPr id="1390" name="Google Shape;1390;p7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7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7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93" name="Google Shape;1393;p7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394" name="Google Shape;1394;p7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95" name="Google Shape;1395;p7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Truman, who authorized the bombings, and the scientists and military leaders of the Manhattan Project who built the weapon.</a:t>
            </a:r>
            <a:endParaRPr b="0" i="0" sz="1200" u="none" cap="none" strike="noStrike">
              <a:solidFill>
                <a:schemeClr val="dk1"/>
              </a:solidFill>
              <a:latin typeface="Calibri"/>
              <a:ea typeface="Calibri"/>
              <a:cs typeface="Calibri"/>
              <a:sym typeface="Calibri"/>
            </a:endParaRPr>
          </a:p>
        </p:txBody>
      </p:sp>
      <p:sp>
        <p:nvSpPr>
          <p:cNvPr id="1396" name="Google Shape;1396;p7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Statement on the Atomic Bomb, President Harry S. Truman, August 6, 1945 (Harry S. Truman Presidential Library)</a:t>
            </a:r>
            <a:endParaRPr b="0" i="0" sz="1000" u="none" cap="none" strike="noStrike">
              <a:solidFill>
                <a:schemeClr val="dk1"/>
              </a:solidFill>
              <a:latin typeface="Calibri"/>
              <a:ea typeface="Calibri"/>
              <a:cs typeface="Calibri"/>
              <a:sym typeface="Calibri"/>
            </a:endParaRPr>
          </a:p>
        </p:txBody>
      </p:sp>
      <p:sp>
        <p:nvSpPr>
          <p:cNvPr id="1397" name="Google Shape;1397;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8" name="Google Shape;1398;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
        <p:nvSpPr>
          <p:cNvPr id="1399" name="TextBox 13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03" name="Shape 1403"/>
        <p:cNvGrpSpPr/>
        <p:nvPr/>
      </p:nvGrpSpPr>
      <p:grpSpPr>
        <a:xfrm>
          <a:off x="0" y="0"/>
          <a:ext cx="0" cy="0"/>
          <a:chOff x="0" y="0"/>
          <a:chExt cx="0" cy="0"/>
        </a:xfrm>
      </p:grpSpPr>
      <p:sp>
        <p:nvSpPr>
          <p:cNvPr id="1404" name="Google Shape;1404;p7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7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US.57</a:t>
            </a:r>
            <a:endParaRPr b="0" i="0" sz="6000" u="none" cap="none" strike="noStrike">
              <a:solidFill>
                <a:schemeClr val="dk1"/>
              </a:solidFill>
              <a:latin typeface="Calibri"/>
              <a:ea typeface="Calibri"/>
              <a:cs typeface="Calibri"/>
              <a:sym typeface="Calibri"/>
            </a:endParaRPr>
          </a:p>
        </p:txBody>
      </p:sp>
      <p:sp>
        <p:nvSpPr>
          <p:cNvPr id="1406" name="Google Shape;1406;p7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Yalta and Potsdam Conferences</a:t>
            </a:r>
            <a:endParaRPr b="0" i="0" sz="2600" u="none" cap="none" strike="noStrike">
              <a:solidFill>
                <a:schemeClr val="dk1"/>
              </a:solidFill>
              <a:latin typeface="Calibri"/>
              <a:ea typeface="Calibri"/>
              <a:cs typeface="Calibri"/>
              <a:sym typeface="Calibri"/>
            </a:endParaRPr>
          </a:p>
        </p:txBody>
      </p:sp>
      <p:sp>
        <p:nvSpPr>
          <p:cNvPr id="1407" name="Google Shape;1407;p7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408" name="Google Shape;1408;p7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US.57 – Explain the major outcomes of the Yalta and Potsdam Conferences.</a:t>
            </a:r>
            <a:endParaRPr b="0" i="0" sz="1600" u="none" cap="none" strike="noStrike">
              <a:solidFill>
                <a:schemeClr val="dk1"/>
              </a:solidFill>
              <a:latin typeface="Calibri"/>
              <a:ea typeface="Calibri"/>
              <a:cs typeface="Calibri"/>
              <a:sym typeface="Calibri"/>
            </a:endParaRPr>
          </a:p>
        </p:txBody>
      </p:sp>
      <p:sp>
        <p:nvSpPr>
          <p:cNvPr id="1409" name="Google Shape;1409;p7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7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411" name="Google Shape;1411;p7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major outcomes of the Yalta and Potsdam Conferences.</a:t>
            </a:r>
            <a:endParaRPr b="0" i="0" sz="1400" u="none" cap="none" strike="noStrike">
              <a:solidFill>
                <a:schemeClr val="dk1"/>
              </a:solidFill>
              <a:latin typeface="Calibri"/>
              <a:ea typeface="Calibri"/>
              <a:cs typeface="Calibri"/>
              <a:sym typeface="Calibri"/>
            </a:endParaRPr>
          </a:p>
        </p:txBody>
      </p:sp>
      <p:sp>
        <p:nvSpPr>
          <p:cNvPr id="1412" name="Google Shape;1412;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13" name="Google Shape;1413;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8" name="Shape 1418"/>
        <p:cNvGrpSpPr/>
        <p:nvPr/>
      </p:nvGrpSpPr>
      <p:grpSpPr>
        <a:xfrm>
          <a:off x="0" y="0"/>
          <a:ext cx="0" cy="0"/>
          <a:chOff x="0" y="0"/>
          <a:chExt cx="0" cy="0"/>
        </a:xfrm>
      </p:grpSpPr>
      <p:sp>
        <p:nvSpPr>
          <p:cNvPr id="1419" name="Google Shape;1419;p7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7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7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22" name="Google Shape;1422;p7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23" name="Google Shape;1423;p7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Yalta shaped the postwar world — in February 1945 Roosevelt, Churchill, and Stalin agreed to found the United Nations, divide occupied Germany, and hold “free elections” in liberated Europe as Allied victory neared.</a:t>
            </a:r>
            <a:endParaRPr b="0" i="0" sz="2300" u="none" cap="none" strike="noStrike">
              <a:solidFill>
                <a:schemeClr val="dk1"/>
              </a:solidFill>
              <a:latin typeface="Calibri"/>
              <a:ea typeface="Calibri"/>
              <a:cs typeface="Calibri"/>
              <a:sym typeface="Calibri"/>
            </a:endParaRPr>
          </a:p>
        </p:txBody>
      </p:sp>
      <p:pic>
        <p:nvPicPr>
          <p:cNvPr descr="hh-web/public/images/textbook/unit-6/yalta-conference-big-three-1945.jpg" id="1424" name="Google Shape;1424;p7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425" name="Google Shape;1425;p7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426" name="Google Shape;1426;p7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Yalta Conference (February 1945)</a:t>
            </a:r>
            <a:endParaRPr b="0" i="0" sz="1000" u="none" cap="none" strike="noStrike">
              <a:solidFill>
                <a:schemeClr val="dk1"/>
              </a:solidFill>
              <a:latin typeface="Calibri"/>
              <a:ea typeface="Calibri"/>
              <a:cs typeface="Calibri"/>
              <a:sym typeface="Calibri"/>
            </a:endParaRPr>
          </a:p>
        </p:txBody>
      </p:sp>
      <p:sp>
        <p:nvSpPr>
          <p:cNvPr id="1427" name="Google Shape;1427;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8" name="Google Shape;1428;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
        <p:nvSpPr>
          <p:cNvPr id="1429" name="TextBox 142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3" name="Shape 1433"/>
        <p:cNvGrpSpPr/>
        <p:nvPr/>
      </p:nvGrpSpPr>
      <p:grpSpPr>
        <a:xfrm>
          <a:off x="0" y="0"/>
          <a:ext cx="0" cy="0"/>
          <a:chOff x="0" y="0"/>
          <a:chExt cx="0" cy="0"/>
        </a:xfrm>
      </p:grpSpPr>
      <p:sp>
        <p:nvSpPr>
          <p:cNvPr id="1434" name="Google Shape;1434;p7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7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7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37" name="Google Shape;1437;p7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38" name="Google Shape;1438;p7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Potsdam exposed the widening Allied split — in mid-1945 Truman, Stalin, and Churchill (then Attlee) met after Germany’s surrender, but disputes over Eastern Europe and reparations revealed deepening distrust.</a:t>
            </a:r>
            <a:endParaRPr b="0" i="0" sz="2300" u="none" cap="none" strike="noStrike">
              <a:solidFill>
                <a:schemeClr val="dk1"/>
              </a:solidFill>
              <a:latin typeface="Calibri"/>
              <a:ea typeface="Calibri"/>
              <a:cs typeface="Calibri"/>
              <a:sym typeface="Calibri"/>
            </a:endParaRPr>
          </a:p>
        </p:txBody>
      </p:sp>
      <p:sp>
        <p:nvSpPr>
          <p:cNvPr id="1439" name="Google Shape;1439;p7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7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7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42" name="Google Shape;1442;p7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Potsdam exposed the widening Allied split — in mid-1945 Truman, Stalin, and Churchill (then Attlee) met after Germany’s surrender, but disputes over Eastern Europe and reparations revealed deepening distrust.</a:t>
            </a:r>
            <a:endParaRPr b="0" i="0" sz="2200" u="none" cap="none" strike="noStrike">
              <a:solidFill>
                <a:schemeClr val="dk1"/>
              </a:solidFill>
              <a:latin typeface="Calibri"/>
              <a:ea typeface="Calibri"/>
              <a:cs typeface="Calibri"/>
              <a:sym typeface="Calibri"/>
            </a:endParaRPr>
          </a:p>
        </p:txBody>
      </p:sp>
      <p:sp>
        <p:nvSpPr>
          <p:cNvPr id="1443" name="Google Shape;1443;p7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Potsdam Conference (July-August 1945)</a:t>
            </a:r>
            <a:endParaRPr b="0" i="0" sz="1000" u="none" cap="none" strike="noStrike">
              <a:solidFill>
                <a:schemeClr val="dk1"/>
              </a:solidFill>
              <a:latin typeface="Calibri"/>
              <a:ea typeface="Calibri"/>
              <a:cs typeface="Calibri"/>
              <a:sym typeface="Calibri"/>
            </a:endParaRPr>
          </a:p>
        </p:txBody>
      </p:sp>
      <p:sp>
        <p:nvSpPr>
          <p:cNvPr id="1444" name="Google Shape;1444;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5" name="Google Shape;1445;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
        <p:nvSpPr>
          <p:cNvPr id="1446" name="TextBox 144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0" name="Shape 1450"/>
        <p:cNvGrpSpPr/>
        <p:nvPr/>
      </p:nvGrpSpPr>
      <p:grpSpPr>
        <a:xfrm>
          <a:off x="0" y="0"/>
          <a:ext cx="0" cy="0"/>
          <a:chOff x="0" y="0"/>
          <a:chExt cx="0" cy="0"/>
        </a:xfrm>
      </p:grpSpPr>
      <p:sp>
        <p:nvSpPr>
          <p:cNvPr id="1451" name="Google Shape;1451;p7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conferences seeded the Cold War — Stalin’s version of “free elections” meant communist control, and irreconcilable disagreements over Eastern Europe turned wartime allies into postwar rivals.</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conferences seeded the Cold War — Stalin’s version of “free elections” meant communist control, and irreconcilable disagreements over Eastern Europe turned wartime allies into postwar rivals.</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Cold War Origins &amp; Allied Diplomacy</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
        <p:nvSpPr>
          <p:cNvPr id="1463" name="TextBox 146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67" name="Shape 1467"/>
        <p:cNvGrpSpPr/>
        <p:nvPr/>
      </p:nvGrpSpPr>
      <p:grpSpPr>
        <a:xfrm>
          <a:off x="0" y="0"/>
          <a:ext cx="0" cy="0"/>
          <a:chOff x="0" y="0"/>
          <a:chExt cx="0" cy="0"/>
        </a:xfrm>
      </p:grpSpPr>
      <p:sp>
        <p:nvSpPr>
          <p:cNvPr id="1468" name="Google Shape;1468;p7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7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7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471" name="Google Shape;1471;p7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72" name="Google Shape;1472;p7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Yalta Conference Communiqué — weigh who issued it and why before you read the agreements.</a:t>
            </a:r>
            <a:endParaRPr b="0" i="0" sz="2000" u="none" cap="none" strike="noStrike">
              <a:solidFill>
                <a:schemeClr val="dk1"/>
              </a:solidFill>
              <a:latin typeface="Calibri"/>
              <a:ea typeface="Calibri"/>
              <a:cs typeface="Calibri"/>
              <a:sym typeface="Calibri"/>
            </a:endParaRPr>
          </a:p>
        </p:txBody>
      </p:sp>
      <p:sp>
        <p:nvSpPr>
          <p:cNvPr id="1473" name="Google Shape;1473;p7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474" name="Google Shape;1474;p7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Roosevelt, Churchill, and Stalin</a:t>
            </a:r>
            <a:endParaRPr b="0" i="0" sz="1200" u="none" cap="none" strike="noStrike">
              <a:solidFill>
                <a:schemeClr val="dk1"/>
              </a:solidFill>
              <a:latin typeface="Calibri"/>
              <a:ea typeface="Calibri"/>
              <a:cs typeface="Calibri"/>
              <a:sym typeface="Calibri"/>
            </a:endParaRPr>
          </a:p>
        </p:txBody>
      </p:sp>
      <p:sp>
        <p:nvSpPr>
          <p:cNvPr id="1475" name="Google Shape;1475;p7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476" name="Google Shape;1476;p7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1945</a:t>
            </a:r>
            <a:endParaRPr b="0" i="0" sz="1200" u="none" cap="none" strike="noStrike">
              <a:solidFill>
                <a:schemeClr val="dk1"/>
              </a:solidFill>
              <a:latin typeface="Calibri"/>
              <a:ea typeface="Calibri"/>
              <a:cs typeface="Calibri"/>
              <a:sym typeface="Calibri"/>
            </a:endParaRPr>
          </a:p>
        </p:txBody>
      </p:sp>
      <p:sp>
        <p:nvSpPr>
          <p:cNvPr id="1477" name="Google Shape;1477;p7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478" name="Google Shape;1478;p7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479" name="Google Shape;1479;p7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7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Yalta Conference Communiqué</a:t>
            </a:r>
            <a:endParaRPr b="0" i="0" sz="1400" u="none" cap="none" strike="noStrike">
              <a:solidFill>
                <a:schemeClr val="dk1"/>
              </a:solidFill>
              <a:latin typeface="Calibri"/>
              <a:ea typeface="Calibri"/>
              <a:cs typeface="Calibri"/>
              <a:sym typeface="Calibri"/>
            </a:endParaRPr>
          </a:p>
        </p:txBody>
      </p:sp>
      <p:sp>
        <p:nvSpPr>
          <p:cNvPr id="1481" name="Google Shape;1481;p7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Roosevelt, Churchill, and Stalin · February 1945</a:t>
            </a:r>
            <a:endParaRPr b="0" i="0" sz="900" u="none" cap="none" strike="noStrike">
              <a:solidFill>
                <a:schemeClr val="dk1"/>
              </a:solidFill>
              <a:latin typeface="Calibri"/>
              <a:ea typeface="Calibri"/>
              <a:cs typeface="Calibri"/>
              <a:sym typeface="Calibri"/>
            </a:endParaRPr>
          </a:p>
        </p:txBody>
      </p:sp>
      <p:sp>
        <p:nvSpPr>
          <p:cNvPr id="1482" name="Google Shape;1482;p7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100" u="none" cap="none" strike="noStrike">
              <a:solidFill>
                <a:schemeClr val="dk1"/>
              </a:solidFill>
              <a:latin typeface="Calibri"/>
              <a:ea typeface="Calibri"/>
              <a:cs typeface="Calibri"/>
              <a:sym typeface="Calibri"/>
            </a:endParaRPr>
          </a:p>
        </p:txBody>
      </p:sp>
      <p:sp>
        <p:nvSpPr>
          <p:cNvPr id="1483" name="Google Shape;1483;p7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1484" name="Google Shape;1484;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
        <p:nvSpPr>
          <p:cNvPr id="1486" name="TextBox 148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90" name="Shape 1490"/>
        <p:cNvGrpSpPr/>
        <p:nvPr/>
      </p:nvGrpSpPr>
      <p:grpSpPr>
        <a:xfrm>
          <a:off x="0" y="0"/>
          <a:ext cx="0" cy="0"/>
          <a:chOff x="0" y="0"/>
          <a:chExt cx="0" cy="0"/>
        </a:xfrm>
      </p:grpSpPr>
      <p:sp>
        <p:nvSpPr>
          <p:cNvPr id="1491" name="Google Shape;1491;p7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492" name="Google Shape;1492;p7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93" name="Google Shape;1493;p7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494" name="Google Shape;1494;p7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497" name="Google Shape;1497;p7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498" name="Google Shape;1498;p7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499" name="Google Shape;1499;p7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Soviet Union, which secured influence over Eastern Europe, and the Allies who set up the UN and postwar occupation zones.</a:t>
            </a:r>
            <a:endParaRPr b="0" i="0" sz="1200" u="none" cap="none" strike="noStrike">
              <a:solidFill>
                <a:schemeClr val="dk1"/>
              </a:solidFill>
              <a:latin typeface="Calibri"/>
              <a:ea typeface="Calibri"/>
              <a:cs typeface="Calibri"/>
              <a:sym typeface="Calibri"/>
            </a:endParaRPr>
          </a:p>
        </p:txBody>
      </p:sp>
      <p:sp>
        <p:nvSpPr>
          <p:cNvPr id="1500" name="Google Shape;1500;p7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503" name="Google Shape;1503;p7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504" name="Google Shape;1504;p7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05" name="Google Shape;1505;p7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nations of Eastern Europe subjected to Soviet-backed communist governments despite promises of free elections.</a:t>
            </a:r>
            <a:endParaRPr b="0" i="0" sz="1200" u="none" cap="none" strike="noStrike">
              <a:solidFill>
                <a:schemeClr val="dk1"/>
              </a:solidFill>
              <a:latin typeface="Calibri"/>
              <a:ea typeface="Calibri"/>
              <a:cs typeface="Calibri"/>
              <a:sym typeface="Calibri"/>
            </a:endParaRPr>
          </a:p>
        </p:txBody>
      </p:sp>
      <p:sp>
        <p:nvSpPr>
          <p:cNvPr id="1506" name="Google Shape;1506;p7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509" name="Google Shape;1509;p7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510" name="Google Shape;1510;p7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11" name="Google Shape;1511;p7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“Big Three” — Roosevelt (later Truman), Churchill (later Attlee), and Stalin — who negotiated the postwar settlement.</a:t>
            </a:r>
            <a:endParaRPr b="0" i="0" sz="1200" u="none" cap="none" strike="noStrike">
              <a:solidFill>
                <a:schemeClr val="dk1"/>
              </a:solidFill>
              <a:latin typeface="Calibri"/>
              <a:ea typeface="Calibri"/>
              <a:cs typeface="Calibri"/>
              <a:sym typeface="Calibri"/>
            </a:endParaRPr>
          </a:p>
        </p:txBody>
      </p:sp>
      <p:sp>
        <p:nvSpPr>
          <p:cNvPr id="1512" name="Google Shape;1512;p7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Yalta Conference Communiqué, Roosevelt, Churchill, and Stalin, February 1945 (Avalon Project, Yale Law School)</a:t>
            </a:r>
            <a:endParaRPr b="0" i="0" sz="1000" u="none" cap="none" strike="noStrike">
              <a:solidFill>
                <a:schemeClr val="dk1"/>
              </a:solidFill>
              <a:latin typeface="Calibri"/>
              <a:ea typeface="Calibri"/>
              <a:cs typeface="Calibri"/>
              <a:sym typeface="Calibri"/>
            </a:endParaRPr>
          </a:p>
        </p:txBody>
      </p:sp>
      <p:sp>
        <p:nvSpPr>
          <p:cNvPr id="1513" name="Google Shape;1513;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14" name="Google Shape;1514;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
        <p:nvSpPr>
          <p:cNvPr id="1515" name="TextBox 15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19" name="Shape 1519"/>
        <p:cNvGrpSpPr/>
        <p:nvPr/>
      </p:nvGrpSpPr>
      <p:grpSpPr>
        <a:xfrm>
          <a:off x="0" y="0"/>
          <a:ext cx="0" cy="0"/>
          <a:chOff x="0" y="0"/>
          <a:chExt cx="0" cy="0"/>
        </a:xfrm>
      </p:grpSpPr>
      <p:sp>
        <p:nvSpPr>
          <p:cNvPr id="1520" name="Google Shape;1520;p7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US.58</a:t>
            </a:r>
            <a:endParaRPr b="0" i="0" sz="6000" u="none" cap="none" strike="noStrike">
              <a:solidFill>
                <a:schemeClr val="dk1"/>
              </a:solidFill>
              <a:latin typeface="Calibri"/>
              <a:ea typeface="Calibri"/>
              <a:cs typeface="Calibri"/>
              <a:sym typeface="Calibri"/>
            </a:endParaRPr>
          </a:p>
        </p:txBody>
      </p:sp>
      <p:sp>
        <p:nvSpPr>
          <p:cNvPr id="1522" name="Google Shape;1522;p7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Founding of the United Nations &amp; Cordell Hull</a:t>
            </a:r>
            <a:endParaRPr b="0" i="0" sz="2600" u="none" cap="none" strike="noStrike">
              <a:solidFill>
                <a:schemeClr val="dk1"/>
              </a:solidFill>
              <a:latin typeface="Calibri"/>
              <a:ea typeface="Calibri"/>
              <a:cs typeface="Calibri"/>
              <a:sym typeface="Calibri"/>
            </a:endParaRPr>
          </a:p>
        </p:txBody>
      </p:sp>
      <p:sp>
        <p:nvSpPr>
          <p:cNvPr id="1523" name="Google Shape;1523;p7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524" name="Google Shape;1524;p7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US.58 – Identify and explain the reasons for the founding of the United Nations, including the role of Cordell Hull.</a:t>
            </a:r>
            <a:endParaRPr b="0" i="0" sz="1600" u="none" cap="none" strike="noStrike">
              <a:solidFill>
                <a:schemeClr val="dk1"/>
              </a:solidFill>
              <a:latin typeface="Calibri"/>
              <a:ea typeface="Calibri"/>
              <a:cs typeface="Calibri"/>
              <a:sym typeface="Calibri"/>
            </a:endParaRPr>
          </a:p>
        </p:txBody>
      </p:sp>
      <p:sp>
        <p:nvSpPr>
          <p:cNvPr id="1525" name="Google Shape;1525;p7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527" name="Google Shape;1527;p7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400" u="none" cap="none" strike="noStrike">
              <a:solidFill>
                <a:schemeClr val="dk1"/>
              </a:solidFill>
              <a:latin typeface="Calibri"/>
              <a:ea typeface="Calibri"/>
              <a:cs typeface="Calibri"/>
              <a:sym typeface="Calibri"/>
            </a:endParaRPr>
          </a:p>
        </p:txBody>
      </p:sp>
      <p:sp>
        <p:nvSpPr>
          <p:cNvPr id="1528" name="Google Shape;1528;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9" name="Google Shape;1529;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34" name="Shape 1534"/>
        <p:cNvGrpSpPr/>
        <p:nvPr/>
      </p:nvGrpSpPr>
      <p:grpSpPr>
        <a:xfrm>
          <a:off x="0" y="0"/>
          <a:ext cx="0" cy="0"/>
          <a:chOff x="0" y="0"/>
          <a:chExt cx="0" cy="0"/>
        </a:xfrm>
      </p:grpSpPr>
      <p:sp>
        <p:nvSpPr>
          <p:cNvPr id="1535" name="Google Shape;1535;p8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8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38" name="Google Shape;1538;p8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39" name="Google Shape;1539;p8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League’s failure taught hard lessons — the League of Nations collapsed because the U.S. never joined, it lacked enforcement power, and major powers ignored aggression — failures the UN was designed to avoid.</a:t>
            </a:r>
            <a:endParaRPr b="0" i="0" sz="2300" u="none" cap="none" strike="noStrike">
              <a:solidFill>
                <a:schemeClr val="dk1"/>
              </a:solidFill>
              <a:latin typeface="Calibri"/>
              <a:ea typeface="Calibri"/>
              <a:cs typeface="Calibri"/>
              <a:sym typeface="Calibri"/>
            </a:endParaRPr>
          </a:p>
        </p:txBody>
      </p:sp>
      <p:sp>
        <p:nvSpPr>
          <p:cNvPr id="1540" name="Google Shape;1540;p8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8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43" name="Google Shape;1543;p8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League’s failure taught hard lessons — the League of Nations collapsed because the U.S. never joined, it lacked enforcement power, and major powers ignored aggression — failures the UN was designed to avoid.</a:t>
            </a:r>
            <a:endParaRPr b="0" i="0" sz="2200" u="none" cap="none" strike="noStrike">
              <a:solidFill>
                <a:schemeClr val="dk1"/>
              </a:solidFill>
              <a:latin typeface="Calibri"/>
              <a:ea typeface="Calibri"/>
              <a:cs typeface="Calibri"/>
              <a:sym typeface="Calibri"/>
            </a:endParaRPr>
          </a:p>
        </p:txBody>
      </p:sp>
      <p:sp>
        <p:nvSpPr>
          <p:cNvPr id="1544" name="Google Shape;1544;p8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Lessons from the League of Nations</a:t>
            </a:r>
            <a:endParaRPr b="0" i="0" sz="1000" u="none" cap="none" strike="noStrike">
              <a:solidFill>
                <a:schemeClr val="dk1"/>
              </a:solidFill>
              <a:latin typeface="Calibri"/>
              <a:ea typeface="Calibri"/>
              <a:cs typeface="Calibri"/>
              <a:sym typeface="Calibri"/>
            </a:endParaRPr>
          </a:p>
        </p:txBody>
      </p:sp>
      <p:sp>
        <p:nvSpPr>
          <p:cNvPr id="1545" name="Google Shape;1545;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6" name="Google Shape;1546;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
        <p:nvSpPr>
          <p:cNvPr id="1547" name="TextBox 154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51" name="Shape 1551"/>
        <p:cNvGrpSpPr/>
        <p:nvPr/>
      </p:nvGrpSpPr>
      <p:grpSpPr>
        <a:xfrm>
          <a:off x="0" y="0"/>
          <a:ext cx="0" cy="0"/>
          <a:chOff x="0" y="0"/>
          <a:chExt cx="0" cy="0"/>
        </a:xfrm>
      </p:grpSpPr>
      <p:sp>
        <p:nvSpPr>
          <p:cNvPr id="1552" name="Google Shape;1552;p8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Cordell Hull, a Tennessean, was “Father of the UN” — FDR’s long-serving Secretary of State was so central to planning the postwar peace organization that he won the 1945 Nobel Peace Prize for the effort.</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Cordell Hull, a Tennessean, was “Father of the UN” — FDR’s long-serving Secretary of State was so central to planning the postwar peace organization that he won the 1945 Nobel Peace Prize for the effort.</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Cordell Hull’s Role (TN)</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
        <p:nvSpPr>
          <p:cNvPr id="1564" name="TextBox 156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8" name="Shape 1568"/>
        <p:cNvGrpSpPr/>
        <p:nvPr/>
      </p:nvGrpSpPr>
      <p:grpSpPr>
        <a:xfrm>
          <a:off x="0" y="0"/>
          <a:ext cx="0" cy="0"/>
          <a:chOff x="0" y="0"/>
          <a:chExt cx="0" cy="0"/>
        </a:xfrm>
      </p:grpSpPr>
      <p:sp>
        <p:nvSpPr>
          <p:cNvPr id="1569" name="Google Shape;1569;p8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8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72" name="Google Shape;1572;p8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73" name="Google Shape;1573;p8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UN secured what the League could not — founded in 1945 to maintain peace through collective security, the UN gained U.S. membership and has endured, though its power is limited by great-power vetoes.</a:t>
            </a:r>
            <a:endParaRPr b="0" i="0" sz="2300" u="none" cap="none" strike="noStrike">
              <a:solidFill>
                <a:schemeClr val="dk1"/>
              </a:solidFill>
              <a:latin typeface="Calibri"/>
              <a:ea typeface="Calibri"/>
              <a:cs typeface="Calibri"/>
              <a:sym typeface="Calibri"/>
            </a:endParaRPr>
          </a:p>
        </p:txBody>
      </p:sp>
      <p:pic>
        <p:nvPicPr>
          <p:cNvPr descr="hh-web/public/images/textbook/unit-6/declaration-by-united-nations-1942.jpg" id="1574" name="Google Shape;1574;p8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75" name="Google Shape;1575;p8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76" name="Google Shape;1576;p8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UN Goals, Structure &amp; Legacy</a:t>
            </a:r>
            <a:endParaRPr b="0" i="0" sz="1000" u="none" cap="none" strike="noStrike">
              <a:solidFill>
                <a:schemeClr val="dk1"/>
              </a:solidFill>
              <a:latin typeface="Calibri"/>
              <a:ea typeface="Calibri"/>
              <a:cs typeface="Calibri"/>
              <a:sym typeface="Calibri"/>
            </a:endParaRPr>
          </a:p>
        </p:txBody>
      </p:sp>
      <p:sp>
        <p:nvSpPr>
          <p:cNvPr id="1577" name="Google Shape;1577;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78" name="Google Shape;1578;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
        <p:nvSpPr>
          <p:cNvPr id="1579" name="TextBox 157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83" name="Shape 1583"/>
        <p:cNvGrpSpPr/>
        <p:nvPr/>
      </p:nvGrpSpPr>
      <p:grpSpPr>
        <a:xfrm>
          <a:off x="0" y="0"/>
          <a:ext cx="0" cy="0"/>
          <a:chOff x="0" y="0"/>
          <a:chExt cx="0" cy="0"/>
        </a:xfrm>
      </p:grpSpPr>
      <p:sp>
        <p:nvSpPr>
          <p:cNvPr id="1584" name="Google Shape;1584;p8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587" name="Google Shape;1587;p8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88" name="Google Shape;1588;p8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United Nations Charter Preamble — identify who wrote it and why before you analyze its aims.</a:t>
            </a:r>
            <a:endParaRPr b="0" i="0" sz="2000" u="none" cap="none" strike="noStrike">
              <a:solidFill>
                <a:schemeClr val="dk1"/>
              </a:solidFill>
              <a:latin typeface="Calibri"/>
              <a:ea typeface="Calibri"/>
              <a:cs typeface="Calibri"/>
              <a:sym typeface="Calibri"/>
            </a:endParaRPr>
          </a:p>
        </p:txBody>
      </p:sp>
      <p:sp>
        <p:nvSpPr>
          <p:cNvPr id="1589" name="Google Shape;1589;p8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590" name="Google Shape;1590;p8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United Nations</a:t>
            </a:r>
            <a:endParaRPr b="0" i="0" sz="1200" u="none" cap="none" strike="noStrike">
              <a:solidFill>
                <a:schemeClr val="dk1"/>
              </a:solidFill>
              <a:latin typeface="Calibri"/>
              <a:ea typeface="Calibri"/>
              <a:cs typeface="Calibri"/>
              <a:sym typeface="Calibri"/>
            </a:endParaRPr>
          </a:p>
        </p:txBody>
      </p:sp>
      <p:sp>
        <p:nvSpPr>
          <p:cNvPr id="1591" name="Google Shape;1591;p8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592" name="Google Shape;1592;p8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26, 1945</a:t>
            </a:r>
            <a:endParaRPr b="0" i="0" sz="1200" u="none" cap="none" strike="noStrike">
              <a:solidFill>
                <a:schemeClr val="dk1"/>
              </a:solidFill>
              <a:latin typeface="Calibri"/>
              <a:ea typeface="Calibri"/>
              <a:cs typeface="Calibri"/>
              <a:sym typeface="Calibri"/>
            </a:endParaRPr>
          </a:p>
        </p:txBody>
      </p:sp>
      <p:sp>
        <p:nvSpPr>
          <p:cNvPr id="1593" name="Google Shape;1593;p8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594" name="Google Shape;1594;p8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595" name="Google Shape;1595;p8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8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United Nations Charter Preamble</a:t>
            </a:r>
            <a:endParaRPr b="0" i="0" sz="1400" u="none" cap="none" strike="noStrike">
              <a:solidFill>
                <a:schemeClr val="dk1"/>
              </a:solidFill>
              <a:latin typeface="Calibri"/>
              <a:ea typeface="Calibri"/>
              <a:cs typeface="Calibri"/>
              <a:sym typeface="Calibri"/>
            </a:endParaRPr>
          </a:p>
        </p:txBody>
      </p:sp>
      <p:sp>
        <p:nvSpPr>
          <p:cNvPr id="1597" name="Google Shape;1597;p8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United Nations · June 26, 1945</a:t>
            </a:r>
            <a:endParaRPr b="0" i="0" sz="900" u="none" cap="none" strike="noStrike">
              <a:solidFill>
                <a:schemeClr val="dk1"/>
              </a:solidFill>
              <a:latin typeface="Calibri"/>
              <a:ea typeface="Calibri"/>
              <a:cs typeface="Calibri"/>
              <a:sym typeface="Calibri"/>
            </a:endParaRPr>
          </a:p>
        </p:txBody>
      </p:sp>
      <p:sp>
        <p:nvSpPr>
          <p:cNvPr id="1598" name="Google Shape;1598;p8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100" u="none" cap="none" strike="noStrike">
              <a:solidFill>
                <a:schemeClr val="dk1"/>
              </a:solidFill>
              <a:latin typeface="Calibri"/>
              <a:ea typeface="Calibri"/>
              <a:cs typeface="Calibri"/>
              <a:sym typeface="Calibri"/>
            </a:endParaRPr>
          </a:p>
        </p:txBody>
      </p:sp>
      <p:sp>
        <p:nvSpPr>
          <p:cNvPr id="1599" name="Google Shape;1599;p8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1600" name="Google Shape;1600;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01" name="Google Shape;1601;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
        <p:nvSpPr>
          <p:cNvPr id="1602" name="TextBox 160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606" name="Shape 1606"/>
        <p:cNvGrpSpPr/>
        <p:nvPr/>
      </p:nvGrpSpPr>
      <p:grpSpPr>
        <a:xfrm>
          <a:off x="0" y="0"/>
          <a:ext cx="0" cy="0"/>
          <a:chOff x="0" y="0"/>
          <a:chExt cx="0" cy="0"/>
        </a:xfrm>
      </p:grpSpPr>
      <p:sp>
        <p:nvSpPr>
          <p:cNvPr id="1607" name="Google Shape;1607;p8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608" name="Google Shape;1608;p8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609" name="Google Shape;1609;p8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610" name="Google Shape;1610;p8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8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8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613" name="Google Shape;1613;p8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614" name="Google Shape;1614;p8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15" name="Google Shape;1615;p8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postwar world order and the U.S., now a leading member of a permanent peace organization, and Cordell Hull, honored with the Nobel Peace Prize.</a:t>
            </a:r>
            <a:endParaRPr b="0" i="0" sz="1200" u="none" cap="none" strike="noStrike">
              <a:solidFill>
                <a:schemeClr val="dk1"/>
              </a:solidFill>
              <a:latin typeface="Calibri"/>
              <a:ea typeface="Calibri"/>
              <a:cs typeface="Calibri"/>
              <a:sym typeface="Calibri"/>
            </a:endParaRPr>
          </a:p>
        </p:txBody>
      </p:sp>
      <p:sp>
        <p:nvSpPr>
          <p:cNvPr id="1616" name="Google Shape;1616;p8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8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8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619" name="Google Shape;1619;p8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620" name="Google Shape;1620;p8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1" name="Google Shape;1621;p8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Smaller nations whose interests could be overridden by great-power vetoes in the Security Council.</a:t>
            </a:r>
            <a:endParaRPr b="0" i="0" sz="1200" u="none" cap="none" strike="noStrike">
              <a:solidFill>
                <a:schemeClr val="dk1"/>
              </a:solidFill>
              <a:latin typeface="Calibri"/>
              <a:ea typeface="Calibri"/>
              <a:cs typeface="Calibri"/>
              <a:sym typeface="Calibri"/>
            </a:endParaRPr>
          </a:p>
        </p:txBody>
      </p:sp>
      <p:sp>
        <p:nvSpPr>
          <p:cNvPr id="1622" name="Google Shape;1622;p8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8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8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625" name="Google Shape;1625;p8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626" name="Google Shape;1626;p8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7" name="Google Shape;1627;p8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founding Allied powers and diplomats like Cordell Hull who designed the UN, and the U.S. Senate, which this time approved membership.</a:t>
            </a:r>
            <a:endParaRPr b="0" i="0" sz="1200" u="none" cap="none" strike="noStrike">
              <a:solidFill>
                <a:schemeClr val="dk1"/>
              </a:solidFill>
              <a:latin typeface="Calibri"/>
              <a:ea typeface="Calibri"/>
              <a:cs typeface="Calibri"/>
              <a:sym typeface="Calibri"/>
            </a:endParaRPr>
          </a:p>
        </p:txBody>
      </p:sp>
      <p:sp>
        <p:nvSpPr>
          <p:cNvPr id="1628" name="Google Shape;1628;p8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United Nations Charter Preamble, United Nations, June 26, 1945 (United Nations)</a:t>
            </a:r>
            <a:endParaRPr b="0" i="0" sz="1000" u="none" cap="none" strike="noStrike">
              <a:solidFill>
                <a:schemeClr val="dk1"/>
              </a:solidFill>
              <a:latin typeface="Calibri"/>
              <a:ea typeface="Calibri"/>
              <a:cs typeface="Calibri"/>
              <a:sym typeface="Calibri"/>
            </a:endParaRPr>
          </a:p>
        </p:txBody>
      </p:sp>
      <p:sp>
        <p:nvSpPr>
          <p:cNvPr id="1629" name="Google Shape;1629;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0" name="Google Shape;1630;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
        <p:nvSpPr>
          <p:cNvPr id="1631" name="TextBox 16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2026-07-02T17:08:33Z</dcterms:created>
  <dc:creator>TroopToTeacher Technologies LLC</dc:creator>
</cp:coreProperties>
</file>
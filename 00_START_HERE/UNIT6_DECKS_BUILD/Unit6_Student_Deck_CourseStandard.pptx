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40" r:id="rId90"/>
    <p:sldId id="256" r:id="rId5"/>
    <p:sldId id="341" r:id="rId91"/>
    <p:sldId id="369" r:id="rId119"/>
    <p:sldId id="370" r:id="rId120"/>
    <p:sldId id="258" r:id="rId7"/>
    <p:sldId id="259" r:id="rId8"/>
    <p:sldId id="260" r:id="rId9"/>
    <p:sldId id="261" r:id="rId10"/>
    <p:sldId id="355" r:id="rId105"/>
    <p:sldId id="262" r:id="rId11"/>
    <p:sldId id="342" r:id="rId92"/>
    <p:sldId id="263" r:id="rId12"/>
    <p:sldId id="371" r:id="rId121"/>
    <p:sldId id="264" r:id="rId13"/>
    <p:sldId id="265" r:id="rId14"/>
    <p:sldId id="266" r:id="rId15"/>
    <p:sldId id="267" r:id="rId16"/>
    <p:sldId id="356" r:id="rId106"/>
    <p:sldId id="268" r:id="rId17"/>
    <p:sldId id="343" r:id="rId93"/>
    <p:sldId id="269" r:id="rId18"/>
    <p:sldId id="270" r:id="rId19"/>
    <p:sldId id="271" r:id="rId20"/>
    <p:sldId id="372" r:id="rId122"/>
    <p:sldId id="272" r:id="rId21"/>
    <p:sldId id="273" r:id="rId22"/>
    <p:sldId id="357" r:id="rId107"/>
    <p:sldId id="274" r:id="rId23"/>
    <p:sldId id="344" r:id="rId94"/>
    <p:sldId id="275" r:id="rId24"/>
    <p:sldId id="276" r:id="rId25"/>
    <p:sldId id="277" r:id="rId26"/>
    <p:sldId id="373" r:id="rId123"/>
    <p:sldId id="278" r:id="rId27"/>
    <p:sldId id="279" r:id="rId28"/>
    <p:sldId id="358" r:id="rId108"/>
    <p:sldId id="280" r:id="rId29"/>
    <p:sldId id="345" r:id="rId95"/>
    <p:sldId id="281" r:id="rId30"/>
    <p:sldId id="282" r:id="rId31"/>
    <p:sldId id="283" r:id="rId32"/>
    <p:sldId id="374" r:id="rId124"/>
    <p:sldId id="284" r:id="rId33"/>
    <p:sldId id="285" r:id="rId34"/>
    <p:sldId id="359" r:id="rId109"/>
    <p:sldId id="286" r:id="rId35"/>
    <p:sldId id="346" r:id="rId96"/>
    <p:sldId id="287" r:id="rId36"/>
    <p:sldId id="288" r:id="rId37"/>
    <p:sldId id="375" r:id="rId125"/>
    <p:sldId id="289" r:id="rId38"/>
    <p:sldId id="290" r:id="rId39"/>
    <p:sldId id="291" r:id="rId40"/>
    <p:sldId id="360" r:id="rId110"/>
    <p:sldId id="292" r:id="rId41"/>
    <p:sldId id="347" r:id="rId97"/>
    <p:sldId id="293" r:id="rId42"/>
    <p:sldId id="376" r:id="rId126"/>
    <p:sldId id="294" r:id="rId43"/>
    <p:sldId id="295" r:id="rId44"/>
    <p:sldId id="377" r:id="rId127"/>
    <p:sldId id="296" r:id="rId45"/>
    <p:sldId id="297" r:id="rId46"/>
    <p:sldId id="361" r:id="rId111"/>
    <p:sldId id="298" r:id="rId47"/>
    <p:sldId id="348" r:id="rId98"/>
    <p:sldId id="299" r:id="rId48"/>
    <p:sldId id="300" r:id="rId49"/>
    <p:sldId id="378" r:id="rId128"/>
    <p:sldId id="301" r:id="rId50"/>
    <p:sldId id="302" r:id="rId51"/>
    <p:sldId id="303" r:id="rId52"/>
    <p:sldId id="362" r:id="rId112"/>
    <p:sldId id="304" r:id="rId53"/>
    <p:sldId id="349" r:id="rId99"/>
    <p:sldId id="305" r:id="rId54"/>
    <p:sldId id="306" r:id="rId55"/>
    <p:sldId id="307" r:id="rId56"/>
    <p:sldId id="379" r:id="rId129"/>
    <p:sldId id="308" r:id="rId57"/>
    <p:sldId id="309" r:id="rId58"/>
    <p:sldId id="363" r:id="rId113"/>
    <p:sldId id="310" r:id="rId59"/>
    <p:sldId id="350" r:id="rId100"/>
    <p:sldId id="311" r:id="rId60"/>
    <p:sldId id="312" r:id="rId61"/>
    <p:sldId id="313" r:id="rId62"/>
    <p:sldId id="380" r:id="rId130"/>
    <p:sldId id="314" r:id="rId63"/>
    <p:sldId id="315" r:id="rId64"/>
    <p:sldId id="364" r:id="rId114"/>
    <p:sldId id="316" r:id="rId65"/>
    <p:sldId id="351" r:id="rId101"/>
    <p:sldId id="317" r:id="rId66"/>
    <p:sldId id="318" r:id="rId67"/>
    <p:sldId id="319" r:id="rId68"/>
    <p:sldId id="381" r:id="rId131"/>
    <p:sldId id="320" r:id="rId69"/>
    <p:sldId id="321" r:id="rId70"/>
    <p:sldId id="365" r:id="rId115"/>
    <p:sldId id="322" r:id="rId71"/>
    <p:sldId id="352" r:id="rId102"/>
    <p:sldId id="323" r:id="rId72"/>
    <p:sldId id="324" r:id="rId73"/>
    <p:sldId id="325" r:id="rId74"/>
    <p:sldId id="382" r:id="rId132"/>
    <p:sldId id="326" r:id="rId75"/>
    <p:sldId id="327" r:id="rId76"/>
    <p:sldId id="366" r:id="rId116"/>
    <p:sldId id="328" r:id="rId77"/>
    <p:sldId id="353" r:id="rId103"/>
    <p:sldId id="329" r:id="rId78"/>
    <p:sldId id="330" r:id="rId79"/>
    <p:sldId id="331" r:id="rId80"/>
    <p:sldId id="383" r:id="rId133"/>
    <p:sldId id="332" r:id="rId81"/>
    <p:sldId id="333" r:id="rId82"/>
    <p:sldId id="367" r:id="rId117"/>
    <p:sldId id="334" r:id="rId83"/>
    <p:sldId id="354" r:id="rId104"/>
    <p:sldId id="335" r:id="rId84"/>
    <p:sldId id="336" r:id="rId85"/>
    <p:sldId id="337" r:id="rId86"/>
    <p:sldId id="384" r:id="rId134"/>
    <p:sldId id="338" r:id="rId87"/>
    <p:sldId id="339" r:id="rId88"/>
    <p:sldId id="368" r:id="rId118"/>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9" roundtripDataSignature="AMtx7mhq6xuQsAld53z1LCShz4YH34b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2.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2.xml"/><Relationship Id="rId36" Type="http://schemas.openxmlformats.org/officeDocument/2006/relationships/slide" Target="slides/slide43.xml"/><Relationship Id="rId37" Type="http://schemas.openxmlformats.org/officeDocument/2006/relationships/slide" Target="slides/slide44.xml"/><Relationship Id="rId38" Type="http://schemas.openxmlformats.org/officeDocument/2006/relationships/slide" Target="slides/slide45.xml"/><Relationship Id="rId39" Type="http://schemas.openxmlformats.org/officeDocument/2006/relationships/slide" Target="slides/slide46.xml"/><Relationship Id="rId40" Type="http://schemas.openxmlformats.org/officeDocument/2006/relationships/slide" Target="slides/slide47.xml"/><Relationship Id="rId41" Type="http://schemas.openxmlformats.org/officeDocument/2006/relationships/slide" Target="slides/slide50.xml"/><Relationship Id="rId42" Type="http://schemas.openxmlformats.org/officeDocument/2006/relationships/slide" Target="slides/slide51.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5.xml"/><Relationship Id="rId47" Type="http://schemas.openxmlformats.org/officeDocument/2006/relationships/slide" Target="slides/slide58.xml"/><Relationship Id="rId48" Type="http://schemas.openxmlformats.org/officeDocument/2006/relationships/slide" Target="slides/slide59.xml"/><Relationship Id="rId49" Type="http://schemas.openxmlformats.org/officeDocument/2006/relationships/slide" Target="slides/slide60.xml"/><Relationship Id="rId50" Type="http://schemas.openxmlformats.org/officeDocument/2006/relationships/slide" Target="slides/slide61.xml"/><Relationship Id="rId51" Type="http://schemas.openxmlformats.org/officeDocument/2006/relationships/slide" Target="slides/slide62.xml"/><Relationship Id="rId52" Type="http://schemas.openxmlformats.org/officeDocument/2006/relationships/slide" Target="slides/slide63.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0.xml"/><Relationship Id="rId58" Type="http://schemas.openxmlformats.org/officeDocument/2006/relationships/slide" Target="slides/slide71.xml"/><Relationship Id="rId59" Type="http://schemas.openxmlformats.org/officeDocument/2006/relationships/slide" Target="slides/slide74.xml"/><Relationship Id="rId60" Type="http://schemas.openxmlformats.org/officeDocument/2006/relationships/slide" Target="slides/slide75.xml"/><Relationship Id="rId61" Type="http://schemas.openxmlformats.org/officeDocument/2006/relationships/slide" Target="slides/slide76.xml"/><Relationship Id="rId62" Type="http://schemas.openxmlformats.org/officeDocument/2006/relationships/slide" Target="slides/slide77.xml"/><Relationship Id="rId63" Type="http://schemas.openxmlformats.org/officeDocument/2006/relationships/slide" Target="slides/slide78.xml"/><Relationship Id="rId64" Type="http://schemas.openxmlformats.org/officeDocument/2006/relationships/slide" Target="slides/slide79.xml"/><Relationship Id="rId65" Type="http://schemas.openxmlformats.org/officeDocument/2006/relationships/slide" Target="slides/slide82.xml"/><Relationship Id="rId66" Type="http://schemas.openxmlformats.org/officeDocument/2006/relationships/slide" Target="slides/slide83.xml"/><Relationship Id="rId67" Type="http://schemas.openxmlformats.org/officeDocument/2006/relationships/slide" Target="slides/slide84.xml"/><Relationship Id="rId68" Type="http://schemas.openxmlformats.org/officeDocument/2006/relationships/slide" Target="slides/slide85.xml"/><Relationship Id="rId69" Type="http://schemas.openxmlformats.org/officeDocument/2006/relationships/slide" Target="slides/slide86.xml"/><Relationship Id="rId70" Type="http://schemas.openxmlformats.org/officeDocument/2006/relationships/slide" Target="slides/slide87.xml"/><Relationship Id="rId71" Type="http://schemas.openxmlformats.org/officeDocument/2006/relationships/slide" Target="slides/slide90.xml"/><Relationship Id="rId72" Type="http://schemas.openxmlformats.org/officeDocument/2006/relationships/slide" Target="slides/slide91.xml"/><Relationship Id="rId73" Type="http://schemas.openxmlformats.org/officeDocument/2006/relationships/slide" Target="slides/slide92.xml"/><Relationship Id="rId74" Type="http://schemas.openxmlformats.org/officeDocument/2006/relationships/slide" Target="slides/slide93.xml"/><Relationship Id="rId75" Type="http://schemas.openxmlformats.org/officeDocument/2006/relationships/slide" Target="slides/slide94.xml"/><Relationship Id="rId76" Type="http://schemas.openxmlformats.org/officeDocument/2006/relationships/slide" Target="slides/slide95.xml"/><Relationship Id="rId77" Type="http://schemas.openxmlformats.org/officeDocument/2006/relationships/slide" Target="slides/slide98.xml"/><Relationship Id="rId78" Type="http://schemas.openxmlformats.org/officeDocument/2006/relationships/slide" Target="slides/slide99.xml"/><Relationship Id="rId79" Type="http://schemas.openxmlformats.org/officeDocument/2006/relationships/slide" Target="slides/slide100.xml"/><Relationship Id="rId80" Type="http://schemas.openxmlformats.org/officeDocument/2006/relationships/slide" Target="slides/slide101.xml"/><Relationship Id="rId81" Type="http://schemas.openxmlformats.org/officeDocument/2006/relationships/slide" Target="slides/slide102.xml"/><Relationship Id="rId82" Type="http://schemas.openxmlformats.org/officeDocument/2006/relationships/slide" Target="slides/slide103.xml"/><Relationship Id="rId83" Type="http://schemas.openxmlformats.org/officeDocument/2006/relationships/slide" Target="slides/slide106.xml"/><Relationship Id="rId84" Type="http://schemas.openxmlformats.org/officeDocument/2006/relationships/slide" Target="slides/slide107.xml"/><Relationship Id="rId85" Type="http://schemas.openxmlformats.org/officeDocument/2006/relationships/slide" Target="slides/slide108.xml"/><Relationship Id="rId86" Type="http://schemas.openxmlformats.org/officeDocument/2006/relationships/slide" Target="slides/slide109.xml"/><Relationship Id="rId87" Type="http://schemas.openxmlformats.org/officeDocument/2006/relationships/slide" Target="slides/slide110.xml"/><Relationship Id="rId88" Type="http://schemas.openxmlformats.org/officeDocument/2006/relationships/slide" Target="slides/slide111.xml"/><Relationship Id="rId89" Type="http://customschemas.google.com/relationships/presentationmetadata" Target="metadata"/><Relationship Id="rId90" Type="http://schemas.openxmlformats.org/officeDocument/2006/relationships/slide" Target="slides/slide1.xml"/><Relationship Id="rId91" Type="http://schemas.openxmlformats.org/officeDocument/2006/relationships/slide" Target="slides/slide8.xml"/><Relationship Id="rId92" Type="http://schemas.openxmlformats.org/officeDocument/2006/relationships/slide" Target="slides/slide16.xml"/><Relationship Id="rId93" Type="http://schemas.openxmlformats.org/officeDocument/2006/relationships/slide" Target="slides/slide24.xml"/><Relationship Id="rId94" Type="http://schemas.openxmlformats.org/officeDocument/2006/relationships/slide" Target="slides/slide32.xml"/><Relationship Id="rId95" Type="http://schemas.openxmlformats.org/officeDocument/2006/relationships/slide" Target="slides/slide40.xml"/><Relationship Id="rId96" Type="http://schemas.openxmlformats.org/officeDocument/2006/relationships/slide" Target="slides/slide48.xml"/><Relationship Id="rId97" Type="http://schemas.openxmlformats.org/officeDocument/2006/relationships/slide" Target="slides/slide56.xml"/><Relationship Id="rId98" Type="http://schemas.openxmlformats.org/officeDocument/2006/relationships/slide" Target="slides/slide64.xml"/><Relationship Id="rId99" Type="http://schemas.openxmlformats.org/officeDocument/2006/relationships/slide" Target="slides/slide72.xml"/><Relationship Id="rId100" Type="http://schemas.openxmlformats.org/officeDocument/2006/relationships/slide" Target="slides/slide80.xml"/><Relationship Id="rId101" Type="http://schemas.openxmlformats.org/officeDocument/2006/relationships/slide" Target="slides/slide88.xml"/><Relationship Id="rId102" Type="http://schemas.openxmlformats.org/officeDocument/2006/relationships/slide" Target="slides/slide96.xml"/><Relationship Id="rId103" Type="http://schemas.openxmlformats.org/officeDocument/2006/relationships/slide" Target="slides/slide104.xml"/><Relationship Id="rId104" Type="http://schemas.openxmlformats.org/officeDocument/2006/relationships/slide" Target="slides/slide112.xml"/><Relationship Id="rId105" Type="http://schemas.openxmlformats.org/officeDocument/2006/relationships/slide" Target="slides/slide9.xml"/><Relationship Id="rId106" Type="http://schemas.openxmlformats.org/officeDocument/2006/relationships/slide" Target="slides/slide17.xml"/><Relationship Id="rId107" Type="http://schemas.openxmlformats.org/officeDocument/2006/relationships/slide" Target="slides/slide25.xml"/><Relationship Id="rId108" Type="http://schemas.openxmlformats.org/officeDocument/2006/relationships/slide" Target="slides/slide33.xml"/><Relationship Id="rId109" Type="http://schemas.openxmlformats.org/officeDocument/2006/relationships/slide" Target="slides/slide41.xml"/><Relationship Id="rId110" Type="http://schemas.openxmlformats.org/officeDocument/2006/relationships/slide" Target="slides/slide49.xml"/><Relationship Id="rId111" Type="http://schemas.openxmlformats.org/officeDocument/2006/relationships/slide" Target="slides/slide57.xml"/><Relationship Id="rId112" Type="http://schemas.openxmlformats.org/officeDocument/2006/relationships/slide" Target="slides/slide65.xml"/><Relationship Id="rId113" Type="http://schemas.openxmlformats.org/officeDocument/2006/relationships/slide" Target="slides/slide73.xml"/><Relationship Id="rId114" Type="http://schemas.openxmlformats.org/officeDocument/2006/relationships/slide" Target="slides/slide81.xml"/><Relationship Id="rId115" Type="http://schemas.openxmlformats.org/officeDocument/2006/relationships/slide" Target="slides/slide89.xml"/><Relationship Id="rId116" Type="http://schemas.openxmlformats.org/officeDocument/2006/relationships/slide" Target="slides/slide97.xml"/><Relationship Id="rId117" Type="http://schemas.openxmlformats.org/officeDocument/2006/relationships/slide" Target="slides/slide105.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 name="Google Shape;44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1" name="Google Shape;49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4" name="Google Shape;6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9" name="Google Shape;63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7" name="Google Shape;677;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6" name="Google Shape;7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3" name="Google Shape;75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3" name="Google Shape;79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2" name="Google Shape;82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7" name="Google Shape;837;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2" name="Google Shape;8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9" name="Google Shape;869;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5" name="Google Shape;88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6" name="Google Shape;88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8" name="Google Shape;90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9" name="Google Shape;90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8" name="Google Shape;93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3" name="Google Shape;95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7" name="Google Shape;967;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8" name="Google Shape;968;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5" name="Google Shape;98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2" name="Google Shape;100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4" name="Google Shape;10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9" name="Google Shape;10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3" name="Google Shape;108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4" name="Google Shape;108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1" name="Google Shape;1141;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9" name="Google Shape;116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0" name="Google Shape;117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9" name="Google Shape;1199;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0" name="Google Shape;1200;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7" name="Google Shape;1217;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3" name="Google Shape;123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4" name="Google Shape;123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7" name="Google Shape;125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5" name="Google Shape;128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6" name="Google Shape;128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1" name="Google Shape;130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7" name="Google Shape;131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8" name="Google Shape;131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4" name="Google Shape;1334;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7" name="Shape 1347"/>
        <p:cNvGrpSpPr/>
        <p:nvPr/>
      </p:nvGrpSpPr>
      <p:grpSpPr>
        <a:xfrm>
          <a:off x="0" y="0"/>
          <a:ext cx="0" cy="0"/>
          <a:chOff x="0" y="0"/>
          <a:chExt cx="0" cy="0"/>
        </a:xfrm>
      </p:grpSpPr>
      <p:sp>
        <p:nvSpPr>
          <p:cNvPr id="1348" name="Google Shape;134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9" name="Google Shape;134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0" name="Google Shape;135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3" name="Google Shape;137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2" name="Google Shape;140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4" name="Shape 1414"/>
        <p:cNvGrpSpPr/>
        <p:nvPr/>
      </p:nvGrpSpPr>
      <p:grpSpPr>
        <a:xfrm>
          <a:off x="0" y="0"/>
          <a:ext cx="0" cy="0"/>
          <a:chOff x="0" y="0"/>
          <a:chExt cx="0" cy="0"/>
        </a:xfrm>
      </p:grpSpPr>
      <p:sp>
        <p:nvSpPr>
          <p:cNvPr id="1415" name="Google Shape;141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6" name="Google Shape;141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7" name="Google Shape;141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9" name="Shape 1429"/>
        <p:cNvGrpSpPr/>
        <p:nvPr/>
      </p:nvGrpSpPr>
      <p:grpSpPr>
        <a:xfrm>
          <a:off x="0" y="0"/>
          <a:ext cx="0" cy="0"/>
          <a:chOff x="0" y="0"/>
          <a:chExt cx="0" cy="0"/>
        </a:xfrm>
      </p:grpSpPr>
      <p:sp>
        <p:nvSpPr>
          <p:cNvPr id="1430" name="Google Shape;14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1" name="Google Shape;143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2" name="Google Shape;143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9" name="Google Shape;144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5" name="Google Shape;146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6" name="Google Shape;146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8" name="Google Shape;15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3" name="Google Shape;1533;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0" name="Google Shape;1550;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6" name="Google Shape;156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7" name="Google Shape;156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2" name="Google Shape;1582;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5" name="Google Shape;1605;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archive.org/details/doctrineoffascis00muss" TargetMode="External"/><Relationship Id="rId4" Type="http://schemas.openxmlformats.org/officeDocument/2006/relationships/hyperlink" Target="https://archive.org/details/doctrineoffascis00mus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www.archives.gov/milestone-documents/president-franklin-roosevelts-annual-message-to-congress" TargetMode="External"/><Relationship Id="rId4" Type="http://schemas.openxmlformats.org/officeDocument/2006/relationships/hyperlink" Target="https://www.archives.gov/milestone-documents/president-franklin-roosevelts-annual-message-to-congres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ushmm.org/collections/bibliography/elie-wiesel" TargetMode="External"/><Relationship Id="rId4" Type="http://schemas.openxmlformats.org/officeDocument/2006/relationships/hyperlink" Target="https://www.ushmm.org/collections/bibliography/elie-wiese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www.archives.gov/legislative/features/day-of-infamy" TargetMode="External"/><Relationship Id="rId4" Type="http://schemas.openxmlformats.org/officeDocument/2006/relationships/hyperlink" Target="https://www.archives.gov/legislative/features/day-of-infam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instonchurchill.org/resources/speeches/1940-the-finest-hour/we-shall-fight-on-the-beaches/" TargetMode="External"/><Relationship Id="rId4" Type="http://schemas.openxmlformats.org/officeDocument/2006/relationships/hyperlink" Target="https://winstonchurchill.org/resources/speeches/1940-the-finest-hour/we-shall-fight-on-the-beache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www.archives.gov/historical-docs/todays-doc/?dod-date=606" TargetMode="External"/><Relationship Id="rId4" Type="http://schemas.openxmlformats.org/officeDocument/2006/relationships/hyperlink" Target="https://www.archives.gov/historical-docs/todays-doc/?dod-date=60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9.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hyperlink" Target="https://www.archives.gov/research/military/ww2/tuskegee-airmen" TargetMode="External"/><Relationship Id="rId4" Type="http://schemas.openxmlformats.org/officeDocument/2006/relationships/hyperlink" Target="https://www.archives.gov/research/military/ww2/tuskegee-airme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loc.gov/collections/world-war-ii-posters/" TargetMode="External"/><Relationship Id="rId4" Type="http://schemas.openxmlformats.org/officeDocument/2006/relationships/hyperlink" Target="https://www.loc.gov/collections/world-war-ii-posters/"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www.archives.gov/milestone-documents/executive-order-8802" TargetMode="External"/><Relationship Id="rId4" Type="http://schemas.openxmlformats.org/officeDocument/2006/relationships/hyperlink" Target="https://www.archives.gov/milestone-documents/executive-order-8802"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archives.gov/milestone-documents/executive-order-9066" TargetMode="External"/><Relationship Id="rId4" Type="http://schemas.openxmlformats.org/officeDocument/2006/relationships/hyperlink" Target="https://www.archives.gov/milestone-documents/executive-order-9066"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archives.gov/education/lessons/wwii-rationing" TargetMode="External"/><Relationship Id="rId4" Type="http://schemas.openxmlformats.org/officeDocument/2006/relationships/hyperlink" Target="https://www.archives.gov/education/lessons/wwii-rationing"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5.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hyperlink" Target="https://www.trumanlibrary.gov/library/public-papers/93/statement-president-announcing-use-bomb-hiroshima" TargetMode="External"/><Relationship Id="rId4" Type="http://schemas.openxmlformats.org/officeDocument/2006/relationships/hyperlink" Target="https://www.trumanlibrary.gov/library/public-papers/93/statement-president-announcing-use-bomb-hiroshim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2.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avalon.law.yale.edu/wwii/yalta.asp" TargetMode="External"/><Relationship Id="rId4" Type="http://schemas.openxmlformats.org/officeDocument/2006/relationships/hyperlink" Target="https://avalon.law.yale.edu/wwii/yalta.asp"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hyperlink" Target="https://www.un.org/en/about-us/un-charter/preamble" TargetMode="External"/><Relationship Id="rId4" Type="http://schemas.openxmlformats.org/officeDocument/2006/relationships/hyperlink" Target="https://www.un.org/en/about-us/un-charter/preamble"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640080"/>
            <a:ext cx="109728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This Deck Works</a:t>
            </a:r>
            <a:endParaRPr lang="en-US" sz="3800" dirty="0"/>
          </a:p>
        </p:txBody>
      </p:sp>
      <p:sp>
        <p:nvSpPr>
          <p:cNvPr id="3" name="Text 1"/>
          <p:cNvSpPr/>
          <p:nvPr/>
        </p:nvSpPr>
        <p:spPr>
          <a:xfrm>
            <a:off x="566928" y="1371600"/>
            <a:ext cx="10972800" cy="365760"/>
          </a:xfrm>
          <a:prstGeom prst="rect">
            <a:avLst/>
          </a:prstGeom>
          <a:noFill/>
          <a:ln/>
        </p:spPr>
        <p:txBody>
          <a:bodyPr wrap="square" lIns="0" tIns="0" rIns="0" bIns="0" rtlCol="0" anchor="ctr"/>
          <a:lstStyle/>
          <a:p>
            <a:pPr indent="0" marL="0">
              <a:buNone/>
            </a:pPr>
            <a:r>
              <a:rPr lang="en-US" sz="1600" i="1" dirty="0">
                <a:solidFill>
                  <a:srgbClr val="C89B3C"/>
                </a:solidFill>
                <a:latin typeface="Arial" pitchFamily="34" charset="0"/>
                <a:ea typeface="Arial" pitchFamily="34" charset="-122"/>
                <a:cs typeface="Arial" pitchFamily="34" charset="-120"/>
              </a:rPr>
              <a:t>Universal Design for Learning · Multi-Tiered System of Supports</a:t>
            </a:r>
            <a:endParaRPr lang="en-US" sz="1600" dirty="0"/>
          </a:p>
        </p:txBody>
      </p:sp>
      <p:sp>
        <p:nvSpPr>
          <p:cNvPr id="4" name="Text 2"/>
          <p:cNvSpPr/>
          <p:nvPr/>
        </p:nvSpPr>
        <p:spPr>
          <a:xfrm>
            <a:off x="548640" y="1847088"/>
            <a:ext cx="3657600" cy="292608"/>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EVERY LEARNER  ·  SAME FIRM GOAL</a:t>
            </a:r>
            <a:endParaRPr lang="en-US" sz="1100" dirty="0"/>
          </a:p>
        </p:txBody>
      </p:sp>
      <p:sp>
        <p:nvSpPr>
          <p:cNvPr id="5" name="Shape 3"/>
          <p:cNvSpPr/>
          <p:nvPr/>
        </p:nvSpPr>
        <p:spPr>
          <a:xfrm>
            <a:off x="548640" y="2148840"/>
            <a:ext cx="3566160" cy="2926080"/>
          </a:xfrm>
          <a:prstGeom prst="rect">
            <a:avLst/>
          </a:prstGeom>
          <a:solidFill>
            <a:srgbClr val="1E2C4C"/>
          </a:solidFill>
          <a:ln w="12700">
            <a:solidFill>
              <a:srgbClr val="C89B3C"/>
            </a:solidFill>
            <a:prstDash val="solid"/>
          </a:ln>
        </p:spPr>
        <p:txBody>
          <a:bodyPr/>
          <a:p/>
        </p:txBody>
      </p:sp>
      <p:sp>
        <p:nvSpPr>
          <p:cNvPr id="6" name="Text 4"/>
          <p:cNvSpPr/>
          <p:nvPr/>
        </p:nvSpPr>
        <p:spPr>
          <a:xfrm>
            <a:off x="777240"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in</a:t>
            </a:r>
            <a:endParaRPr lang="en-US" sz="1900" dirty="0"/>
          </a:p>
        </p:txBody>
      </p:sp>
      <p:sp>
        <p:nvSpPr>
          <p:cNvPr id="7" name="Text 5"/>
          <p:cNvSpPr/>
          <p:nvPr/>
        </p:nvSpPr>
        <p:spPr>
          <a:xfrm>
            <a:off x="777240"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Every lesson opens with a real question and a clear “I can” goal, so you know why it matters and where you’re headed.</a:t>
            </a:r>
            <a:endParaRPr lang="en-US" sz="1350" dirty="0"/>
          </a:p>
        </p:txBody>
      </p:sp>
      <p:sp>
        <p:nvSpPr>
          <p:cNvPr id="8" name="Shape 6"/>
          <p:cNvSpPr/>
          <p:nvPr/>
        </p:nvSpPr>
        <p:spPr>
          <a:xfrm>
            <a:off x="4315968" y="2148840"/>
            <a:ext cx="3566160" cy="292608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see it</a:t>
            </a:r>
            <a:endParaRPr lang="en-US" sz="1900" dirty="0"/>
          </a:p>
        </p:txBody>
      </p:sp>
      <p:sp>
        <p:nvSpPr>
          <p:cNvPr id="10" name="Text 8"/>
          <p:cNvSpPr/>
          <p:nvPr/>
        </p:nvSpPr>
        <p:spPr>
          <a:xfrm>
            <a:off x="4544568"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Direct instruction, primary sources, maps, and bilingual key vocabulary — the same ideas shown more than one way.</a:t>
            </a:r>
            <a:endParaRPr lang="en-US" sz="1350" dirty="0"/>
          </a:p>
        </p:txBody>
      </p:sp>
      <p:sp>
        <p:nvSpPr>
          <p:cNvPr id="11" name="Shape 9"/>
          <p:cNvSpPr/>
          <p:nvPr/>
        </p:nvSpPr>
        <p:spPr>
          <a:xfrm>
            <a:off x="8083296" y="2148840"/>
            <a:ext cx="3566160" cy="2926080"/>
          </a:xfrm>
          <a:prstGeom prst="rect">
            <a:avLst/>
          </a:prstGeom>
          <a:solidFill>
            <a:srgbClr val="1E2C4C"/>
          </a:solidFill>
          <a:ln w="12700">
            <a:solidFill>
              <a:srgbClr val="C89B3C"/>
            </a:solidFill>
            <a:prstDash val="solid"/>
          </a:ln>
        </p:spPr>
        <p:txBody>
          <a:bodyPr/>
          <a:p/>
        </p:txBody>
      </p:sp>
      <p:sp>
        <p:nvSpPr>
          <p:cNvPr id="12" name="Text 10"/>
          <p:cNvSpPr/>
          <p:nvPr/>
        </p:nvSpPr>
        <p:spPr>
          <a:xfrm>
            <a:off x="8311896"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show it</a:t>
            </a:r>
            <a:endParaRPr lang="en-US" sz="1900" dirty="0"/>
          </a:p>
        </p:txBody>
      </p:sp>
      <p:sp>
        <p:nvSpPr>
          <p:cNvPr id="13" name="Text 11"/>
          <p:cNvSpPr/>
          <p:nvPr/>
        </p:nvSpPr>
        <p:spPr>
          <a:xfrm>
            <a:off x="8311896"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Model-with-me, sentence frames, and choices in how you respond — you reach the same goal by the route that works for you.</a:t>
            </a:r>
            <a:endParaRPr lang="en-US" sz="1350" dirty="0"/>
          </a:p>
        </p:txBody>
      </p:sp>
      <p:sp>
        <p:nvSpPr>
          <p:cNvPr id="14" name="Text 12"/>
          <p:cNvSpPr/>
          <p:nvPr/>
        </p:nvSpPr>
        <p:spPr>
          <a:xfrm>
            <a:off x="548640" y="5394960"/>
            <a:ext cx="11064240" cy="640080"/>
          </a:xfrm>
          <a:prstGeom prst="rect">
            <a:avLst/>
          </a:prstGeom>
          <a:solidFill>
            <a:srgbClr val="1E2C4C"/>
          </a:solidFill>
          <a:ln/>
        </p:spPr>
        <p:txBody>
          <a:bodyPr wrap="square" lIns="76200" tIns="76200" rIns="76200" bIns="7620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Your teacher checks your progress along the way and gives you another path if you need one — </a:t>
            </a:r>
            <a:pPr algn="ctr" indent="0" marL="0">
              <a:buNone/>
            </a:pPr>
            <a:r>
              <a:rPr lang="en-US" sz="1400" b="1" i="1" dirty="0">
                <a:solidFill>
                  <a:srgbClr val="FF6B7A"/>
                </a:solidFill>
                <a:latin typeface="Arial" pitchFamily="34" charset="0"/>
                <a:ea typeface="Arial" pitchFamily="34" charset="-122"/>
                <a:cs typeface="Arial" pitchFamily="34" charset="-120"/>
              </a:rPr>
              <a:t>the goal never lowers.</a:t>
            </a:r>
            <a:endParaRPr lang="en-US" sz="1400" dirty="0"/>
          </a:p>
        </p:txBody>
      </p:sp>
      <p:sp>
        <p:nvSpPr>
          <p:cNvPr id="15" name="Text 13"/>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16" name="Text 14"/>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
        <p:nvSpPr>
          <p:cNvPr id="17" name="TextBox 1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US.45</a:t>
            </a:r>
            <a:endParaRPr b="0" i="0" sz="6000" u="none" cap="none" strike="noStrike">
              <a:solidFill>
                <a:schemeClr val="dk1"/>
              </a:solidFill>
              <a:latin typeface="Calibri"/>
              <a:ea typeface="Calibri"/>
              <a:cs typeface="Calibri"/>
              <a:sym typeface="Calibri"/>
            </a:endParaRPr>
          </a:p>
        </p:txBody>
      </p:sp>
      <p:sp>
        <p:nvSpPr>
          <p:cNvPr id="18" name="Google Shape;18;p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Rise and Spread of Fascism, Communism, and Totalitarianism</a:t>
            </a:r>
            <a:endParaRPr b="0" i="0" sz="2600" u="none" cap="none" strike="noStrike">
              <a:solidFill>
                <a:schemeClr val="dk1"/>
              </a:solidFill>
              <a:latin typeface="Calibri"/>
              <a:ea typeface="Calibri"/>
              <a:cs typeface="Calibri"/>
              <a:sym typeface="Calibri"/>
            </a:endParaRPr>
          </a:p>
        </p:txBody>
      </p:sp>
      <p:sp>
        <p:nvSpPr>
          <p:cNvPr id="19" name="Google Shape;19;p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US.45 – Explain the rise and spread of fascism, communism, and totalitarianism internationally.</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4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Totalitarian states seized total control of public and private life — Mussolini's Italy, Hitler's Germany, and Stalin's USSR used propaganda, secret police, and terror to crush all opposition.</a:t>
            </a:r>
            <a:endParaRPr b="0" i="0" sz="2300" u="none" cap="none" strike="noStrike">
              <a:solidFill>
                <a:schemeClr val="dk1"/>
              </a:solidFill>
              <a:latin typeface="Calibri"/>
              <a:ea typeface="Calibri"/>
              <a:cs typeface="Calibri"/>
              <a:sym typeface="Calibri"/>
            </a:endParaRPr>
          </a:p>
        </p:txBody>
      </p:sp>
      <p:pic>
        <p:nvPicPr>
          <p:cNvPr descr="hh-web/public/images/textbook/unit-6/nuremberg-nazi-rally-1935.jpg"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DI 3 of 4 · Totalitarianism in Italy, Germany &amp; USSR</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
        <p:nvSpPr>
          <p:cNvPr id="56" name="TextBox 5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Great Depression, weak democracies, resentment over the Treaty of Versailles, and fear of communism pushed desperate populations toward radical, authoritarian solutions after WWI.</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Great Depression, weak democracies, resentment over the Treaty of Versailles, and fear of communism pushed desperate populations toward radical, authoritarian solutions after WWI.</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DI 4 of 4 · Factors in Its International Spread</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
        <p:nvSpPr>
          <p:cNvPr id="73" name="TextBox 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 name="Shape 77"/>
        <p:cNvGrpSpPr/>
        <p:nvPr/>
      </p:nvGrpSpPr>
      <p:grpSpPr>
        <a:xfrm>
          <a:off x="0" y="0"/>
          <a:ext cx="0" cy="0"/>
          <a:chOff x="0" y="0"/>
          <a:chExt cx="0" cy="0"/>
        </a:xfrm>
      </p:grpSpPr>
      <p:sp>
        <p:nvSpPr>
          <p:cNvPr id="78" name="Google Shape;78;p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1" name="Google Shape;81;p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82" name="Google Shape;82;p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Mussolini’s “The Doctrine of Fascism” — weigh who wrote it and why before you read the words.</a:t>
            </a:r>
            <a:endParaRPr b="0" i="0" sz="2000" u="none" cap="none" strike="noStrike">
              <a:solidFill>
                <a:schemeClr val="dk1"/>
              </a:solidFill>
              <a:latin typeface="Calibri"/>
              <a:ea typeface="Calibri"/>
              <a:cs typeface="Calibri"/>
              <a:sym typeface="Calibri"/>
            </a:endParaRPr>
          </a:p>
        </p:txBody>
      </p:sp>
      <p:sp>
        <p:nvSpPr>
          <p:cNvPr id="83" name="Google Shape;83;p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4" name="Google Shape;84;p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Benito Mussolini</a:t>
            </a:r>
            <a:endParaRPr b="0" i="0" sz="1200" u="none" cap="none" strike="noStrike">
              <a:solidFill>
                <a:schemeClr val="dk1"/>
              </a:solidFill>
              <a:latin typeface="Calibri"/>
              <a:ea typeface="Calibri"/>
              <a:cs typeface="Calibri"/>
              <a:sym typeface="Calibri"/>
            </a:endParaRPr>
          </a:p>
        </p:txBody>
      </p:sp>
      <p:sp>
        <p:nvSpPr>
          <p:cNvPr id="85" name="Google Shape;85;p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6" name="Google Shape;86;p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1932</a:t>
            </a:r>
            <a:endParaRPr b="0" i="0" sz="1200" u="none" cap="none" strike="noStrike">
              <a:solidFill>
                <a:schemeClr val="dk1"/>
              </a:solidFill>
              <a:latin typeface="Calibri"/>
              <a:ea typeface="Calibri"/>
              <a:cs typeface="Calibri"/>
              <a:sym typeface="Calibri"/>
            </a:endParaRPr>
          </a:p>
        </p:txBody>
      </p:sp>
      <p:sp>
        <p:nvSpPr>
          <p:cNvPr id="87" name="Google Shape;87;p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8" name="Google Shape;88;p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 name="Google Shape;89;p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Doctrine of Fascism</a:t>
            </a:r>
            <a:endParaRPr b="0" i="0" sz="1400" u="none" cap="none" strike="noStrike">
              <a:solidFill>
                <a:schemeClr val="dk1"/>
              </a:solidFill>
              <a:latin typeface="Calibri"/>
              <a:ea typeface="Calibri"/>
              <a:cs typeface="Calibri"/>
              <a:sym typeface="Calibri"/>
            </a:endParaRPr>
          </a:p>
        </p:txBody>
      </p:sp>
      <p:sp>
        <p:nvSpPr>
          <p:cNvPr id="91" name="Google Shape;91;p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Benito Mussolini · 1932</a:t>
            </a:r>
            <a:endParaRPr b="0" i="0" sz="900" u="none" cap="none" strike="noStrike">
              <a:solidFill>
                <a:schemeClr val="dk1"/>
              </a:solidFill>
              <a:latin typeface="Calibri"/>
              <a:ea typeface="Calibri"/>
              <a:cs typeface="Calibri"/>
              <a:sym typeface="Calibri"/>
            </a:endParaRPr>
          </a:p>
        </p:txBody>
      </p:sp>
      <p:sp>
        <p:nvSpPr>
          <p:cNvPr id="92" name="Google Shape;92;p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100" u="none" cap="none" strike="noStrike">
              <a:solidFill>
                <a:schemeClr val="dk1"/>
              </a:solidFill>
              <a:latin typeface="Calibri"/>
              <a:ea typeface="Calibri"/>
              <a:cs typeface="Calibri"/>
              <a:sym typeface="Calibri"/>
            </a:endParaRPr>
          </a:p>
        </p:txBody>
      </p:sp>
      <p:sp>
        <p:nvSpPr>
          <p:cNvPr id="93" name="Google Shape;93;p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5" name="Google Shape;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
        <p:nvSpPr>
          <p:cNvPr id="96" name="TextBox 9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0" name="Shape 100"/>
        <p:cNvGrpSpPr/>
        <p:nvPr/>
      </p:nvGrpSpPr>
      <p:grpSpPr>
        <a:xfrm>
          <a:off x="0" y="0"/>
          <a:ext cx="0" cy="0"/>
          <a:chOff x="0" y="0"/>
          <a:chExt cx="0" cy="0"/>
        </a:xfrm>
      </p:grpSpPr>
      <p:sp>
        <p:nvSpPr>
          <p:cNvPr id="101" name="Google Shape;101;p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 name="Google Shape;102;p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103" name="Google Shape;103;p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4" name="Google Shape;104;p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7" name="Google Shape;107;p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8" name="Google Shape;108;p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Dictators and their parties who seized total power, and industrialists and elites who backed strongmen to crush labor movements and communism.</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3" name="Google Shape;113;p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4" name="Google Shape;114;p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dissidents, ethnic and religious minorities, and ordinary citizens who lost civil liberties, free press, and eventually their lives under state terror.</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9" name="Google Shape;119;p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21" name="Google Shape;121;p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Single-party dictatorships that abolished checks on power — Mussolini, Hitler, and Stalin ruling through propaganda, secret police, and force.</a:t>
            </a:r>
            <a:endParaRPr b="0" i="0" sz="1200" u="none" cap="none" strike="noStrike">
              <a:solidFill>
                <a:schemeClr val="dk1"/>
              </a:solidFill>
              <a:latin typeface="Calibri"/>
              <a:ea typeface="Calibri"/>
              <a:cs typeface="Calibri"/>
              <a:sym typeface="Calibri"/>
            </a:endParaRPr>
          </a:p>
        </p:txBody>
      </p:sp>
      <p:sp>
        <p:nvSpPr>
          <p:cNvPr id="122" name="Google Shape;122;p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Doctrine of Fascism, Benito Mussolini, 1932 (Internet Archive)</a:t>
            </a:r>
            <a:endParaRPr b="0" i="0" sz="1000" u="none" cap="none" strike="noStrike">
              <a:solidFill>
                <a:schemeClr val="dk1"/>
              </a:solidFill>
              <a:latin typeface="Calibri"/>
              <a:ea typeface="Calibri"/>
              <a:cs typeface="Calibri"/>
              <a:sym typeface="Calibri"/>
            </a:endParaRPr>
          </a:p>
        </p:txBody>
      </p:sp>
      <p:sp>
        <p:nvSpPr>
          <p:cNvPr id="123" name="Google Shape;123;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 name="Google Shape;124;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
        <p:nvSpPr>
          <p:cNvPr id="125" name="TextBox 1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 Lenin and Stalin.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 name="Shape 129"/>
        <p:cNvGrpSpPr/>
        <p:nvPr/>
      </p:nvGrpSpPr>
      <p:grpSpPr>
        <a:xfrm>
          <a:off x="0" y="0"/>
          <a:ext cx="0" cy="0"/>
          <a:chOff x="0" y="0"/>
          <a:chExt cx="0" cy="0"/>
        </a:xfrm>
      </p:grpSpPr>
      <p:sp>
        <p:nvSpPr>
          <p:cNvPr id="130" name="Google Shape;130;p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US.46</a:t>
            </a:r>
            <a:endParaRPr b="0" i="0" sz="6000" u="none" cap="none" strike="noStrike">
              <a:solidFill>
                <a:schemeClr val="dk1"/>
              </a:solidFill>
              <a:latin typeface="Calibri"/>
              <a:ea typeface="Calibri"/>
              <a:cs typeface="Calibri"/>
              <a:sym typeface="Calibri"/>
            </a:endParaRPr>
          </a:p>
        </p:txBody>
      </p:sp>
      <p:sp>
        <p:nvSpPr>
          <p:cNvPr id="132" name="Google Shape;132;p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FDR's Response to World Crises</a:t>
            </a:r>
            <a:endParaRPr b="0" i="0" sz="2600" u="none" cap="none" strike="noStrike">
              <a:solidFill>
                <a:schemeClr val="dk1"/>
              </a:solidFill>
              <a:latin typeface="Calibri"/>
              <a:ea typeface="Calibri"/>
              <a:cs typeface="Calibri"/>
              <a:sym typeface="Calibri"/>
            </a:endParaRPr>
          </a:p>
        </p:txBody>
      </p:sp>
      <p:sp>
        <p:nvSpPr>
          <p:cNvPr id="133" name="Google Shape;133;p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US.46 – Explain President Franklin D. Roosevelt's response to world crises, including: The Quarantine Speech, the Four Freedoms speech, the Atlantic Charter, and the Lend-Lease Act.</a:t>
            </a:r>
            <a:endParaRPr b="0" i="0" sz="1600" u="none" cap="none" strike="noStrike">
              <a:solidFill>
                <a:schemeClr val="dk1"/>
              </a:solidFill>
              <a:latin typeface="Calibri"/>
              <a:ea typeface="Calibri"/>
              <a:cs typeface="Calibri"/>
              <a:sym typeface="Calibri"/>
            </a:endParaRPr>
          </a:p>
        </p:txBody>
      </p:sp>
      <p:sp>
        <p:nvSpPr>
          <p:cNvPr id="135" name="Google Shape;135;p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400" u="none" cap="none" strike="noStrike">
              <a:solidFill>
                <a:schemeClr val="dk1"/>
              </a:solidFill>
              <a:latin typeface="Calibri"/>
              <a:ea typeface="Calibri"/>
              <a:cs typeface="Calibri"/>
              <a:sym typeface="Calibri"/>
            </a:endParaRPr>
          </a:p>
        </p:txBody>
      </p:sp>
      <p:sp>
        <p:nvSpPr>
          <p:cNvPr id="138" name="Google Shape;138;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 name="Google Shape;139;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4" name="Shape 144"/>
        <p:cNvGrpSpPr/>
        <p:nvPr/>
      </p:nvGrpSpPr>
      <p:grpSpPr>
        <a:xfrm>
          <a:off x="0" y="0"/>
          <a:ext cx="0" cy="0"/>
          <a:chOff x="0" y="0"/>
          <a:chExt cx="0" cy="0"/>
        </a:xfrm>
      </p:grpSpPr>
      <p:sp>
        <p:nvSpPr>
          <p:cNvPr id="145" name="Google Shape;145;p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49" name="Google Shape;149;p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Amid strong isolationism (the Neutrality Acts), FDR's 1937 Quarantine Speech urged democracies to “quarantine” aggressor nations like a disease to stop the spread of war.</a:t>
            </a:r>
            <a:endParaRPr b="0" i="0" sz="2300" u="none" cap="none" strike="noStrike">
              <a:solidFill>
                <a:schemeClr val="dk1"/>
              </a:solidFill>
              <a:latin typeface="Calibri"/>
              <a:ea typeface="Calibri"/>
              <a:cs typeface="Calibri"/>
              <a:sym typeface="Calibri"/>
            </a:endParaRPr>
          </a:p>
        </p:txBody>
      </p:sp>
      <p:pic>
        <p:nvPicPr>
          <p:cNvPr descr="hh-web/public/images/textbook/unit-6/fdr-fireside-chat-1941.jpg" id="150" name="Google Shape;150;p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1" name="Google Shape;151;p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DI 1 of 4 · Quarantine Speech (Oct 5, 1937)</a:t>
            </a:r>
            <a:endParaRPr b="0" i="0" sz="1000" u="none" cap="none" strike="noStrike">
              <a:solidFill>
                <a:schemeClr val="dk1"/>
              </a:solidFill>
              <a:latin typeface="Calibri"/>
              <a:ea typeface="Calibri"/>
              <a:cs typeface="Calibri"/>
              <a:sym typeface="Calibri"/>
            </a:endParaRPr>
          </a:p>
        </p:txBody>
      </p:sp>
      <p:sp>
        <p:nvSpPr>
          <p:cNvPr id="153" name="Google Shape;1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 name="Google Shape;1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
        <p:nvSpPr>
          <p:cNvPr id="155" name="TextBox 15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 name="Shape 159"/>
        <p:cNvGrpSpPr/>
        <p:nvPr/>
      </p:nvGrpSpPr>
      <p:grpSpPr>
        <a:xfrm>
          <a:off x="0" y="0"/>
          <a:ext cx="0" cy="0"/>
          <a:chOff x="0" y="0"/>
          <a:chExt cx="0" cy="0"/>
        </a:xfrm>
      </p:grpSpPr>
      <p:sp>
        <p:nvSpPr>
          <p:cNvPr id="160" name="Google Shape;160;p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Meeting secretly with Churchill off Newfoundland (Aug 1941), FDR set postwar aims: no territorial gains, self-government, and free trade — a blueprint for the Allied cause.</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Meeting secretly with Churchill off Newfoundland (Aug 1941), FDR set postwar aims: no territorial gains, self-government, and free trade — a blueprint for the Allied cause.</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DI 3 of 4 · Atlantic Charter (Aug 14, 1941)</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
        <p:nvSpPr>
          <p:cNvPr id="172" name="TextBox 17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 name="Shape 176"/>
        <p:cNvGrpSpPr/>
        <p:nvPr/>
      </p:nvGrpSpPr>
      <p:grpSpPr>
        <a:xfrm>
          <a:off x="0" y="0"/>
          <a:ext cx="0" cy="0"/>
          <a:chOff x="0" y="0"/>
          <a:chExt cx="0" cy="0"/>
        </a:xfrm>
      </p:grpSpPr>
      <p:sp>
        <p:nvSpPr>
          <p:cNvPr id="177" name="Google Shape;177;p1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80" name="Google Shape;180;p1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81" name="Google Shape;181;p1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March 1941 Lend-Lease Act let the U.S. supply Britain and the Allies with weapons without immediate payment — making America the “arsenal of democracy” while still officially neutral.</a:t>
            </a:r>
            <a:endParaRPr b="0" i="0" sz="2300" u="none" cap="none" strike="noStrike">
              <a:solidFill>
                <a:schemeClr val="dk1"/>
              </a:solidFill>
              <a:latin typeface="Calibri"/>
              <a:ea typeface="Calibri"/>
              <a:cs typeface="Calibri"/>
              <a:sym typeface="Calibri"/>
            </a:endParaRPr>
          </a:p>
        </p:txBody>
      </p:sp>
      <p:sp>
        <p:nvSpPr>
          <p:cNvPr id="182" name="Google Shape;182;p1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85" name="Google Shape;185;p1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March 1941 Lend-Lease Act let the U.S. supply Britain and the Allies with weapons without immediate payment — making America the “arsenal of democracy” while still officially neutral.</a:t>
            </a:r>
            <a:endParaRPr b="0" i="0" sz="2200" u="none" cap="none" strike="noStrike">
              <a:solidFill>
                <a:schemeClr val="dk1"/>
              </a:solidFill>
              <a:latin typeface="Calibri"/>
              <a:ea typeface="Calibri"/>
              <a:cs typeface="Calibri"/>
              <a:sym typeface="Calibri"/>
            </a:endParaRPr>
          </a:p>
        </p:txBody>
      </p:sp>
      <p:sp>
        <p:nvSpPr>
          <p:cNvPr id="186" name="Google Shape;186;p1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DI 4 of 4 · Lend-Lease Act (Mar 11, 1941)</a:t>
            </a:r>
            <a:endParaRPr b="0" i="0" sz="10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8" name="Google Shape;188;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
        <p:nvSpPr>
          <p:cNvPr id="189" name="TextBox 1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 name="Shape 193"/>
        <p:cNvGrpSpPr/>
        <p:nvPr/>
      </p:nvGrpSpPr>
      <p:grpSpPr>
        <a:xfrm>
          <a:off x="0" y="0"/>
          <a:ext cx="0" cy="0"/>
          <a:chOff x="0" y="0"/>
          <a:chExt cx="0" cy="0"/>
        </a:xfrm>
      </p:grpSpPr>
      <p:sp>
        <p:nvSpPr>
          <p:cNvPr id="194" name="Google Shape;194;p1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97" name="Google Shape;197;p1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98" name="Google Shape;198;p1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Four Freedoms Speech — identify the speaker, date, and purpose before you weigh his words.</a:t>
            </a:r>
            <a:endParaRPr b="0" i="0" sz="2000" u="none" cap="none" strike="noStrike">
              <a:solidFill>
                <a:schemeClr val="dk1"/>
              </a:solidFill>
              <a:latin typeface="Calibri"/>
              <a:ea typeface="Calibri"/>
              <a:cs typeface="Calibri"/>
              <a:sym typeface="Calibri"/>
            </a:endParaRPr>
          </a:p>
        </p:txBody>
      </p:sp>
      <p:sp>
        <p:nvSpPr>
          <p:cNvPr id="199" name="Google Shape;199;p1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00" name="Google Shape;200;p1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201" name="Google Shape;201;p1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02" name="Google Shape;202;p1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January 6, 1941</a:t>
            </a:r>
            <a:endParaRPr b="0" i="0" sz="1200" u="none" cap="none" strike="noStrike">
              <a:solidFill>
                <a:schemeClr val="dk1"/>
              </a:solidFill>
              <a:latin typeface="Calibri"/>
              <a:ea typeface="Calibri"/>
              <a:cs typeface="Calibri"/>
              <a:sym typeface="Calibri"/>
            </a:endParaRPr>
          </a:p>
        </p:txBody>
      </p:sp>
      <p:sp>
        <p:nvSpPr>
          <p:cNvPr id="203" name="Google Shape;203;p1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04" name="Google Shape;204;p1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205" name="Google Shape;205;p1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Four Freedoms Speech</a:t>
            </a:r>
            <a:endParaRPr b="0" i="0" sz="1400" u="none" cap="none" strike="noStrike">
              <a:solidFill>
                <a:schemeClr val="dk1"/>
              </a:solidFill>
              <a:latin typeface="Calibri"/>
              <a:ea typeface="Calibri"/>
              <a:cs typeface="Calibri"/>
              <a:sym typeface="Calibri"/>
            </a:endParaRPr>
          </a:p>
        </p:txBody>
      </p:sp>
      <p:sp>
        <p:nvSpPr>
          <p:cNvPr id="207" name="Google Shape;207;p1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January 6, 1941</a:t>
            </a:r>
            <a:endParaRPr b="0" i="0" sz="900" u="none" cap="none" strike="noStrike">
              <a:solidFill>
                <a:schemeClr val="dk1"/>
              </a:solidFill>
              <a:latin typeface="Calibri"/>
              <a:ea typeface="Calibri"/>
              <a:cs typeface="Calibri"/>
              <a:sym typeface="Calibri"/>
            </a:endParaRPr>
          </a:p>
        </p:txBody>
      </p:sp>
      <p:sp>
        <p:nvSpPr>
          <p:cNvPr id="208" name="Google Shape;208;p1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100" u="none" cap="none" strike="noStrike">
              <a:solidFill>
                <a:schemeClr val="dk1"/>
              </a:solidFill>
              <a:latin typeface="Calibri"/>
              <a:ea typeface="Calibri"/>
              <a:cs typeface="Calibri"/>
              <a:sym typeface="Calibri"/>
            </a:endParaRPr>
          </a:p>
        </p:txBody>
      </p:sp>
      <p:sp>
        <p:nvSpPr>
          <p:cNvPr id="209" name="Google Shape;209;p1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10" name="Google Shape;210;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 name="Google Shape;211;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
        <p:nvSpPr>
          <p:cNvPr id="212" name="TextBox 21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6" name="Shape 216"/>
        <p:cNvGrpSpPr/>
        <p:nvPr/>
      </p:nvGrpSpPr>
      <p:grpSpPr>
        <a:xfrm>
          <a:off x="0" y="0"/>
          <a:ext cx="0" cy="0"/>
          <a:chOff x="0" y="0"/>
          <a:chExt cx="0" cy="0"/>
        </a:xfrm>
      </p:grpSpPr>
      <p:sp>
        <p:nvSpPr>
          <p:cNvPr id="217" name="Google Shape;217;p1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18" name="Google Shape;218;p1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219" name="Google Shape;219;p1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20" name="Google Shape;220;p1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23" name="Google Shape;223;p1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24" name="Google Shape;224;p1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25" name="Google Shape;225;p1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Britain and the Allies, kept in the war by American supplies, and U.S. defense industries that expanded under Lend-Lease production.</a:t>
            </a:r>
            <a:endParaRPr b="0" i="0" sz="1200" u="none" cap="none" strike="noStrike">
              <a:solidFill>
                <a:schemeClr val="dk1"/>
              </a:solidFill>
              <a:latin typeface="Calibri"/>
              <a:ea typeface="Calibri"/>
              <a:cs typeface="Calibri"/>
              <a:sym typeface="Calibri"/>
            </a:endParaRPr>
          </a:p>
        </p:txBody>
      </p:sp>
      <p:sp>
        <p:nvSpPr>
          <p:cNvPr id="226" name="Google Shape;226;p1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29" name="Google Shape;229;p1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30" name="Google Shape;230;p1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1" name="Google Shape;231;p1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Isolationists whose influence FDR steadily eroded, and Axis powers whose enemies were now backed by American industrial might.</a:t>
            </a:r>
            <a:endParaRPr b="0" i="0" sz="1200" u="none" cap="none" strike="noStrike">
              <a:solidFill>
                <a:schemeClr val="dk1"/>
              </a:solidFill>
              <a:latin typeface="Calibri"/>
              <a:ea typeface="Calibri"/>
              <a:cs typeface="Calibri"/>
              <a:sym typeface="Calibri"/>
            </a:endParaRPr>
          </a:p>
        </p:txBody>
      </p:sp>
      <p:sp>
        <p:nvSpPr>
          <p:cNvPr id="232" name="Google Shape;232;p1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35" name="Google Shape;235;p1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36" name="Google Shape;236;p1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7" name="Google Shape;237;p1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steered a neutral nation toward the Allies, and Congress, which passed Lend-Lease over isolationist objection.</a:t>
            </a:r>
            <a:endParaRPr b="0" i="0" sz="1200" u="none" cap="none" strike="noStrike">
              <a:solidFill>
                <a:schemeClr val="dk1"/>
              </a:solidFill>
              <a:latin typeface="Calibri"/>
              <a:ea typeface="Calibri"/>
              <a:cs typeface="Calibri"/>
              <a:sym typeface="Calibri"/>
            </a:endParaRPr>
          </a:p>
        </p:txBody>
      </p:sp>
      <p:sp>
        <p:nvSpPr>
          <p:cNvPr id="238" name="Google Shape;238;p1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Four Freedoms Speech, President Franklin D. Roosevelt, January 6, 1941 (National Archives)</a:t>
            </a:r>
            <a:endParaRPr b="0" i="0" sz="1000" u="none" cap="none" strike="noStrike">
              <a:solidFill>
                <a:schemeClr val="dk1"/>
              </a:solidFill>
              <a:latin typeface="Calibri"/>
              <a:ea typeface="Calibri"/>
              <a:cs typeface="Calibri"/>
              <a:sym typeface="Calibri"/>
            </a:endParaRPr>
          </a:p>
        </p:txBody>
      </p:sp>
      <p:sp>
        <p:nvSpPr>
          <p:cNvPr id="239" name="Google Shape;239;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0" name="Google Shape;240;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
        <p:nvSpPr>
          <p:cNvPr id="241" name="TextBox 24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45" name="Shape 245"/>
        <p:cNvGrpSpPr/>
        <p:nvPr/>
      </p:nvGrpSpPr>
      <p:grpSpPr>
        <a:xfrm>
          <a:off x="0" y="0"/>
          <a:ext cx="0" cy="0"/>
          <a:chOff x="0" y="0"/>
          <a:chExt cx="0" cy="0"/>
        </a:xfrm>
      </p:grpSpPr>
      <p:sp>
        <p:nvSpPr>
          <p:cNvPr id="246" name="Google Shape;246;p1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US.47</a:t>
            </a:r>
            <a:endParaRPr b="0" i="0" sz="6000" u="none" cap="none" strike="noStrike">
              <a:solidFill>
                <a:schemeClr val="dk1"/>
              </a:solidFill>
              <a:latin typeface="Calibri"/>
              <a:ea typeface="Calibri"/>
              <a:cs typeface="Calibri"/>
              <a:sym typeface="Calibri"/>
            </a:endParaRPr>
          </a:p>
        </p:txBody>
      </p:sp>
      <p:sp>
        <p:nvSpPr>
          <p:cNvPr id="248" name="Google Shape;248;p1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U.S. Response to the Holocaust</a:t>
            </a:r>
            <a:endParaRPr b="0" i="0" sz="2600" u="none" cap="none" strike="noStrike">
              <a:solidFill>
                <a:schemeClr val="dk1"/>
              </a:solidFill>
              <a:latin typeface="Calibri"/>
              <a:ea typeface="Calibri"/>
              <a:cs typeface="Calibri"/>
              <a:sym typeface="Calibri"/>
            </a:endParaRPr>
          </a:p>
        </p:txBody>
      </p:sp>
      <p:sp>
        <p:nvSpPr>
          <p:cNvPr id="249" name="Google Shape;249;p1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50" name="Google Shape;250;p1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US.47 – Analyze the response of the U.S. to the plight of European Jews before the start of the war, the U.S. liberation of concentration camps during the war, and the immigration of Holocaust survivors after the war.</a:t>
            </a:r>
            <a:endParaRPr b="0" i="0" sz="1600" u="none" cap="none" strike="noStrike">
              <a:solidFill>
                <a:schemeClr val="dk1"/>
              </a:solidFill>
              <a:latin typeface="Calibri"/>
              <a:ea typeface="Calibri"/>
              <a:cs typeface="Calibri"/>
              <a:sym typeface="Calibri"/>
            </a:endParaRPr>
          </a:p>
        </p:txBody>
      </p:sp>
      <p:sp>
        <p:nvSpPr>
          <p:cNvPr id="251" name="Google Shape;251;p1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53" name="Google Shape;253;p1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400" u="none" cap="none" strike="noStrike">
              <a:solidFill>
                <a:schemeClr val="dk1"/>
              </a:solidFill>
              <a:latin typeface="Calibri"/>
              <a:ea typeface="Calibri"/>
              <a:cs typeface="Calibri"/>
              <a:sym typeface="Calibri"/>
            </a:endParaRPr>
          </a:p>
        </p:txBody>
      </p:sp>
      <p:sp>
        <p:nvSpPr>
          <p:cNvPr id="254" name="Google Shape;254;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5" name="Google Shape;255;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0" name="Shape 260"/>
        <p:cNvGrpSpPr/>
        <p:nvPr/>
      </p:nvGrpSpPr>
      <p:grpSpPr>
        <a:xfrm>
          <a:off x="0" y="0"/>
          <a:ext cx="0" cy="0"/>
          <a:chOff x="0" y="0"/>
          <a:chExt cx="0" cy="0"/>
        </a:xfrm>
      </p:grpSpPr>
      <p:sp>
        <p:nvSpPr>
          <p:cNvPr id="261" name="Google Shape;261;p1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64" name="Google Shape;264;p1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65" name="Google Shape;265;p1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Before the war, the National Origins Act (1924) quota system sharply limited immigration from where most Jews lived, and the U.S. turned away refugees — famously the ship the St. Louis (1939).</a:t>
            </a:r>
            <a:endParaRPr b="0" i="0" sz="2300" u="none" cap="none" strike="noStrike">
              <a:solidFill>
                <a:schemeClr val="dk1"/>
              </a:solidFill>
              <a:latin typeface="Calibri"/>
              <a:ea typeface="Calibri"/>
              <a:cs typeface="Calibri"/>
              <a:sym typeface="Calibri"/>
            </a:endParaRPr>
          </a:p>
        </p:txBody>
      </p:sp>
      <p:sp>
        <p:nvSpPr>
          <p:cNvPr id="266" name="Google Shape;266;p1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269" name="Google Shape;269;p1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Before the war, the National Origins Act (1924) quota system sharply limited immigration from where most Jews lived, and the U.S. turned away refugees — famously the ship the St. Louis (1939).</a:t>
            </a:r>
            <a:endParaRPr b="0" i="0" sz="2200" u="none" cap="none" strike="noStrike">
              <a:solidFill>
                <a:schemeClr val="dk1"/>
              </a:solidFill>
              <a:latin typeface="Calibri"/>
              <a:ea typeface="Calibri"/>
              <a:cs typeface="Calibri"/>
              <a:sym typeface="Calibri"/>
            </a:endParaRPr>
          </a:p>
        </p:txBody>
      </p:sp>
      <p:sp>
        <p:nvSpPr>
          <p:cNvPr id="270" name="Google Shape;270;p1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DI 1 of 4 · U.S. Response Before the War</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
        <p:nvSpPr>
          <p:cNvPr id="273" name="TextBox 2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 name="Shape 277"/>
        <p:cNvGrpSpPr/>
        <p:nvPr/>
      </p:nvGrpSpPr>
      <p:grpSpPr>
        <a:xfrm>
          <a:off x="0" y="0"/>
          <a:ext cx="0" cy="0"/>
          <a:chOff x="0" y="0"/>
          <a:chExt cx="0" cy="0"/>
        </a:xfrm>
      </p:grpSpPr>
      <p:sp>
        <p:nvSpPr>
          <p:cNvPr id="278" name="Google Shape;278;p1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81" name="Google Shape;281;p1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82" name="Google Shape;282;p1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In 1944–45 Allied troops liberated the camps; U.S. forces reached Buchenwald, Dachau, and Mauthausen, finding mass death, disease, and survivors — evidence of the Holocaust's horror.</a:t>
            </a:r>
            <a:endParaRPr b="0" i="0" sz="2300" u="none" cap="none" strike="noStrike">
              <a:solidFill>
                <a:schemeClr val="dk1"/>
              </a:solidFill>
              <a:latin typeface="Calibri"/>
              <a:ea typeface="Calibri"/>
              <a:cs typeface="Calibri"/>
              <a:sym typeface="Calibri"/>
            </a:endParaRPr>
          </a:p>
        </p:txBody>
      </p:sp>
      <p:pic>
        <p:nvPicPr>
          <p:cNvPr descr="hh-web/public/images/textbook/unit-6/buchenwald-liberation-1945.jpg" id="283" name="Google Shape;283;p1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84" name="Google Shape;284;p1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85" name="Google Shape;285;p1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DI 2 of 4 · Liberation of the Concentration Camps</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 name="Google Shape;287;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
        <p:nvSpPr>
          <p:cNvPr id="288" name="TextBox 28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2" name="Shape 292"/>
        <p:cNvGrpSpPr/>
        <p:nvPr/>
      </p:nvGrpSpPr>
      <p:grpSpPr>
        <a:xfrm>
          <a:off x="0" y="0"/>
          <a:ext cx="0" cy="0"/>
          <a:chOff x="0" y="0"/>
          <a:chExt cx="0" cy="0"/>
        </a:xfrm>
      </p:grpSpPr>
      <p:sp>
        <p:nvSpPr>
          <p:cNvPr id="293" name="Google Shape;293;p1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Displaced Persons Act (1948, expanded 1950) admitted survivors and other displaced persons, though early quotas favored some refugees over Jews.</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Displaced Persons Act (1948, expanded 1950) admitted survivors and other displaced persons, though early quotas favored some refugees over Jews.</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DI 3 of 4 · Post-War Immigration of Survivors</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
        <p:nvSpPr>
          <p:cNvPr id="305" name="TextBox 3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 name="Shape 309"/>
        <p:cNvGrpSpPr/>
        <p:nvPr/>
      </p:nvGrpSpPr>
      <p:grpSpPr>
        <a:xfrm>
          <a:off x="0" y="0"/>
          <a:ext cx="0" cy="0"/>
          <a:chOff x="0" y="0"/>
          <a:chExt cx="0" cy="0"/>
        </a:xfrm>
      </p:grpSpPr>
      <p:sp>
        <p:nvSpPr>
          <p:cNvPr id="310" name="Google Shape;310;p1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13" name="Google Shape;313;p1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Elie Wiesel’s testimony of liberation — consider the witness, the moment, and the purpose before you read the account.</a:t>
            </a:r>
            <a:endParaRPr b="0" i="0" sz="2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Elie Wiesel</a:t>
            </a:r>
            <a:endParaRPr b="0" i="0" sz="1200" u="none" cap="none" strike="noStrike">
              <a:solidFill>
                <a:schemeClr val="dk1"/>
              </a:solidFill>
              <a:latin typeface="Calibri"/>
              <a:ea typeface="Calibri"/>
              <a:cs typeface="Calibri"/>
              <a:sym typeface="Calibri"/>
            </a:endParaRPr>
          </a:p>
        </p:txBody>
      </p:sp>
      <p:sp>
        <p:nvSpPr>
          <p:cNvPr id="317" name="Google Shape;317;p1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18" name="Google Shape;318;p1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 (describing liberation)</a:t>
            </a:r>
            <a:endParaRPr b="0" i="0" sz="1200" u="none" cap="none" strike="noStrike">
              <a:solidFill>
                <a:schemeClr val="dk1"/>
              </a:solidFill>
              <a:latin typeface="Calibri"/>
              <a:ea typeface="Calibri"/>
              <a:cs typeface="Calibri"/>
              <a:sym typeface="Calibri"/>
            </a:endParaRPr>
          </a:p>
        </p:txBody>
      </p:sp>
      <p:sp>
        <p:nvSpPr>
          <p:cNvPr id="319" name="Google Shape;319;p1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20" name="Google Shape;320;p1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321" name="Google Shape;321;p1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Testimony of Holocaust Survivor</a:t>
            </a:r>
            <a:endParaRPr b="0" i="0" sz="1400" u="none" cap="none" strike="noStrike">
              <a:solidFill>
                <a:schemeClr val="dk1"/>
              </a:solidFill>
              <a:latin typeface="Calibri"/>
              <a:ea typeface="Calibri"/>
              <a:cs typeface="Calibri"/>
              <a:sym typeface="Calibri"/>
            </a:endParaRPr>
          </a:p>
        </p:txBody>
      </p:sp>
      <p:sp>
        <p:nvSpPr>
          <p:cNvPr id="323" name="Google Shape;323;p1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Elie Wiesel · 1945 (describing liberation)</a:t>
            </a:r>
            <a:endParaRPr b="0" i="0" sz="900" u="none" cap="none" strike="noStrike">
              <a:solidFill>
                <a:schemeClr val="dk1"/>
              </a:solidFill>
              <a:latin typeface="Calibri"/>
              <a:ea typeface="Calibri"/>
              <a:cs typeface="Calibri"/>
              <a:sym typeface="Calibri"/>
            </a:endParaRPr>
          </a:p>
        </p:txBody>
      </p:sp>
      <p:sp>
        <p:nvSpPr>
          <p:cNvPr id="324" name="Google Shape;324;p1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100" u="none" cap="none" strike="noStrike">
              <a:solidFill>
                <a:schemeClr val="dk1"/>
              </a:solidFill>
              <a:latin typeface="Calibri"/>
              <a:ea typeface="Calibri"/>
              <a:cs typeface="Calibri"/>
              <a:sym typeface="Calibri"/>
            </a:endParaRPr>
          </a:p>
        </p:txBody>
      </p:sp>
      <p:sp>
        <p:nvSpPr>
          <p:cNvPr id="325" name="Google Shape;325;p1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 name="Google Shape;327;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
        <p:nvSpPr>
          <p:cNvPr id="328" name="TextBox 32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2" name="Shape 332"/>
        <p:cNvGrpSpPr/>
        <p:nvPr/>
      </p:nvGrpSpPr>
      <p:grpSpPr>
        <a:xfrm>
          <a:off x="0" y="0"/>
          <a:ext cx="0" cy="0"/>
          <a:chOff x="0" y="0"/>
          <a:chExt cx="0" cy="0"/>
        </a:xfrm>
      </p:grpSpPr>
      <p:sp>
        <p:nvSpPr>
          <p:cNvPr id="333" name="Google Shape;333;p1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334" name="Google Shape;334;p1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336" name="Google Shape;336;p1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339" name="Google Shape;339;p1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1" name="Google Shape;341;p1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Survivors eventually admitted after the war, and postwar human-rights and refugee efforts that grew from the world’s reckoning with the Holocaust.</a:t>
            </a:r>
            <a:endParaRPr b="0" i="0" sz="1200" u="none" cap="none" strike="noStrike">
              <a:solidFill>
                <a:schemeClr val="dk1"/>
              </a:solidFill>
              <a:latin typeface="Calibri"/>
              <a:ea typeface="Calibri"/>
              <a:cs typeface="Calibri"/>
              <a:sym typeface="Calibri"/>
            </a:endParaRPr>
          </a:p>
        </p:txBody>
      </p:sp>
      <p:sp>
        <p:nvSpPr>
          <p:cNvPr id="342" name="Google Shape;342;p1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345" name="Google Shape;345;p1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7" name="Google Shape;347;p1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Six million murdered European Jews and millions of other victims, and refugees turned away by restrictive prewar immigration quotas.</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351" name="Google Shape;351;p1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352" name="Google Shape;352;p1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53" name="Google Shape;353;p1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Nazi Germany, which carried out genocide; and the U.S. government, whose immigration quotas and wartime priorities shaped a limited response.</a:t>
            </a:r>
            <a:endParaRPr b="0" i="0" sz="1200" u="none" cap="none" strike="noStrike">
              <a:solidFill>
                <a:schemeClr val="dk1"/>
              </a:solidFill>
              <a:latin typeface="Calibri"/>
              <a:ea typeface="Calibri"/>
              <a:cs typeface="Calibri"/>
              <a:sym typeface="Calibri"/>
            </a:endParaRPr>
          </a:p>
        </p:txBody>
      </p:sp>
      <p:sp>
        <p:nvSpPr>
          <p:cNvPr id="354" name="Google Shape;354;p1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Testimony of Holocaust Survivor, Elie Wiesel, 1945 (describing liberation) (United States Holocaust Memorial Museum)</a:t>
            </a:r>
            <a:endParaRPr b="0" i="0" sz="1000" u="none" cap="none" strike="noStrike">
              <a:solidFill>
                <a:schemeClr val="dk1"/>
              </a:solidFill>
              <a:latin typeface="Calibri"/>
              <a:ea typeface="Calibri"/>
              <a:cs typeface="Calibri"/>
              <a:sym typeface="Calibri"/>
            </a:endParaRPr>
          </a:p>
        </p:txBody>
      </p:sp>
      <p:sp>
        <p:nvSpPr>
          <p:cNvPr id="355" name="Google Shape;35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 name="Google Shape;35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
        <p:nvSpPr>
          <p:cNvPr id="357" name="TextBox 35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61" name="Shape 361"/>
        <p:cNvGrpSpPr/>
        <p:nvPr/>
      </p:nvGrpSpPr>
      <p:grpSpPr>
        <a:xfrm>
          <a:off x="0" y="0"/>
          <a:ext cx="0" cy="0"/>
          <a:chOff x="0" y="0"/>
          <a:chExt cx="0" cy="0"/>
        </a:xfrm>
      </p:grpSpPr>
      <p:sp>
        <p:nvSpPr>
          <p:cNvPr id="362" name="Google Shape;362;p1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US.48</a:t>
            </a:r>
            <a:endParaRPr b="0" i="0" sz="6000" u="none" cap="none" strike="noStrike">
              <a:solidFill>
                <a:schemeClr val="dk1"/>
              </a:solidFill>
              <a:latin typeface="Calibri"/>
              <a:ea typeface="Calibri"/>
              <a:cs typeface="Calibri"/>
              <a:sym typeface="Calibri"/>
            </a:endParaRPr>
          </a:p>
        </p:txBody>
      </p:sp>
      <p:sp>
        <p:nvSpPr>
          <p:cNvPr id="364" name="Google Shape;364;p1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American Entry into World War II</a:t>
            </a:r>
            <a:endParaRPr b="0" i="0" sz="2600" u="none" cap="none" strike="noStrike">
              <a:solidFill>
                <a:schemeClr val="dk1"/>
              </a:solidFill>
              <a:latin typeface="Calibri"/>
              <a:ea typeface="Calibri"/>
              <a:cs typeface="Calibri"/>
              <a:sym typeface="Calibri"/>
            </a:endParaRPr>
          </a:p>
        </p:txBody>
      </p:sp>
      <p:sp>
        <p:nvSpPr>
          <p:cNvPr id="365" name="Google Shape;365;p1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66" name="Google Shape;366;p1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US.48 – Explain the reasons for American entry into World War II, including the attack on Pearl Harbor.</a:t>
            </a:r>
            <a:endParaRPr b="0" i="0" sz="1600" u="none" cap="none" strike="noStrike">
              <a:solidFill>
                <a:schemeClr val="dk1"/>
              </a:solidFill>
              <a:latin typeface="Calibri"/>
              <a:ea typeface="Calibri"/>
              <a:cs typeface="Calibri"/>
              <a:sym typeface="Calibri"/>
            </a:endParaRPr>
          </a:p>
        </p:txBody>
      </p:sp>
      <p:sp>
        <p:nvSpPr>
          <p:cNvPr id="367" name="Google Shape;367;p1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69" name="Google Shape;369;p1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400" u="none" cap="none" strike="noStrike">
              <a:solidFill>
                <a:schemeClr val="dk1"/>
              </a:solidFill>
              <a:latin typeface="Calibri"/>
              <a:ea typeface="Calibri"/>
              <a:cs typeface="Calibri"/>
              <a:sym typeface="Calibri"/>
            </a:endParaRPr>
          </a:p>
        </p:txBody>
      </p:sp>
      <p:sp>
        <p:nvSpPr>
          <p:cNvPr id="370" name="Google Shape;37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1" name="Google Shape;37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 name="Shape 376"/>
        <p:cNvGrpSpPr/>
        <p:nvPr/>
      </p:nvGrpSpPr>
      <p:grpSpPr>
        <a:xfrm>
          <a:off x="0" y="0"/>
          <a:ext cx="0" cy="0"/>
          <a:chOff x="0" y="0"/>
          <a:chExt cx="0" cy="0"/>
        </a:xfrm>
      </p:grpSpPr>
      <p:sp>
        <p:nvSpPr>
          <p:cNvPr id="377" name="Google Shape;377;p2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80" name="Google Shape;380;p2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German U-boats attacked U.S. ships carrying Lend-Lease supplies, pulling America into an undeclared naval war in the Atlantic before formal entry.</a:t>
            </a:r>
            <a:endParaRPr b="0" i="0" sz="2300" u="none" cap="none" strike="noStrike">
              <a:solidFill>
                <a:schemeClr val="dk1"/>
              </a:solidFill>
              <a:latin typeface="Calibri"/>
              <a:ea typeface="Calibri"/>
              <a:cs typeface="Calibri"/>
              <a:sym typeface="Calibri"/>
            </a:endParaRPr>
          </a:p>
        </p:txBody>
      </p:sp>
      <p:sp>
        <p:nvSpPr>
          <p:cNvPr id="382" name="Google Shape;382;p2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85" name="Google Shape;385;p2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German U-boats attacked U.S. ships carrying Lend-Lease supplies, pulling America into an undeclared naval war in the Atlantic before formal entry.</a:t>
            </a:r>
            <a:endParaRPr b="0" i="0" sz="2200" u="none" cap="none" strike="noStrike">
              <a:solidFill>
                <a:schemeClr val="dk1"/>
              </a:solidFill>
              <a:latin typeface="Calibri"/>
              <a:ea typeface="Calibri"/>
              <a:cs typeface="Calibri"/>
              <a:sym typeface="Calibri"/>
            </a:endParaRPr>
          </a:p>
        </p:txBody>
      </p:sp>
      <p:sp>
        <p:nvSpPr>
          <p:cNvPr id="386" name="Google Shape;386;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DI 1 of 4 · Factors in the European Theater</a:t>
            </a:r>
            <a:endParaRPr b="0" i="0" sz="1000" u="none" cap="none" strike="noStrike">
              <a:solidFill>
                <a:schemeClr val="dk1"/>
              </a:solidFill>
              <a:latin typeface="Calibri"/>
              <a:ea typeface="Calibri"/>
              <a:cs typeface="Calibri"/>
              <a:sym typeface="Calibri"/>
            </a:endParaRPr>
          </a:p>
        </p:txBody>
      </p:sp>
      <p:sp>
        <p:nvSpPr>
          <p:cNvPr id="387" name="Google Shape;387;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8" name="Google Shape;388;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
        <p:nvSpPr>
          <p:cNvPr id="389" name="TextBox 3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3" name="Shape 393"/>
        <p:cNvGrpSpPr/>
        <p:nvPr/>
      </p:nvGrpSpPr>
      <p:grpSpPr>
        <a:xfrm>
          <a:off x="0" y="0"/>
          <a:ext cx="0" cy="0"/>
          <a:chOff x="0" y="0"/>
          <a:chExt cx="0" cy="0"/>
        </a:xfrm>
      </p:grpSpPr>
      <p:sp>
        <p:nvSpPr>
          <p:cNvPr id="394" name="Google Shape;394;p2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As Japan conquered China and Southeast Asia, the U.S. answered with economic sanctions — including an oil embargo — raising tensions toward war in the Pacific.</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As Japan conquered China and Southeast Asia, the U.S. answered with economic sanctions — including an oil embargo — raising tensions toward war in the Pacific.</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DI 2 of 4 · Factors in the Pacific Theater</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
        <p:nvSpPr>
          <p:cNvPr id="406" name="TextBox 4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0" name="Shape 410"/>
        <p:cNvGrpSpPr/>
        <p:nvPr/>
      </p:nvGrpSpPr>
      <p:grpSpPr>
        <a:xfrm>
          <a:off x="0" y="0"/>
          <a:ext cx="0" cy="0"/>
          <a:chOff x="0" y="0"/>
          <a:chExt cx="0" cy="0"/>
        </a:xfrm>
      </p:grpSpPr>
      <p:sp>
        <p:nvSpPr>
          <p:cNvPr id="411" name="Google Shape;411;p2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14" name="Google Shape;414;p2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15" name="Google Shape;415;p2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On December 7, 1941, six Japanese carriers launched 353 planes against the U.S. Pacific Fleet at Pearl Harbor; FDR called it “a date which will live in infamy” and the U.S. declared war.</a:t>
            </a:r>
            <a:endParaRPr b="0" i="0" sz="2300" u="none" cap="none" strike="noStrike">
              <a:solidFill>
                <a:schemeClr val="dk1"/>
              </a:solidFill>
              <a:latin typeface="Calibri"/>
              <a:ea typeface="Calibri"/>
              <a:cs typeface="Calibri"/>
              <a:sym typeface="Calibri"/>
            </a:endParaRPr>
          </a:p>
        </p:txBody>
      </p:sp>
      <p:pic>
        <p:nvPicPr>
          <p:cNvPr descr="hh-web/public/images/textbook/unit-6/pearl-harbor-uss-shaw-1941.jpg" id="416" name="Google Shape;416;p2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17" name="Google Shape;417;p2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DI 3 of 4 · Attack on Pearl Harbor (Dec 7, 1941)</a:t>
            </a:r>
            <a:endParaRPr b="0" i="0" sz="1000" u="none" cap="none" strike="noStrike">
              <a:solidFill>
                <a:schemeClr val="dk1"/>
              </a:solidFill>
              <a:latin typeface="Calibri"/>
              <a:ea typeface="Calibri"/>
              <a:cs typeface="Calibri"/>
              <a:sym typeface="Calibri"/>
            </a:endParaRPr>
          </a:p>
        </p:txBody>
      </p:sp>
      <p:sp>
        <p:nvSpPr>
          <p:cNvPr id="419" name="Google Shape;419;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0" name="Google Shape;420;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
        <p:nvSpPr>
          <p:cNvPr id="421" name="TextBox 4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5" name="Shape 425"/>
        <p:cNvGrpSpPr/>
        <p:nvPr/>
      </p:nvGrpSpPr>
      <p:grpSpPr>
        <a:xfrm>
          <a:off x="0" y="0"/>
          <a:ext cx="0" cy="0"/>
          <a:chOff x="0" y="0"/>
          <a:chExt cx="0" cy="0"/>
        </a:xfrm>
      </p:grpSpPr>
      <p:sp>
        <p:nvSpPr>
          <p:cNvPr id="426" name="Google Shape;426;p2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429" name="Google Shape;429;p2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30" name="Google Shape;430;p2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“Day of Infamy” Speech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431" name="Google Shape;431;p2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432" name="Google Shape;432;p2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434" name="Google Shape;434;p2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December 8, 1941</a:t>
            </a:r>
            <a:endParaRPr b="0" i="0" sz="1200" u="none" cap="none" strike="noStrike">
              <a:solidFill>
                <a:schemeClr val="dk1"/>
              </a:solidFill>
              <a:latin typeface="Calibri"/>
              <a:ea typeface="Calibri"/>
              <a:cs typeface="Calibri"/>
              <a:sym typeface="Calibri"/>
            </a:endParaRPr>
          </a:p>
        </p:txBody>
      </p:sp>
      <p:sp>
        <p:nvSpPr>
          <p:cNvPr id="435" name="Google Shape;435;p2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436" name="Google Shape;436;p2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437" name="Google Shape;437;p2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Day of Infamy Speech</a:t>
            </a:r>
            <a:endParaRPr b="0" i="0" sz="1400" u="none" cap="none" strike="noStrike">
              <a:solidFill>
                <a:schemeClr val="dk1"/>
              </a:solidFill>
              <a:latin typeface="Calibri"/>
              <a:ea typeface="Calibri"/>
              <a:cs typeface="Calibri"/>
              <a:sym typeface="Calibri"/>
            </a:endParaRPr>
          </a:p>
        </p:txBody>
      </p:sp>
      <p:sp>
        <p:nvSpPr>
          <p:cNvPr id="439" name="Google Shape;439;p2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December 8, 1941</a:t>
            </a:r>
            <a:endParaRPr b="0" i="0" sz="900" u="none" cap="none" strike="noStrike">
              <a:solidFill>
                <a:schemeClr val="dk1"/>
              </a:solidFill>
              <a:latin typeface="Calibri"/>
              <a:ea typeface="Calibri"/>
              <a:cs typeface="Calibri"/>
              <a:sym typeface="Calibri"/>
            </a:endParaRPr>
          </a:p>
        </p:txBody>
      </p:sp>
      <p:sp>
        <p:nvSpPr>
          <p:cNvPr id="440" name="Google Shape;440;p2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100" u="none" cap="none" strike="noStrike">
              <a:solidFill>
                <a:schemeClr val="dk1"/>
              </a:solidFill>
              <a:latin typeface="Calibri"/>
              <a:ea typeface="Calibri"/>
              <a:cs typeface="Calibri"/>
              <a:sym typeface="Calibri"/>
            </a:endParaRPr>
          </a:p>
        </p:txBody>
      </p:sp>
      <p:sp>
        <p:nvSpPr>
          <p:cNvPr id="441" name="Google Shape;441;p2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 name="Google Shape;443;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
        <p:nvSpPr>
          <p:cNvPr id="444" name="TextBox 44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48" name="Shape 448"/>
        <p:cNvGrpSpPr/>
        <p:nvPr/>
      </p:nvGrpSpPr>
      <p:grpSpPr>
        <a:xfrm>
          <a:off x="0" y="0"/>
          <a:ext cx="0" cy="0"/>
          <a:chOff x="0" y="0"/>
          <a:chExt cx="0" cy="0"/>
        </a:xfrm>
      </p:grpSpPr>
      <p:sp>
        <p:nvSpPr>
          <p:cNvPr id="449" name="Google Shape;449;p2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50" name="Google Shape;450;p2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51" name="Google Shape;451;p2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52" name="Google Shape;452;p2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55" name="Google Shape;455;p2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56" name="Google Shape;456;p2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57" name="Google Shape;457;p2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joined by America’s full industrial and military power, and interventionists whose warnings were vindicated by the attack.</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61" name="Google Shape;461;p2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62" name="Google Shape;462;p2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3" name="Google Shape;463;p2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2,400 killed at Pearl Harbor, the sailors and civilians of the Pacific Fleet, and the millions of Americans soon sent to war.</a:t>
            </a:r>
            <a:endParaRPr b="0" i="0" sz="1200" u="none" cap="none" strike="noStrike">
              <a:solidFill>
                <a:schemeClr val="dk1"/>
              </a:solidFill>
              <a:latin typeface="Calibri"/>
              <a:ea typeface="Calibri"/>
              <a:cs typeface="Calibri"/>
              <a:sym typeface="Calibri"/>
            </a:endParaRPr>
          </a:p>
        </p:txBody>
      </p:sp>
      <p:sp>
        <p:nvSpPr>
          <p:cNvPr id="464" name="Google Shape;464;p2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67" name="Google Shape;467;p2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68" name="Google Shape;468;p2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9" name="Google Shape;469;p2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Japan’s military leaders, who ordered the attack; and President Roosevelt and Congress, who declared war the next day.</a:t>
            </a:r>
            <a:endParaRPr b="0" i="0" sz="1200" u="none" cap="none" strike="noStrike">
              <a:solidFill>
                <a:schemeClr val="dk1"/>
              </a:solidFill>
              <a:latin typeface="Calibri"/>
              <a:ea typeface="Calibri"/>
              <a:cs typeface="Calibri"/>
              <a:sym typeface="Calibri"/>
            </a:endParaRPr>
          </a:p>
        </p:txBody>
      </p:sp>
      <p:sp>
        <p:nvSpPr>
          <p:cNvPr id="470" name="Google Shape;470;p2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Day of Infamy Speech, President Franklin D. Roosevelt, December 8, 1941 (National Archives)</a:t>
            </a:r>
            <a:endParaRPr b="0" i="0" sz="1000" u="none" cap="none" strike="noStrike">
              <a:solidFill>
                <a:schemeClr val="dk1"/>
              </a:solidFill>
              <a:latin typeface="Calibri"/>
              <a:ea typeface="Calibri"/>
              <a:cs typeface="Calibri"/>
              <a:sym typeface="Calibri"/>
            </a:endParaRPr>
          </a:p>
        </p:txBody>
      </p:sp>
      <p:sp>
        <p:nvSpPr>
          <p:cNvPr id="471" name="Google Shape;471;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
        <p:nvSpPr>
          <p:cNvPr id="473" name="TextBox 4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2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US.49</a:t>
            </a:r>
            <a:endParaRPr b="0" i="0" sz="6000" u="none" cap="none" strike="noStrike">
              <a:solidFill>
                <a:schemeClr val="dk1"/>
              </a:solidFill>
              <a:latin typeface="Calibri"/>
              <a:ea typeface="Calibri"/>
              <a:cs typeface="Calibri"/>
              <a:sym typeface="Calibri"/>
            </a:endParaRPr>
          </a:p>
        </p:txBody>
      </p:sp>
      <p:sp>
        <p:nvSpPr>
          <p:cNvPr id="480" name="Google Shape;480;p2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WWII Leaders &amp; Key Figures</a:t>
            </a:r>
            <a:endParaRPr b="0" i="0" sz="2600" u="none" cap="none" strike="noStrike">
              <a:solidFill>
                <a:schemeClr val="dk1"/>
              </a:solidFill>
              <a:latin typeface="Calibri"/>
              <a:ea typeface="Calibri"/>
              <a:cs typeface="Calibri"/>
              <a:sym typeface="Calibri"/>
            </a:endParaRPr>
          </a:p>
        </p:txBody>
      </p:sp>
      <p:sp>
        <p:nvSpPr>
          <p:cNvPr id="481" name="Google Shape;481;p2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82" name="Google Shape;482;p2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US.49 – 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600" u="none" cap="none" strike="noStrike">
              <a:solidFill>
                <a:schemeClr val="dk1"/>
              </a:solidFill>
              <a:latin typeface="Calibri"/>
              <a:ea typeface="Calibri"/>
              <a:cs typeface="Calibri"/>
              <a:sym typeface="Calibri"/>
            </a:endParaRPr>
          </a:p>
        </p:txBody>
      </p:sp>
      <p:sp>
        <p:nvSpPr>
          <p:cNvPr id="483" name="Google Shape;483;p2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400" u="none" cap="none" strike="noStrike">
              <a:solidFill>
                <a:schemeClr val="dk1"/>
              </a:solidFill>
              <a:latin typeface="Calibri"/>
              <a:ea typeface="Calibri"/>
              <a:cs typeface="Calibri"/>
              <a:sym typeface="Calibri"/>
            </a:endParaRPr>
          </a:p>
        </p:txBody>
      </p:sp>
      <p:sp>
        <p:nvSpPr>
          <p:cNvPr id="486" name="Google Shape;486;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7" name="Google Shape;487;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2" name="Shape 492"/>
        <p:cNvGrpSpPr/>
        <p:nvPr/>
      </p:nvGrpSpPr>
      <p:grpSpPr>
        <a:xfrm>
          <a:off x="0" y="0"/>
          <a:ext cx="0" cy="0"/>
          <a:chOff x="0" y="0"/>
          <a:chExt cx="0" cy="0"/>
        </a:xfrm>
      </p:grpSpPr>
      <p:sp>
        <p:nvSpPr>
          <p:cNvPr id="493" name="Google Shape;493;p2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6" name="Google Shape;496;p2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497" name="Google Shape;497;p2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Allied political leaders — FDR (U.S.), Churchill (Britain), and Stalin (USSR) — formed the “Big Three” who set strategy and planned the postwar world.</a:t>
            </a:r>
            <a:endParaRPr b="0" i="0" sz="2300" u="none" cap="none" strike="noStrike">
              <a:solidFill>
                <a:schemeClr val="dk1"/>
              </a:solidFill>
              <a:latin typeface="Calibri"/>
              <a:ea typeface="Calibri"/>
              <a:cs typeface="Calibri"/>
              <a:sym typeface="Calibri"/>
            </a:endParaRPr>
          </a:p>
        </p:txBody>
      </p:sp>
      <p:sp>
        <p:nvSpPr>
          <p:cNvPr id="498" name="Google Shape;498;p2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01" name="Google Shape;501;p2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political leaders — FDR (U.S.), Churchill (Britain), and Stalin (USSR) — formed the “Big Three” who set strategy and planned the postwar world.</a:t>
            </a:r>
            <a:endParaRPr b="0" i="0" sz="2200" u="none" cap="none" strike="noStrike">
              <a:solidFill>
                <a:schemeClr val="dk1"/>
              </a:solidFill>
              <a:latin typeface="Calibri"/>
              <a:ea typeface="Calibri"/>
              <a:cs typeface="Calibri"/>
              <a:sym typeface="Calibri"/>
            </a:endParaRPr>
          </a:p>
        </p:txBody>
      </p:sp>
      <p:sp>
        <p:nvSpPr>
          <p:cNvPr id="502" name="Google Shape;502;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DI 1 of 4 · Allied Political Leaders</a:t>
            </a:r>
            <a:endParaRPr b="0" i="0" sz="1000" u="none" cap="none" strike="noStrike">
              <a:solidFill>
                <a:schemeClr val="dk1"/>
              </a:solidFill>
              <a:latin typeface="Calibri"/>
              <a:ea typeface="Calibri"/>
              <a:cs typeface="Calibri"/>
              <a:sym typeface="Calibri"/>
            </a:endParaRPr>
          </a:p>
        </p:txBody>
      </p:sp>
      <p:sp>
        <p:nvSpPr>
          <p:cNvPr id="503" name="Google Shape;503;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 name="Google Shape;504;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
        <p:nvSpPr>
          <p:cNvPr id="505" name="TextBox 5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9" name="Shape 509"/>
        <p:cNvGrpSpPr/>
        <p:nvPr/>
      </p:nvGrpSpPr>
      <p:grpSpPr>
        <a:xfrm>
          <a:off x="0" y="0"/>
          <a:ext cx="0" cy="0"/>
          <a:chOff x="0" y="0"/>
          <a:chExt cx="0" cy="0"/>
        </a:xfrm>
      </p:grpSpPr>
      <p:sp>
        <p:nvSpPr>
          <p:cNvPr id="510" name="Google Shape;510;p2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13" name="Google Shape;513;p2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14" name="Google Shape;514;p27"/>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Allied commanders included Dwight D. Eisenhower, Supreme Allied Commander in Europe (D-Day), and Douglas MacArthur and George Patton, who led major campaigns.</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515" name="Google Shape;515;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16" name="Google Shape;516;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17" name="Google Shape;517;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DI 2 of 4 · Allied Military Leaders</a:t>
            </a:r>
            <a:endParaRPr b="0" i="0" sz="1000" u="none" cap="none" strike="noStrike">
              <a:solidFill>
                <a:schemeClr val="dk1"/>
              </a:solidFill>
              <a:latin typeface="Calibri"/>
              <a:ea typeface="Calibri"/>
              <a:cs typeface="Calibri"/>
              <a:sym typeface="Calibri"/>
            </a:endParaRPr>
          </a:p>
        </p:txBody>
      </p:sp>
      <p:sp>
        <p:nvSpPr>
          <p:cNvPr id="518" name="Google Shape;518;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9" name="Google Shape;519;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
        <p:nvSpPr>
          <p:cNvPr id="520" name="TextBox 51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 name="Shape 524"/>
        <p:cNvGrpSpPr/>
        <p:nvPr/>
      </p:nvGrpSpPr>
      <p:grpSpPr>
        <a:xfrm>
          <a:off x="0" y="0"/>
          <a:ext cx="0" cy="0"/>
          <a:chOff x="0" y="0"/>
          <a:chExt cx="0" cy="0"/>
        </a:xfrm>
      </p:grpSpPr>
      <p:sp>
        <p:nvSpPr>
          <p:cNvPr id="525" name="Google Shape;525;p2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Axis leaders — Hitler (Germany), Mussolini (Italy), and Tojo (Japan) — ruled as dictators, launching aggression and, in Hitler's case, the Holocaust.</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Axis leaders — Hitler (Germany), Mussolini (Italy), and Tojo (Japan) — ruled as dictators, launching aggression and, in Hitler's case, the Holocaust.</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DI 3 of 4 · Axis Leaders</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
        <p:nvSpPr>
          <p:cNvPr id="537" name="TextBox 53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 name="Shape 541"/>
        <p:cNvGrpSpPr/>
        <p:nvPr/>
      </p:nvGrpSpPr>
      <p:grpSpPr>
        <a:xfrm>
          <a:off x="0" y="0"/>
          <a:ext cx="0" cy="0"/>
          <a:chOff x="0" y="0"/>
          <a:chExt cx="0" cy="0"/>
        </a:xfrm>
      </p:grpSpPr>
      <p:sp>
        <p:nvSpPr>
          <p:cNvPr id="542" name="Google Shape;542;p2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45" name="Google Shape;545;p2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46" name="Google Shape;546;p2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Churchill’s “We Shall Fight on the Beaches” Speech — weigh the speaker, moment, and audience before you read the words.</a:t>
            </a:r>
            <a:endParaRPr b="0" i="0" sz="2000" u="none" cap="none" strike="noStrike">
              <a:solidFill>
                <a:schemeClr val="dk1"/>
              </a:solidFill>
              <a:latin typeface="Calibri"/>
              <a:ea typeface="Calibri"/>
              <a:cs typeface="Calibri"/>
              <a:sym typeface="Calibri"/>
            </a:endParaRPr>
          </a:p>
        </p:txBody>
      </p:sp>
      <p:sp>
        <p:nvSpPr>
          <p:cNvPr id="547" name="Google Shape;547;p2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Winston Churchill</a:t>
            </a:r>
            <a:endParaRPr b="0" i="0" sz="1200" u="none" cap="none" strike="noStrike">
              <a:solidFill>
                <a:schemeClr val="dk1"/>
              </a:solidFill>
              <a:latin typeface="Calibri"/>
              <a:ea typeface="Calibri"/>
              <a:cs typeface="Calibri"/>
              <a:sym typeface="Calibri"/>
            </a:endParaRPr>
          </a:p>
        </p:txBody>
      </p:sp>
      <p:sp>
        <p:nvSpPr>
          <p:cNvPr id="549" name="Google Shape;549;p2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50" name="Google Shape;550;p2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4, 1940</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52" name="Google Shape;552;p2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553" name="Google Shape;553;p2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 Shall Fight on the Beaches Speech</a:t>
            </a:r>
            <a:endParaRPr b="0" i="0" sz="1400" u="none" cap="none" strike="noStrike">
              <a:solidFill>
                <a:schemeClr val="dk1"/>
              </a:solidFill>
              <a:latin typeface="Calibri"/>
              <a:ea typeface="Calibri"/>
              <a:cs typeface="Calibri"/>
              <a:sym typeface="Calibri"/>
            </a:endParaRPr>
          </a:p>
        </p:txBody>
      </p:sp>
      <p:sp>
        <p:nvSpPr>
          <p:cNvPr id="555" name="Google Shape;555;p2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Winston Churchill · June 4, 1940</a:t>
            </a:r>
            <a:endParaRPr b="0" i="0" sz="900" u="none" cap="none" strike="noStrike">
              <a:solidFill>
                <a:schemeClr val="dk1"/>
              </a:solidFill>
              <a:latin typeface="Calibri"/>
              <a:ea typeface="Calibri"/>
              <a:cs typeface="Calibri"/>
              <a:sym typeface="Calibri"/>
            </a:endParaRPr>
          </a:p>
        </p:txBody>
      </p:sp>
      <p:sp>
        <p:nvSpPr>
          <p:cNvPr id="556" name="Google Shape;556;p2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100" u="none" cap="none" strike="noStrike">
              <a:solidFill>
                <a:schemeClr val="dk1"/>
              </a:solidFill>
              <a:latin typeface="Calibri"/>
              <a:ea typeface="Calibri"/>
              <a:cs typeface="Calibri"/>
              <a:sym typeface="Calibri"/>
            </a:endParaRPr>
          </a:p>
        </p:txBody>
      </p:sp>
      <p:sp>
        <p:nvSpPr>
          <p:cNvPr id="557" name="Google Shape;557;p2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558" name="Google Shape;558;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 name="Google Shape;559;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
        <p:nvSpPr>
          <p:cNvPr id="560" name="TextBox 55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4" name="Shape 564"/>
        <p:cNvGrpSpPr/>
        <p:nvPr/>
      </p:nvGrpSpPr>
      <p:grpSpPr>
        <a:xfrm>
          <a:off x="0" y="0"/>
          <a:ext cx="0" cy="0"/>
          <a:chOff x="0" y="0"/>
          <a:chExt cx="0" cy="0"/>
        </a:xfrm>
      </p:grpSpPr>
      <p:sp>
        <p:nvSpPr>
          <p:cNvPr id="565" name="Google Shape;565;p3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66" name="Google Shape;566;p3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67" name="Google Shape;567;p3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68" name="Google Shape;568;p3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71" name="Google Shape;571;p3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72" name="Google Shape;572;p3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3" name="Google Shape;573;p3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nations and their peoples, freed from Axis conquest, and leaders like Churchill and Eisenhower whose reputations were cemented by victory.</a:t>
            </a:r>
            <a:endParaRPr b="0" i="0" sz="1200" u="none" cap="none" strike="noStrike">
              <a:solidFill>
                <a:schemeClr val="dk1"/>
              </a:solidFill>
              <a:latin typeface="Calibri"/>
              <a:ea typeface="Calibri"/>
              <a:cs typeface="Calibri"/>
              <a:sym typeface="Calibri"/>
            </a:endParaRPr>
          </a:p>
        </p:txBody>
      </p:sp>
      <p:sp>
        <p:nvSpPr>
          <p:cNvPr id="574" name="Google Shape;574;p3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77" name="Google Shape;577;p3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78" name="Google Shape;578;p3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9" name="Google Shape;579;p3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millions of soldiers and civilians killed worldwide, and the populations subjected to Axis occupation and total war.</a:t>
            </a:r>
            <a:endParaRPr b="0" i="0" sz="1200" u="none" cap="none" strike="noStrike">
              <a:solidFill>
                <a:schemeClr val="dk1"/>
              </a:solidFill>
              <a:latin typeface="Calibri"/>
              <a:ea typeface="Calibri"/>
              <a:cs typeface="Calibri"/>
              <a:sym typeface="Calibri"/>
            </a:endParaRPr>
          </a:p>
        </p:txBody>
      </p:sp>
      <p:sp>
        <p:nvSpPr>
          <p:cNvPr id="580" name="Google Shape;580;p3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83" name="Google Shape;583;p3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84" name="Google Shape;584;p3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85" name="Google Shape;585;p3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and Axis heads of state and their top commanders, whose strategic decisions directed the movements of entire armies.</a:t>
            </a:r>
            <a:endParaRPr b="0" i="0" sz="1200" u="none" cap="none" strike="noStrike">
              <a:solidFill>
                <a:schemeClr val="dk1"/>
              </a:solidFill>
              <a:latin typeface="Calibri"/>
              <a:ea typeface="Calibri"/>
              <a:cs typeface="Calibri"/>
              <a:sym typeface="Calibri"/>
            </a:endParaRPr>
          </a:p>
        </p:txBody>
      </p:sp>
      <p:sp>
        <p:nvSpPr>
          <p:cNvPr id="586" name="Google Shape;586;p3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We Shall Fight on the Beaches Speech, Winston Churchill, June 4, 1940 (International Churchill Society)</a:t>
            </a:r>
            <a:endParaRPr b="0" i="0" sz="1000" u="none" cap="none" strike="noStrike">
              <a:solidFill>
                <a:schemeClr val="dk1"/>
              </a:solidFill>
              <a:latin typeface="Calibri"/>
              <a:ea typeface="Calibri"/>
              <a:cs typeface="Calibri"/>
              <a:sym typeface="Calibri"/>
            </a:endParaRPr>
          </a:p>
        </p:txBody>
      </p:sp>
      <p:sp>
        <p:nvSpPr>
          <p:cNvPr id="587" name="Google Shape;587;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8" name="Google Shape;588;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
        <p:nvSpPr>
          <p:cNvPr id="589" name="TextBox 5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3" name="Shape 593"/>
        <p:cNvGrpSpPr/>
        <p:nvPr/>
      </p:nvGrpSpPr>
      <p:grpSpPr>
        <a:xfrm>
          <a:off x="0" y="0"/>
          <a:ext cx="0" cy="0"/>
          <a:chOff x="0" y="0"/>
          <a:chExt cx="0" cy="0"/>
        </a:xfrm>
      </p:grpSpPr>
      <p:sp>
        <p:nvSpPr>
          <p:cNvPr id="594" name="Google Shape;594;p3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US.50</a:t>
            </a:r>
            <a:endParaRPr b="0" i="0" sz="6000" u="none" cap="none" strike="noStrike">
              <a:solidFill>
                <a:schemeClr val="dk1"/>
              </a:solidFill>
              <a:latin typeface="Calibri"/>
              <a:ea typeface="Calibri"/>
              <a:cs typeface="Calibri"/>
              <a:sym typeface="Calibri"/>
            </a:endParaRPr>
          </a:p>
        </p:txBody>
      </p:sp>
      <p:sp>
        <p:nvSpPr>
          <p:cNvPr id="596" name="Google Shape;596;p3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Major WWII Battles: Midway, Iwo Jima, Okinawa &amp; D-Day</a:t>
            </a:r>
            <a:endParaRPr b="0" i="0" sz="2600" u="none" cap="none" strike="noStrike">
              <a:solidFill>
                <a:schemeClr val="dk1"/>
              </a:solidFill>
              <a:latin typeface="Calibri"/>
              <a:ea typeface="Calibri"/>
              <a:cs typeface="Calibri"/>
              <a:sym typeface="Calibri"/>
            </a:endParaRPr>
          </a:p>
        </p:txBody>
      </p:sp>
      <p:sp>
        <p:nvSpPr>
          <p:cNvPr id="597" name="Google Shape;597;p3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98" name="Google Shape;598;p3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US.50 – Explain the role of geographic and military factors on the outcomes of battles in the Pacific and European theaters of war, including the Battles of Midway, Iwo Jima, Okinawa, and D-Day.</a:t>
            </a:r>
            <a:endParaRPr b="0" i="0" sz="1600" u="none" cap="none" strike="noStrike">
              <a:solidFill>
                <a:schemeClr val="dk1"/>
              </a:solidFill>
              <a:latin typeface="Calibri"/>
              <a:ea typeface="Calibri"/>
              <a:cs typeface="Calibri"/>
              <a:sym typeface="Calibri"/>
            </a:endParaRPr>
          </a:p>
        </p:txBody>
      </p:sp>
      <p:sp>
        <p:nvSpPr>
          <p:cNvPr id="599" name="Google Shape;599;p3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400" u="none" cap="none" strike="noStrike">
              <a:solidFill>
                <a:schemeClr val="dk1"/>
              </a:solidFill>
              <a:latin typeface="Calibri"/>
              <a:ea typeface="Calibri"/>
              <a:cs typeface="Calibri"/>
              <a:sym typeface="Calibri"/>
            </a:endParaRPr>
          </a:p>
        </p:txBody>
      </p:sp>
      <p:sp>
        <p:nvSpPr>
          <p:cNvPr id="602" name="Google Shape;602;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03" name="Google Shape;603;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8" name="Shape 608"/>
        <p:cNvGrpSpPr/>
        <p:nvPr/>
      </p:nvGrpSpPr>
      <p:grpSpPr>
        <a:xfrm>
          <a:off x="0" y="0"/>
          <a:ext cx="0" cy="0"/>
          <a:chOff x="0" y="0"/>
          <a:chExt cx="0" cy="0"/>
        </a:xfrm>
      </p:grpSpPr>
      <p:sp>
        <p:nvSpPr>
          <p:cNvPr id="609" name="Google Shape;609;p3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At Midway (June 1942), U.S. codebreakers set an ambush that sank four Japanese carriers — the turning point that shifted the Pacific to the Allies.</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At Midway (June 1942), U.S. codebreakers set an ambush that sank four Japanese carriers — the turning point that shifted the Pacific to the Allies.</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DI 1 of 4 · Battle of Midway (June 1942)</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
        <p:nvSpPr>
          <p:cNvPr id="621" name="TextBox 6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25" name="Shape 625"/>
        <p:cNvGrpSpPr/>
        <p:nvPr/>
      </p:nvGrpSpPr>
      <p:grpSpPr>
        <a:xfrm>
          <a:off x="0" y="0"/>
          <a:ext cx="0" cy="0"/>
          <a:chOff x="0" y="0"/>
          <a:chExt cx="0" cy="0"/>
        </a:xfrm>
      </p:grpSpPr>
      <p:sp>
        <p:nvSpPr>
          <p:cNvPr id="626" name="Google Shape;626;p3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29" name="Google Shape;629;p3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30" name="Google Shape;630;p33"/>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Iwo Jima (Feb–Mar 1945) was a costly fight for airfields U.S. bombers needed; its tunnels and defenders made it one of the war's bloodiest battles.</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631" name="Google Shape;63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32" name="Google Shape;63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33" name="Google Shape;63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DI 2 of 4 · Battle of Iwo Jima (Feb–Mar 1945)</a:t>
            </a:r>
            <a:endParaRPr b="0" i="0" sz="1000" u="none" cap="none" strike="noStrike">
              <a:solidFill>
                <a:schemeClr val="dk1"/>
              </a:solidFill>
              <a:latin typeface="Calibri"/>
              <a:ea typeface="Calibri"/>
              <a:cs typeface="Calibri"/>
              <a:sym typeface="Calibri"/>
            </a:endParaRPr>
          </a:p>
        </p:txBody>
      </p:sp>
      <p:sp>
        <p:nvSpPr>
          <p:cNvPr id="634" name="Google Shape;63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5" name="Google Shape;63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
        <p:nvSpPr>
          <p:cNvPr id="636" name="TextBox 63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40" name="Shape 640"/>
        <p:cNvGrpSpPr/>
        <p:nvPr/>
      </p:nvGrpSpPr>
      <p:grpSpPr>
        <a:xfrm>
          <a:off x="0" y="0"/>
          <a:ext cx="0" cy="0"/>
          <a:chOff x="0" y="0"/>
          <a:chExt cx="0" cy="0"/>
        </a:xfrm>
      </p:grpSpPr>
      <p:sp>
        <p:nvSpPr>
          <p:cNvPr id="641" name="Google Shape;641;p3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4" name="Google Shape;644;p3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45" name="Google Shape;645;p3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On D-Day (June 6, 1944) Allied forces landed at Normandy, opening the Western Front in Europe and beginning the drive toward Germany.</a:t>
            </a:r>
            <a:endParaRPr b="0" i="0" sz="2300" u="none" cap="none" strike="noStrike">
              <a:solidFill>
                <a:schemeClr val="dk1"/>
              </a:solidFill>
              <a:latin typeface="Calibri"/>
              <a:ea typeface="Calibri"/>
              <a:cs typeface="Calibri"/>
              <a:sym typeface="Calibri"/>
            </a:endParaRPr>
          </a:p>
        </p:txBody>
      </p:sp>
      <p:pic>
        <p:nvPicPr>
          <p:cNvPr descr="hh-web/public/images/textbook/unit-6/dday-omaha-beach-1944.jpg" id="646" name="Google Shape;646;p3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47" name="Google Shape;647;p3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48" name="Google Shape;648;p3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DI 4 of 4 · D-Day: Normandy Invasion (June 6, 1944)</a:t>
            </a:r>
            <a:endParaRPr b="0" i="0" sz="1000" u="none" cap="none" strike="noStrike">
              <a:solidFill>
                <a:schemeClr val="dk1"/>
              </a:solidFill>
              <a:latin typeface="Calibri"/>
              <a:ea typeface="Calibri"/>
              <a:cs typeface="Calibri"/>
              <a:sym typeface="Calibri"/>
            </a:endParaRPr>
          </a:p>
        </p:txBody>
      </p:sp>
      <p:sp>
        <p:nvSpPr>
          <p:cNvPr id="649" name="Google Shape;649;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0" name="Google Shape;650;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
        <p:nvSpPr>
          <p:cNvPr id="651" name="TextBox 65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5" name="Shape 655"/>
        <p:cNvGrpSpPr/>
        <p:nvPr/>
      </p:nvGrpSpPr>
      <p:grpSpPr>
        <a:xfrm>
          <a:off x="0" y="0"/>
          <a:ext cx="0" cy="0"/>
          <a:chOff x="0" y="0"/>
          <a:chExt cx="0" cy="0"/>
        </a:xfrm>
      </p:grpSpPr>
      <p:sp>
        <p:nvSpPr>
          <p:cNvPr id="656" name="Google Shape;656;p3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59" name="Google Shape;659;p3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60" name="Google Shape;660;p3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Eisenhower’s D-Day Order of the Day — identify the author, date, and purpose before you analyze the source.</a:t>
            </a:r>
            <a:endParaRPr b="0" i="0" sz="20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General Dwight D. Eisenhower</a:t>
            </a:r>
            <a:endParaRPr b="0" i="0" sz="1200" u="none" cap="none" strike="noStrike">
              <a:solidFill>
                <a:schemeClr val="dk1"/>
              </a:solidFill>
              <a:latin typeface="Calibri"/>
              <a:ea typeface="Calibri"/>
              <a:cs typeface="Calibri"/>
              <a:sym typeface="Calibri"/>
            </a:endParaRPr>
          </a:p>
        </p:txBody>
      </p:sp>
      <p:sp>
        <p:nvSpPr>
          <p:cNvPr id="663" name="Google Shape;663;p3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64" name="Google Shape;664;p3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6, 1944</a:t>
            </a:r>
            <a:endParaRPr b="0" i="0" sz="1200" u="none" cap="none" strike="noStrike">
              <a:solidFill>
                <a:schemeClr val="dk1"/>
              </a:solidFill>
              <a:latin typeface="Calibri"/>
              <a:ea typeface="Calibri"/>
              <a:cs typeface="Calibri"/>
              <a:sym typeface="Calibri"/>
            </a:endParaRPr>
          </a:p>
        </p:txBody>
      </p:sp>
      <p:sp>
        <p:nvSpPr>
          <p:cNvPr id="665" name="Google Shape;665;p3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66" name="Google Shape;666;p3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667" name="Google Shape;667;p3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Order of the Day - D-Day</a:t>
            </a:r>
            <a:endParaRPr b="0" i="0" sz="1400" u="none" cap="none" strike="noStrike">
              <a:solidFill>
                <a:schemeClr val="dk1"/>
              </a:solidFill>
              <a:latin typeface="Calibri"/>
              <a:ea typeface="Calibri"/>
              <a:cs typeface="Calibri"/>
              <a:sym typeface="Calibri"/>
            </a:endParaRPr>
          </a:p>
        </p:txBody>
      </p:sp>
      <p:sp>
        <p:nvSpPr>
          <p:cNvPr id="669" name="Google Shape;669;p3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General Dwight D. Eisenhower · June 6, 1944</a:t>
            </a:r>
            <a:endParaRPr b="0" i="0" sz="900" u="none" cap="none" strike="noStrike">
              <a:solidFill>
                <a:schemeClr val="dk1"/>
              </a:solidFill>
              <a:latin typeface="Calibri"/>
              <a:ea typeface="Calibri"/>
              <a:cs typeface="Calibri"/>
              <a:sym typeface="Calibri"/>
            </a:endParaRPr>
          </a:p>
        </p:txBody>
      </p:sp>
      <p:sp>
        <p:nvSpPr>
          <p:cNvPr id="670" name="Google Shape;670;p3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100" u="none" cap="none" strike="noStrike">
              <a:solidFill>
                <a:schemeClr val="dk1"/>
              </a:solidFill>
              <a:latin typeface="Calibri"/>
              <a:ea typeface="Calibri"/>
              <a:cs typeface="Calibri"/>
              <a:sym typeface="Calibri"/>
            </a:endParaRPr>
          </a:p>
        </p:txBody>
      </p:sp>
      <p:sp>
        <p:nvSpPr>
          <p:cNvPr id="671" name="Google Shape;671;p3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672" name="Google Shape;672;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73" name="Google Shape;673;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
        <p:nvSpPr>
          <p:cNvPr id="674" name="TextBox 67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678" name="Shape 678"/>
        <p:cNvGrpSpPr/>
        <p:nvPr/>
      </p:nvGrpSpPr>
      <p:grpSpPr>
        <a:xfrm>
          <a:off x="0" y="0"/>
          <a:ext cx="0" cy="0"/>
          <a:chOff x="0" y="0"/>
          <a:chExt cx="0" cy="0"/>
        </a:xfrm>
      </p:grpSpPr>
      <p:sp>
        <p:nvSpPr>
          <p:cNvPr id="679" name="Google Shape;679;p3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80" name="Google Shape;680;p3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81" name="Google Shape;681;p3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82" name="Google Shape;682;p3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85" name="Google Shape;685;p3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86" name="Google Shape;686;p3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87" name="Google Shape;687;p3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and liberated peoples of Europe and the Pacific, as each victory brought the defeat of the Axis closer.</a:t>
            </a:r>
            <a:endParaRPr b="0" i="0" sz="1200" u="none" cap="none" strike="noStrike">
              <a:solidFill>
                <a:schemeClr val="dk1"/>
              </a:solidFill>
              <a:latin typeface="Calibri"/>
              <a:ea typeface="Calibri"/>
              <a:cs typeface="Calibri"/>
              <a:sym typeface="Calibri"/>
            </a:endParaRPr>
          </a:p>
        </p:txBody>
      </p:sp>
      <p:sp>
        <p:nvSpPr>
          <p:cNvPr id="688" name="Google Shape;688;p3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91" name="Google Shape;691;p3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92" name="Google Shape;692;p3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3" name="Google Shape;693;p3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soldiers killed and wounded storming beaches and islands, and civilians caught in some of the deadliest battles of the war.</a:t>
            </a:r>
            <a:endParaRPr b="0" i="0" sz="1200" u="none" cap="none" strike="noStrike">
              <a:solidFill>
                <a:schemeClr val="dk1"/>
              </a:solidFill>
              <a:latin typeface="Calibri"/>
              <a:ea typeface="Calibri"/>
              <a:cs typeface="Calibri"/>
              <a:sym typeface="Calibri"/>
            </a:endParaRPr>
          </a:p>
        </p:txBody>
      </p:sp>
      <p:sp>
        <p:nvSpPr>
          <p:cNvPr id="694" name="Google Shape;694;p3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97" name="Google Shape;697;p3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98" name="Google Shape;698;p3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9" name="Google Shape;699;p3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Allied commanders like Eisenhower and Nimitz, who chose where and when to strike based on geographic and strategic advantage.</a:t>
            </a:r>
            <a:endParaRPr b="0" i="0" sz="1200" u="none" cap="none" strike="noStrike">
              <a:solidFill>
                <a:schemeClr val="dk1"/>
              </a:solidFill>
              <a:latin typeface="Calibri"/>
              <a:ea typeface="Calibri"/>
              <a:cs typeface="Calibri"/>
              <a:sym typeface="Calibri"/>
            </a:endParaRPr>
          </a:p>
        </p:txBody>
      </p:sp>
      <p:sp>
        <p:nvSpPr>
          <p:cNvPr id="700" name="Google Shape;700;p3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Order of the Day - D-Day, General Dwight D. Eisenhower, June 6, 1944 (National Archives)</a:t>
            </a:r>
            <a:endParaRPr b="0" i="0" sz="1000" u="none" cap="none" strike="noStrike">
              <a:solidFill>
                <a:schemeClr val="dk1"/>
              </a:solidFill>
              <a:latin typeface="Calibri"/>
              <a:ea typeface="Calibri"/>
              <a:cs typeface="Calibri"/>
              <a:sym typeface="Calibri"/>
            </a:endParaRPr>
          </a:p>
        </p:txBody>
      </p:sp>
      <p:sp>
        <p:nvSpPr>
          <p:cNvPr id="701" name="Google Shape;701;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2" name="Google Shape;702;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
        <p:nvSpPr>
          <p:cNvPr id="703" name="TextBox 70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07" name="Shape 707"/>
        <p:cNvGrpSpPr/>
        <p:nvPr/>
      </p:nvGrpSpPr>
      <p:grpSpPr>
        <a:xfrm>
          <a:off x="0" y="0"/>
          <a:ext cx="0" cy="0"/>
          <a:chOff x="0" y="0"/>
          <a:chExt cx="0" cy="0"/>
        </a:xfrm>
      </p:grpSpPr>
      <p:sp>
        <p:nvSpPr>
          <p:cNvPr id="708" name="Google Shape;708;p3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US.51</a:t>
            </a:r>
            <a:endParaRPr b="0" i="0" sz="6000" u="none" cap="none" strike="noStrike">
              <a:solidFill>
                <a:schemeClr val="dk1"/>
              </a:solidFill>
              <a:latin typeface="Calibri"/>
              <a:ea typeface="Calibri"/>
              <a:cs typeface="Calibri"/>
              <a:sym typeface="Calibri"/>
            </a:endParaRPr>
          </a:p>
        </p:txBody>
      </p:sp>
      <p:sp>
        <p:nvSpPr>
          <p:cNvPr id="710" name="Google Shape;710;p3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Special Fighting Forces in WWII</a:t>
            </a:r>
            <a:endParaRPr b="0" i="0" sz="26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712" name="Google Shape;712;p3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US.51 – Identify the roles and sacrifices of individual American soldiers, as well as the unique contributions of special fighting forces such as the Tuskegee Airmen, the 442nd Regimental Combat team, the 101st Airborne, and the Navajo Code Talkers.</a:t>
            </a:r>
            <a:endParaRPr b="0" i="0" sz="1600" u="none" cap="none" strike="noStrike">
              <a:solidFill>
                <a:schemeClr val="dk1"/>
              </a:solidFill>
              <a:latin typeface="Calibri"/>
              <a:ea typeface="Calibri"/>
              <a:cs typeface="Calibri"/>
              <a:sym typeface="Calibri"/>
            </a:endParaRPr>
          </a:p>
        </p:txBody>
      </p:sp>
      <p:sp>
        <p:nvSpPr>
          <p:cNvPr id="713" name="Google Shape;713;p3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715" name="Google Shape;715;p3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400" u="none" cap="none" strike="noStrike">
              <a:solidFill>
                <a:schemeClr val="dk1"/>
              </a:solidFill>
              <a:latin typeface="Calibri"/>
              <a:ea typeface="Calibri"/>
              <a:cs typeface="Calibri"/>
              <a:sym typeface="Calibri"/>
            </a:endParaRPr>
          </a:p>
        </p:txBody>
      </p:sp>
      <p:sp>
        <p:nvSpPr>
          <p:cNvPr id="716" name="Google Shape;716;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7" name="Google Shape;717;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2" name="Shape 722"/>
        <p:cNvGrpSpPr/>
        <p:nvPr/>
      </p:nvGrpSpPr>
      <p:grpSpPr>
        <a:xfrm>
          <a:off x="0" y="0"/>
          <a:ext cx="0" cy="0"/>
          <a:chOff x="0" y="0"/>
          <a:chExt cx="0" cy="0"/>
        </a:xfrm>
      </p:grpSpPr>
      <p:sp>
        <p:nvSpPr>
          <p:cNvPr id="723" name="Google Shape;723;p3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6" name="Google Shape;726;p3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27" name="Google Shape;727;p3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Tuskegee Airmen were the first African American military aviators, trained in Alabama; their bomber-escort record proved Black pilots' skill and courage.</a:t>
            </a:r>
            <a:endParaRPr b="0" i="0" sz="2300" u="none" cap="none" strike="noStrike">
              <a:solidFill>
                <a:schemeClr val="dk1"/>
              </a:solidFill>
              <a:latin typeface="Calibri"/>
              <a:ea typeface="Calibri"/>
              <a:cs typeface="Calibri"/>
              <a:sym typeface="Calibri"/>
            </a:endParaRPr>
          </a:p>
        </p:txBody>
      </p:sp>
      <p:pic>
        <p:nvPicPr>
          <p:cNvPr descr="hh-web/public/images/textbook/unit-6/tuskegee-airmen-1945.jpg" id="728" name="Google Shape;728;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9" name="Google Shape;729;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30" name="Google Shape;730;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DI 1 of 5 · Tuskegee Airmen</a:t>
            </a:r>
            <a:endParaRPr b="0" i="0" sz="1000" u="none" cap="none" strike="noStrike">
              <a:solidFill>
                <a:schemeClr val="dk1"/>
              </a:solidFill>
              <a:latin typeface="Calibri"/>
              <a:ea typeface="Calibri"/>
              <a:cs typeface="Calibri"/>
              <a:sym typeface="Calibri"/>
            </a:endParaRPr>
          </a:p>
        </p:txBody>
      </p:sp>
      <p:sp>
        <p:nvSpPr>
          <p:cNvPr id="731" name="Google Shape;731;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32" name="Google Shape;732;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
        <p:nvSpPr>
          <p:cNvPr id="733" name="TextBox 73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37" name="Shape 737"/>
        <p:cNvGrpSpPr/>
        <p:nvPr/>
      </p:nvGrpSpPr>
      <p:grpSpPr>
        <a:xfrm>
          <a:off x="0" y="0"/>
          <a:ext cx="0" cy="0"/>
          <a:chOff x="0" y="0"/>
          <a:chExt cx="0" cy="0"/>
        </a:xfrm>
      </p:grpSpPr>
      <p:sp>
        <p:nvSpPr>
          <p:cNvPr id="738" name="Google Shape;738;p3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“Screaming Eagles” of the 101st Airborne parachuted into Normandy on D-Day, securing bridges and crossroads behind enemy lines.</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“Screaming Eagles” of the 101st Airborne parachuted into Normandy on D-Day, securing bridges and crossroads behind enemy lines.</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DI 3 of 5 · 101st Airborne Division</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
        <p:nvSpPr>
          <p:cNvPr id="750" name="TextBox 74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54" name="Shape 754"/>
        <p:cNvGrpSpPr/>
        <p:nvPr/>
      </p:nvGrpSpPr>
      <p:grpSpPr>
        <a:xfrm>
          <a:off x="0" y="0"/>
          <a:ext cx="0" cy="0"/>
          <a:chOff x="0" y="0"/>
          <a:chExt cx="0" cy="0"/>
        </a:xfrm>
      </p:grpSpPr>
      <p:sp>
        <p:nvSpPr>
          <p:cNvPr id="755" name="Google Shape;755;p4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Navajo Code Talkers built an unbreakable code from their native language — unknown outside their nation — that protected U.S. communications in the Pacific.</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Navajo Code Talkers built an unbreakable code from their native language — unknown outside their nation — that protected U.S. communications in the Pacific.</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DI 4 of 5 · Navajo Code Talkers</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
        <p:nvSpPr>
          <p:cNvPr id="767" name="TextBox 7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1" name="Shape 771"/>
        <p:cNvGrpSpPr/>
        <p:nvPr/>
      </p:nvGrpSpPr>
      <p:grpSpPr>
        <a:xfrm>
          <a:off x="0" y="0"/>
          <a:ext cx="0" cy="0"/>
          <a:chOff x="0" y="0"/>
          <a:chExt cx="0" cy="0"/>
        </a:xfrm>
      </p:grpSpPr>
      <p:sp>
        <p:nvSpPr>
          <p:cNvPr id="772" name="Google Shape;772;p4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75" name="Google Shape;775;p4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76" name="Google Shape;776;p4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Tuskegee Airmen Commendation — consider who issued it and why before you weigh its words.</a:t>
            </a:r>
            <a:endParaRPr b="0" i="0" sz="2000" u="none" cap="none" strike="noStrike">
              <a:solidFill>
                <a:schemeClr val="dk1"/>
              </a:solidFill>
              <a:latin typeface="Calibri"/>
              <a:ea typeface="Calibri"/>
              <a:cs typeface="Calibri"/>
              <a:sym typeface="Calibri"/>
            </a:endParaRPr>
          </a:p>
        </p:txBody>
      </p:sp>
      <p:sp>
        <p:nvSpPr>
          <p:cNvPr id="777" name="Google Shape;777;p4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Army Air Forces</a:t>
            </a:r>
            <a:endParaRPr b="0" i="0" sz="1200" u="none" cap="none" strike="noStrike">
              <a:solidFill>
                <a:schemeClr val="dk1"/>
              </a:solidFill>
              <a:latin typeface="Calibri"/>
              <a:ea typeface="Calibri"/>
              <a:cs typeface="Calibri"/>
              <a:sym typeface="Calibri"/>
            </a:endParaRPr>
          </a:p>
        </p:txBody>
      </p:sp>
      <p:sp>
        <p:nvSpPr>
          <p:cNvPr id="779" name="Google Shape;779;p4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80" name="Google Shape;780;p4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a:t>
            </a:r>
            <a:endParaRPr b="0" i="0" sz="1200" u="none" cap="none" strike="noStrike">
              <a:solidFill>
                <a:schemeClr val="dk1"/>
              </a:solidFill>
              <a:latin typeface="Calibri"/>
              <a:ea typeface="Calibri"/>
              <a:cs typeface="Calibri"/>
              <a:sym typeface="Calibri"/>
            </a:endParaRPr>
          </a:p>
        </p:txBody>
      </p:sp>
      <p:sp>
        <p:nvSpPr>
          <p:cNvPr id="781" name="Google Shape;781;p4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82" name="Google Shape;782;p4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783" name="Google Shape;783;p4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4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Tuskegee Airmen Commendation</a:t>
            </a:r>
            <a:endParaRPr b="0" i="0" sz="1400" u="none" cap="none" strike="noStrike">
              <a:solidFill>
                <a:schemeClr val="dk1"/>
              </a:solidFill>
              <a:latin typeface="Calibri"/>
              <a:ea typeface="Calibri"/>
              <a:cs typeface="Calibri"/>
              <a:sym typeface="Calibri"/>
            </a:endParaRPr>
          </a:p>
        </p:txBody>
      </p:sp>
      <p:sp>
        <p:nvSpPr>
          <p:cNvPr id="785" name="Google Shape;785;p4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Army Air Forces · 1945</a:t>
            </a:r>
            <a:endParaRPr b="0" i="0" sz="900" u="none" cap="none" strike="noStrike">
              <a:solidFill>
                <a:schemeClr val="dk1"/>
              </a:solidFill>
              <a:latin typeface="Calibri"/>
              <a:ea typeface="Calibri"/>
              <a:cs typeface="Calibri"/>
              <a:sym typeface="Calibri"/>
            </a:endParaRPr>
          </a:p>
        </p:txBody>
      </p:sp>
      <p:sp>
        <p:nvSpPr>
          <p:cNvPr id="786" name="Google Shape;786;p4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100" u="none" cap="none" strike="noStrike">
              <a:solidFill>
                <a:schemeClr val="dk1"/>
              </a:solidFill>
              <a:latin typeface="Calibri"/>
              <a:ea typeface="Calibri"/>
              <a:cs typeface="Calibri"/>
              <a:sym typeface="Calibri"/>
            </a:endParaRPr>
          </a:p>
        </p:txBody>
      </p:sp>
      <p:sp>
        <p:nvSpPr>
          <p:cNvPr id="787" name="Google Shape;787;p4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88" name="Google Shape;78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89" name="Google Shape;78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
        <p:nvSpPr>
          <p:cNvPr id="790" name="TextBox 78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94" name="Shape 794"/>
        <p:cNvGrpSpPr/>
        <p:nvPr/>
      </p:nvGrpSpPr>
      <p:grpSpPr>
        <a:xfrm>
          <a:off x="0" y="0"/>
          <a:ext cx="0" cy="0"/>
          <a:chOff x="0" y="0"/>
          <a:chExt cx="0" cy="0"/>
        </a:xfrm>
      </p:grpSpPr>
      <p:sp>
        <p:nvSpPr>
          <p:cNvPr id="795" name="Google Shape;795;p4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96" name="Google Shape;796;p4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97" name="Google Shape;797;p4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98" name="Google Shape;798;p4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4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4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801" name="Google Shape;801;p4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802" name="Google Shape;802;p4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3" name="Google Shape;803;p4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war effort, strengthened by these forces’ skill, and the later civil-rights cause, which drew on their proven service and sacrifice.</a:t>
            </a:r>
            <a:endParaRPr b="0" i="0" sz="1200" u="none" cap="none" strike="noStrike">
              <a:solidFill>
                <a:schemeClr val="dk1"/>
              </a:solidFill>
              <a:latin typeface="Calibri"/>
              <a:ea typeface="Calibri"/>
              <a:cs typeface="Calibri"/>
              <a:sym typeface="Calibri"/>
            </a:endParaRPr>
          </a:p>
        </p:txBody>
      </p:sp>
      <p:sp>
        <p:nvSpPr>
          <p:cNvPr id="804" name="Google Shape;804;p4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4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4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807" name="Google Shape;807;p4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808" name="Google Shape;808;p4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9" name="Google Shape;809;p4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Soldiers of color who fought and died while facing discrimination, and Japanese American troops whose families were interned at home.</a:t>
            </a:r>
            <a:endParaRPr b="0" i="0" sz="1200" u="none" cap="none" strike="noStrike">
              <a:solidFill>
                <a:schemeClr val="dk1"/>
              </a:solidFill>
              <a:latin typeface="Calibri"/>
              <a:ea typeface="Calibri"/>
              <a:cs typeface="Calibri"/>
              <a:sym typeface="Calibri"/>
            </a:endParaRPr>
          </a:p>
        </p:txBody>
      </p:sp>
      <p:sp>
        <p:nvSpPr>
          <p:cNvPr id="810" name="Google Shape;810;p4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813" name="Google Shape;813;p4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814" name="Google Shape;814;p4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15" name="Google Shape;815;p4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Department and military commanders who deployed these units, and the soldiers themselves who volunteered despite injustice.</a:t>
            </a:r>
            <a:endParaRPr b="0" i="0" sz="1200" u="none" cap="none" strike="noStrike">
              <a:solidFill>
                <a:schemeClr val="dk1"/>
              </a:solidFill>
              <a:latin typeface="Calibri"/>
              <a:ea typeface="Calibri"/>
              <a:cs typeface="Calibri"/>
              <a:sym typeface="Calibri"/>
            </a:endParaRPr>
          </a:p>
        </p:txBody>
      </p:sp>
      <p:sp>
        <p:nvSpPr>
          <p:cNvPr id="816" name="Google Shape;816;p4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Tuskegee Airmen Commendation, U.S. Army Air Forces, 1945 (National Archives)</a:t>
            </a:r>
            <a:endParaRPr b="0" i="0" sz="1000" u="none" cap="none" strike="noStrike">
              <a:solidFill>
                <a:schemeClr val="dk1"/>
              </a:solidFill>
              <a:latin typeface="Calibri"/>
              <a:ea typeface="Calibri"/>
              <a:cs typeface="Calibri"/>
              <a:sym typeface="Calibri"/>
            </a:endParaRPr>
          </a:p>
        </p:txBody>
      </p:sp>
      <p:sp>
        <p:nvSpPr>
          <p:cNvPr id="817" name="Google Shape;817;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8" name="Google Shape;818;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
        <p:nvSpPr>
          <p:cNvPr id="819" name="TextBox 81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23" name="Shape 823"/>
        <p:cNvGrpSpPr/>
        <p:nvPr/>
      </p:nvGrpSpPr>
      <p:grpSpPr>
        <a:xfrm>
          <a:off x="0" y="0"/>
          <a:ext cx="0" cy="0"/>
          <a:chOff x="0" y="0"/>
          <a:chExt cx="0" cy="0"/>
        </a:xfrm>
      </p:grpSpPr>
      <p:sp>
        <p:nvSpPr>
          <p:cNvPr id="824" name="Google Shape;824;p4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US.52</a:t>
            </a:r>
            <a:endParaRPr b="0" i="0" sz="6000" u="none" cap="none" strike="noStrike">
              <a:solidFill>
                <a:schemeClr val="dk1"/>
              </a:solidFill>
              <a:latin typeface="Calibri"/>
              <a:ea typeface="Calibri"/>
              <a:cs typeface="Calibri"/>
              <a:sym typeface="Calibri"/>
            </a:endParaRPr>
          </a:p>
        </p:txBody>
      </p:sp>
      <p:sp>
        <p:nvSpPr>
          <p:cNvPr id="826" name="Google Shape;826;p4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Women in World War II</a:t>
            </a:r>
            <a:endParaRPr b="0" i="0" sz="26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US.52 – Examine and explain the entry of large numbers of women into the workforce and armed forces during World War II and the subsequent impact on American society.</a:t>
            </a:r>
            <a:endParaRPr b="0" i="0" sz="1600" u="none" cap="none" strike="noStrike">
              <a:solidFill>
                <a:schemeClr val="dk1"/>
              </a:solidFill>
              <a:latin typeface="Calibri"/>
              <a:ea typeface="Calibri"/>
              <a:cs typeface="Calibri"/>
              <a:sym typeface="Calibri"/>
            </a:endParaRPr>
          </a:p>
        </p:txBody>
      </p:sp>
      <p:sp>
        <p:nvSpPr>
          <p:cNvPr id="829" name="Google Shape;829;p4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31" name="Google Shape;831;p4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400" u="none" cap="none" strike="noStrike">
              <a:solidFill>
                <a:schemeClr val="dk1"/>
              </a:solidFill>
              <a:latin typeface="Calibri"/>
              <a:ea typeface="Calibri"/>
              <a:cs typeface="Calibri"/>
              <a:sym typeface="Calibri"/>
            </a:endParaRPr>
          </a:p>
        </p:txBody>
      </p:sp>
      <p:sp>
        <p:nvSpPr>
          <p:cNvPr id="832" name="Google Shape;832;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3" name="Google Shape;833;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38" name="Shape 838"/>
        <p:cNvGrpSpPr/>
        <p:nvPr/>
      </p:nvGrpSpPr>
      <p:grpSpPr>
        <a:xfrm>
          <a:off x="0" y="0"/>
          <a:ext cx="0" cy="0"/>
          <a:chOff x="0" y="0"/>
          <a:chExt cx="0" cy="0"/>
        </a:xfrm>
      </p:grpSpPr>
      <p:sp>
        <p:nvSpPr>
          <p:cNvPr id="839" name="Google Shape;839;p4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42" name="Google Shape;842;p4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With 16 million men in uniform, a huge labor shortage opened factory jobs to women; government campaigns recruited them to war production.</a:t>
            </a:r>
            <a:endParaRPr b="0" i="0" sz="2300" u="none" cap="none" strike="noStrike">
              <a:solidFill>
                <a:schemeClr val="dk1"/>
              </a:solidFill>
              <a:latin typeface="Calibri"/>
              <a:ea typeface="Calibri"/>
              <a:cs typeface="Calibri"/>
              <a:sym typeface="Calibri"/>
            </a:endParaRPr>
          </a:p>
        </p:txBody>
      </p:sp>
      <p:pic>
        <p:nvPicPr>
          <p:cNvPr descr="hh-web/public/images/textbook/unit-6/rosie-riveter-vultee-nashville-1943.jpg" id="844" name="Google Shape;844;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5" name="Google Shape;845;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6" name="Google Shape;846;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DI 1 of 4 · Factors Leading to Participation</a:t>
            </a:r>
            <a:endParaRPr b="0" i="0" sz="1000" u="none" cap="none" strike="noStrike">
              <a:solidFill>
                <a:schemeClr val="dk1"/>
              </a:solidFill>
              <a:latin typeface="Calibri"/>
              <a:ea typeface="Calibri"/>
              <a:cs typeface="Calibri"/>
              <a:sym typeface="Calibri"/>
            </a:endParaRPr>
          </a:p>
        </p:txBody>
      </p:sp>
      <p:sp>
        <p:nvSpPr>
          <p:cNvPr id="847" name="Google Shape;8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8" name="Google Shape;8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
        <p:nvSpPr>
          <p:cNvPr id="849" name="TextBox 84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53" name="Shape 853"/>
        <p:cNvGrpSpPr/>
        <p:nvPr/>
      </p:nvGrpSpPr>
      <p:grpSpPr>
        <a:xfrm>
          <a:off x="0" y="0"/>
          <a:ext cx="0" cy="0"/>
          <a:chOff x="0" y="0"/>
          <a:chExt cx="0" cy="0"/>
        </a:xfrm>
      </p:grpSpPr>
      <p:sp>
        <p:nvSpPr>
          <p:cNvPr id="854" name="Google Shape;854;p4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Women faced lower pay (about 65% of men's wages), hard conditions, and doubts about their ability — yet gained new opportunities and skills.</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faced lower pay (about 65% of men's wages), hard conditions, and doubts about their ability — yet gained new opportunities and skills.</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DI 2 of 4 · Challenges &amp; Opportunities</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
        <p:nvSpPr>
          <p:cNvPr id="866" name="TextBox 86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70" name="Shape 870"/>
        <p:cNvGrpSpPr/>
        <p:nvPr/>
      </p:nvGrpSpPr>
      <p:grpSpPr>
        <a:xfrm>
          <a:off x="0" y="0"/>
          <a:ext cx="0" cy="0"/>
          <a:chOff x="0" y="0"/>
          <a:chExt cx="0" cy="0"/>
        </a:xfrm>
      </p:grpSpPr>
      <p:sp>
        <p:nvSpPr>
          <p:cNvPr id="871" name="Google Shape;871;p4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74" name="Google Shape;874;p4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75" name="Google Shape;875;p4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Many women were laid off for returning veterans and pushed toward homemaking, but wartime work reshaped expectations and seeded later gains.</a:t>
            </a:r>
            <a:endParaRPr b="0" i="0" sz="2300" u="none" cap="none" strike="noStrike">
              <a:solidFill>
                <a:schemeClr val="dk1"/>
              </a:solidFill>
              <a:latin typeface="Calibri"/>
              <a:ea typeface="Calibri"/>
              <a:cs typeface="Calibri"/>
              <a:sym typeface="Calibri"/>
            </a:endParaRPr>
          </a:p>
        </p:txBody>
      </p:sp>
      <p:sp>
        <p:nvSpPr>
          <p:cNvPr id="876" name="Google Shape;876;p4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79" name="Google Shape;879;p4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Many women were laid off for returning veterans and pushed toward homemaking, but wartime work reshaped expectations and seeded later gains.</a:t>
            </a:r>
            <a:endParaRPr b="0" i="0" sz="2200" u="none" cap="none" strike="noStrike">
              <a:solidFill>
                <a:schemeClr val="dk1"/>
              </a:solidFill>
              <a:latin typeface="Calibri"/>
              <a:ea typeface="Calibri"/>
              <a:cs typeface="Calibri"/>
              <a:sym typeface="Calibri"/>
            </a:endParaRPr>
          </a:p>
        </p:txBody>
      </p:sp>
      <p:sp>
        <p:nvSpPr>
          <p:cNvPr id="880" name="Google Shape;880;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DI 4 of 4 · Long-term Effects on Society</a:t>
            </a:r>
            <a:endParaRPr b="0" i="0" sz="1000" u="none" cap="none" strike="noStrike">
              <a:solidFill>
                <a:schemeClr val="dk1"/>
              </a:solidFill>
              <a:latin typeface="Calibri"/>
              <a:ea typeface="Calibri"/>
              <a:cs typeface="Calibri"/>
              <a:sym typeface="Calibri"/>
            </a:endParaRPr>
          </a:p>
        </p:txBody>
      </p:sp>
      <p:sp>
        <p:nvSpPr>
          <p:cNvPr id="881" name="Google Shape;881;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2" name="Google Shape;882;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
        <p:nvSpPr>
          <p:cNvPr id="883" name="TextBox 88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87" name="Shape 887"/>
        <p:cNvGrpSpPr/>
        <p:nvPr/>
      </p:nvGrpSpPr>
      <p:grpSpPr>
        <a:xfrm>
          <a:off x="0" y="0"/>
          <a:ext cx="0" cy="0"/>
          <a:chOff x="0" y="0"/>
          <a:chExt cx="0" cy="0"/>
        </a:xfrm>
      </p:grpSpPr>
      <p:sp>
        <p:nvSpPr>
          <p:cNvPr id="888" name="Google Shape;888;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91" name="Google Shape;891;p4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92" name="Google Shape;892;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Production Board poster text — weigh who produced it and why before you read the message.</a:t>
            </a:r>
            <a:endParaRPr b="0" i="0" sz="2000" u="none" cap="none" strike="noStrike">
              <a:solidFill>
                <a:schemeClr val="dk1"/>
              </a:solidFill>
              <a:latin typeface="Calibri"/>
              <a:ea typeface="Calibri"/>
              <a:cs typeface="Calibri"/>
              <a:sym typeface="Calibri"/>
            </a:endParaRPr>
          </a:p>
        </p:txBody>
      </p:sp>
      <p:sp>
        <p:nvSpPr>
          <p:cNvPr id="893" name="Google Shape;893;p4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94" name="Google Shape;894;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War Production Board</a:t>
            </a:r>
            <a:endParaRPr b="0" i="0" sz="1200" u="none" cap="none" strike="noStrike">
              <a:solidFill>
                <a:schemeClr val="dk1"/>
              </a:solidFill>
              <a:latin typeface="Calibri"/>
              <a:ea typeface="Calibri"/>
              <a:cs typeface="Calibri"/>
              <a:sym typeface="Calibri"/>
            </a:endParaRPr>
          </a:p>
        </p:txBody>
      </p:sp>
      <p:sp>
        <p:nvSpPr>
          <p:cNvPr id="895" name="Google Shape;895;p4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96" name="Google Shape;896;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897" name="Google Shape;897;p4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8" name="Google Shape;898;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9" name="Google Shape;899;p4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Production Board Poster Text</a:t>
            </a:r>
            <a:endParaRPr b="0" i="0" sz="1400" u="none" cap="none" strike="noStrike">
              <a:solidFill>
                <a:schemeClr val="dk1"/>
              </a:solidFill>
              <a:latin typeface="Calibri"/>
              <a:ea typeface="Calibri"/>
              <a:cs typeface="Calibri"/>
              <a:sym typeface="Calibri"/>
            </a:endParaRPr>
          </a:p>
        </p:txBody>
      </p:sp>
      <p:sp>
        <p:nvSpPr>
          <p:cNvPr id="901" name="Google Shape;901;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War Production Board · 1943</a:t>
            </a:r>
            <a:endParaRPr b="0" i="0" sz="900" u="none" cap="none" strike="noStrike">
              <a:solidFill>
                <a:schemeClr val="dk1"/>
              </a:solidFill>
              <a:latin typeface="Calibri"/>
              <a:ea typeface="Calibri"/>
              <a:cs typeface="Calibri"/>
              <a:sym typeface="Calibri"/>
            </a:endParaRPr>
          </a:p>
        </p:txBody>
      </p:sp>
      <p:sp>
        <p:nvSpPr>
          <p:cNvPr id="902" name="Google Shape;902;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100" u="none" cap="none" strike="noStrike">
              <a:solidFill>
                <a:schemeClr val="dk1"/>
              </a:solidFill>
              <a:latin typeface="Calibri"/>
              <a:ea typeface="Calibri"/>
              <a:cs typeface="Calibri"/>
              <a:sym typeface="Calibri"/>
            </a:endParaRPr>
          </a:p>
        </p:txBody>
      </p:sp>
      <p:sp>
        <p:nvSpPr>
          <p:cNvPr id="903" name="Google Shape;903;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904" name="Google Shape;904;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5" name="Google Shape;905;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
        <p:nvSpPr>
          <p:cNvPr id="906" name="TextBox 9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0" name="Shape 910"/>
        <p:cNvGrpSpPr/>
        <p:nvPr/>
      </p:nvGrpSpPr>
      <p:grpSpPr>
        <a:xfrm>
          <a:off x="0" y="0"/>
          <a:ext cx="0" cy="0"/>
          <a:chOff x="0" y="0"/>
          <a:chExt cx="0" cy="0"/>
        </a:xfrm>
      </p:grpSpPr>
      <p:sp>
        <p:nvSpPr>
          <p:cNvPr id="911" name="Google Shape;911;p4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12" name="Google Shape;912;p4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913" name="Google Shape;913;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4" name="Google Shape;914;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7" name="Google Shape;917;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8" name="Google Shape;918;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19" name="Google Shape;919;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economy, powered by women’s labor, and women who gained new skills, wages, and a lasting sense of capability.</a:t>
            </a:r>
            <a:endParaRPr b="0" i="0" sz="1200" u="none" cap="none" strike="noStrike">
              <a:solidFill>
                <a:schemeClr val="dk1"/>
              </a:solidFill>
              <a:latin typeface="Calibri"/>
              <a:ea typeface="Calibri"/>
              <a:cs typeface="Calibri"/>
              <a:sym typeface="Calibri"/>
            </a:endParaRPr>
          </a:p>
        </p:txBody>
      </p:sp>
      <p:sp>
        <p:nvSpPr>
          <p:cNvPr id="920" name="Google Shape;920;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3" name="Google Shape;923;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4" name="Google Shape;924;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25" name="Google Shape;925;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Women paid less than men in hazardous jobs, then laid off after the war, and those pressured to abandon the workforce for returning veterans.</a:t>
            </a:r>
            <a:endParaRPr b="0" i="0" sz="1200" u="none" cap="none" strike="noStrike">
              <a:solidFill>
                <a:schemeClr val="dk1"/>
              </a:solidFill>
              <a:latin typeface="Calibri"/>
              <a:ea typeface="Calibri"/>
              <a:cs typeface="Calibri"/>
              <a:sym typeface="Calibri"/>
            </a:endParaRPr>
          </a:p>
        </p:txBody>
      </p:sp>
      <p:sp>
        <p:nvSpPr>
          <p:cNvPr id="926" name="Google Shape;926;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9" name="Google Shape;929;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30" name="Google Shape;930;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31" name="Google Shape;931;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Government and industry that recruited women for the duration, then employers and social pressure that pushed them out at war’s end.</a:t>
            </a:r>
            <a:endParaRPr b="0" i="0" sz="1200" u="none" cap="none" strike="noStrike">
              <a:solidFill>
                <a:schemeClr val="dk1"/>
              </a:solidFill>
              <a:latin typeface="Calibri"/>
              <a:ea typeface="Calibri"/>
              <a:cs typeface="Calibri"/>
              <a:sym typeface="Calibri"/>
            </a:endParaRPr>
          </a:p>
        </p:txBody>
      </p:sp>
      <p:sp>
        <p:nvSpPr>
          <p:cNvPr id="932" name="Google Shape;932;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Production Board Poster Text, U.S. War Production Board, 1943 (Library of Congress)</a:t>
            </a:r>
            <a:endParaRPr b="0" i="0" sz="1000" u="none" cap="none" strike="noStrike">
              <a:solidFill>
                <a:schemeClr val="dk1"/>
              </a:solidFill>
              <a:latin typeface="Calibri"/>
              <a:ea typeface="Calibri"/>
              <a:cs typeface="Calibri"/>
              <a:sym typeface="Calibri"/>
            </a:endParaRPr>
          </a:p>
        </p:txBody>
      </p:sp>
      <p:sp>
        <p:nvSpPr>
          <p:cNvPr id="933" name="Google Shape;933;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4" name="Google Shape;934;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
        <p:nvSpPr>
          <p:cNvPr id="935" name="TextBox 93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39" name="Shape 939"/>
        <p:cNvGrpSpPr/>
        <p:nvPr/>
      </p:nvGrpSpPr>
      <p:grpSpPr>
        <a:xfrm>
          <a:off x="0" y="0"/>
          <a:ext cx="0" cy="0"/>
          <a:chOff x="0" y="0"/>
          <a:chExt cx="0" cy="0"/>
        </a:xfrm>
      </p:grpSpPr>
      <p:sp>
        <p:nvSpPr>
          <p:cNvPr id="940" name="Google Shape;940;p4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US.53</a:t>
            </a:r>
            <a:endParaRPr b="0" i="0" sz="6000" u="none" cap="none" strike="noStrike">
              <a:solidFill>
                <a:schemeClr val="dk1"/>
              </a:solidFill>
              <a:latin typeface="Calibri"/>
              <a:ea typeface="Calibri"/>
              <a:cs typeface="Calibri"/>
              <a:sym typeface="Calibri"/>
            </a:endParaRPr>
          </a:p>
        </p:txBody>
      </p:sp>
      <p:sp>
        <p:nvSpPr>
          <p:cNvPr id="942" name="Google Shape;942;p4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African Americans in WWII</a:t>
            </a:r>
            <a:endParaRPr b="0" i="0" sz="2600" u="none" cap="none" strike="noStrike">
              <a:solidFill>
                <a:schemeClr val="dk1"/>
              </a:solidFill>
              <a:latin typeface="Calibri"/>
              <a:ea typeface="Calibri"/>
              <a:cs typeface="Calibri"/>
              <a:sym typeface="Calibri"/>
            </a:endParaRPr>
          </a:p>
        </p:txBody>
      </p:sp>
      <p:sp>
        <p:nvSpPr>
          <p:cNvPr id="943" name="Google Shape;943;p4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944" name="Google Shape;944;p4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US.53 – Examine the impact of World War II on economic and social conditions for African Americans, including the Fair Employment Practices Committee and the eventual integration of the armed forces by President Harry S. Truman. (TCA)</a:t>
            </a:r>
            <a:endParaRPr b="0" i="0" sz="1600" u="none" cap="none" strike="noStrike">
              <a:solidFill>
                <a:schemeClr val="dk1"/>
              </a:solidFill>
              <a:latin typeface="Calibri"/>
              <a:ea typeface="Calibri"/>
              <a:cs typeface="Calibri"/>
              <a:sym typeface="Calibri"/>
            </a:endParaRPr>
          </a:p>
        </p:txBody>
      </p:sp>
      <p:sp>
        <p:nvSpPr>
          <p:cNvPr id="945" name="Google Shape;945;p4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947" name="Google Shape;947;p4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400" u="none" cap="none" strike="noStrike">
              <a:solidFill>
                <a:schemeClr val="dk1"/>
              </a:solidFill>
              <a:latin typeface="Calibri"/>
              <a:ea typeface="Calibri"/>
              <a:cs typeface="Calibri"/>
              <a:sym typeface="Calibri"/>
            </a:endParaRPr>
          </a:p>
        </p:txBody>
      </p:sp>
      <p:sp>
        <p:nvSpPr>
          <p:cNvPr id="948" name="Google Shape;948;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9" name="Google Shape;949;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4" name="Shape 954"/>
        <p:cNvGrpSpPr/>
        <p:nvPr/>
      </p:nvGrpSpPr>
      <p:grpSpPr>
        <a:xfrm>
          <a:off x="0" y="0"/>
          <a:ext cx="0" cy="0"/>
          <a:chOff x="0" y="0"/>
          <a:chExt cx="0" cy="0"/>
        </a:xfrm>
      </p:grpSpPr>
      <p:sp>
        <p:nvSpPr>
          <p:cNvPr id="955" name="Google Shape;955;p5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5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5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58" name="Google Shape;958;p5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59" name="Google Shape;959;p5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In the Second Great Migration, about 1.5 million African Americans moved North and West in the 1940s to cities like Detroit, Chicago, and Los Angeles for defense jobs.</a:t>
            </a:r>
            <a:endParaRPr b="0" i="0" sz="2300" u="none" cap="none" strike="noStrike">
              <a:solidFill>
                <a:schemeClr val="dk1"/>
              </a:solidFill>
              <a:latin typeface="Calibri"/>
              <a:ea typeface="Calibri"/>
              <a:cs typeface="Calibri"/>
              <a:sym typeface="Calibri"/>
            </a:endParaRPr>
          </a:p>
        </p:txBody>
      </p:sp>
      <p:pic>
        <p:nvPicPr>
          <p:cNvPr descr="hh-web/public/images/textbook/unit-6/north-american-aviation-integrated-workers-1942.jpg" id="960" name="Google Shape;960;p5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961" name="Google Shape;961;p5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962" name="Google Shape;962;p5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DI 1 of 4 · Second Great Migration &amp; Opportunity</a:t>
            </a:r>
            <a:endParaRPr b="0" i="0" sz="1000" u="none" cap="none" strike="noStrike">
              <a:solidFill>
                <a:schemeClr val="dk1"/>
              </a:solidFill>
              <a:latin typeface="Calibri"/>
              <a:ea typeface="Calibri"/>
              <a:cs typeface="Calibri"/>
              <a:sym typeface="Calibri"/>
            </a:endParaRPr>
          </a:p>
        </p:txBody>
      </p:sp>
      <p:sp>
        <p:nvSpPr>
          <p:cNvPr id="963" name="Google Shape;963;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64" name="Google Shape;964;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
        <p:nvSpPr>
          <p:cNvPr id="965" name="TextBox 96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69" name="Shape 969"/>
        <p:cNvGrpSpPr/>
        <p:nvPr/>
      </p:nvGrpSpPr>
      <p:grpSpPr>
        <a:xfrm>
          <a:off x="0" y="0"/>
          <a:ext cx="0" cy="0"/>
          <a:chOff x="0" y="0"/>
          <a:chExt cx="0" cy="0"/>
        </a:xfrm>
      </p:grpSpPr>
      <p:sp>
        <p:nvSpPr>
          <p:cNvPr id="970" name="Google Shape;970;p5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5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5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73" name="Google Shape;973;p5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74" name="Google Shape;974;p5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Pittsburgh Courier's “Double V” campaign demanded victory over fascism abroad and racism at home; a million Black Americans served, mostly in segregated units.</a:t>
            </a:r>
            <a:endParaRPr b="0" i="0" sz="2300" u="none" cap="none" strike="noStrike">
              <a:solidFill>
                <a:schemeClr val="dk1"/>
              </a:solidFill>
              <a:latin typeface="Calibri"/>
              <a:ea typeface="Calibri"/>
              <a:cs typeface="Calibri"/>
              <a:sym typeface="Calibri"/>
            </a:endParaRPr>
          </a:p>
        </p:txBody>
      </p:sp>
      <p:sp>
        <p:nvSpPr>
          <p:cNvPr id="975" name="Google Shape;975;p5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5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5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78" name="Google Shape;978;p5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Pittsburgh Courier's “Double V” campaign demanded victory over fascism abroad and racism at home; a million Black Americans served, mostly in segregated units.</a:t>
            </a:r>
            <a:endParaRPr b="0" i="0" sz="2200" u="none" cap="none" strike="noStrike">
              <a:solidFill>
                <a:schemeClr val="dk1"/>
              </a:solidFill>
              <a:latin typeface="Calibri"/>
              <a:ea typeface="Calibri"/>
              <a:cs typeface="Calibri"/>
              <a:sym typeface="Calibri"/>
            </a:endParaRPr>
          </a:p>
        </p:txBody>
      </p:sp>
      <p:sp>
        <p:nvSpPr>
          <p:cNvPr id="979" name="Google Shape;979;p5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DI 2 of 4 · Double V Campaign</a:t>
            </a:r>
            <a:endParaRPr b="0" i="0" sz="1000" u="none" cap="none" strike="noStrike">
              <a:solidFill>
                <a:schemeClr val="dk1"/>
              </a:solidFill>
              <a:latin typeface="Calibri"/>
              <a:ea typeface="Calibri"/>
              <a:cs typeface="Calibri"/>
              <a:sym typeface="Calibri"/>
            </a:endParaRPr>
          </a:p>
        </p:txBody>
      </p:sp>
      <p:sp>
        <p:nvSpPr>
          <p:cNvPr id="980" name="Google Shape;980;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81" name="Google Shape;981;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
        <p:nvSpPr>
          <p:cNvPr id="982" name="TextBox 98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86" name="Shape 986"/>
        <p:cNvGrpSpPr/>
        <p:nvPr/>
      </p:nvGrpSpPr>
      <p:grpSpPr>
        <a:xfrm>
          <a:off x="0" y="0"/>
          <a:ext cx="0" cy="0"/>
          <a:chOff x="0" y="0"/>
          <a:chExt cx="0" cy="0"/>
        </a:xfrm>
      </p:grpSpPr>
      <p:sp>
        <p:nvSpPr>
          <p:cNvPr id="987" name="Google Shape;987;p5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 Philip Randolph's threatened march on Washington pressured FDR to issue Executive Order 8802 (1941), creating the FEPC to bar racial discrimination in defense jobs.</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 Philip Randolph's threatened march on Washington pressured FDR to issue Executive Order 8802 (1941), creating the FEPC to bar racial discrimination in defense jobs.</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DI 3 of 4 · Fair Employment Practices Committee</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
        <p:nvSpPr>
          <p:cNvPr id="999" name="TextBox 9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3" name="Shape 1003"/>
        <p:cNvGrpSpPr/>
        <p:nvPr/>
      </p:nvGrpSpPr>
      <p:grpSpPr>
        <a:xfrm>
          <a:off x="0" y="0"/>
          <a:ext cx="0" cy="0"/>
          <a:chOff x="0" y="0"/>
          <a:chExt cx="0" cy="0"/>
        </a:xfrm>
      </p:grpSpPr>
      <p:sp>
        <p:nvSpPr>
          <p:cNvPr id="1004" name="Google Shape;1004;p5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007" name="Google Shape;1007;p5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08" name="Google Shape;1008;p5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8802 — identify who issued it, when, and why before you analyze the source.</a:t>
            </a:r>
            <a:endParaRPr b="0" i="0" sz="2000" u="none" cap="none" strike="noStrike">
              <a:solidFill>
                <a:schemeClr val="dk1"/>
              </a:solidFill>
              <a:latin typeface="Calibri"/>
              <a:ea typeface="Calibri"/>
              <a:cs typeface="Calibri"/>
              <a:sym typeface="Calibri"/>
            </a:endParaRPr>
          </a:p>
        </p:txBody>
      </p:sp>
      <p:sp>
        <p:nvSpPr>
          <p:cNvPr id="1009" name="Google Shape;1009;p5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010" name="Google Shape;1010;p5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011" name="Google Shape;1011;p5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012" name="Google Shape;1012;p5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25, 1941</a:t>
            </a:r>
            <a:endParaRPr b="0" i="0" sz="1200" u="none" cap="none" strike="noStrike">
              <a:solidFill>
                <a:schemeClr val="dk1"/>
              </a:solidFill>
              <a:latin typeface="Calibri"/>
              <a:ea typeface="Calibri"/>
              <a:cs typeface="Calibri"/>
              <a:sym typeface="Calibri"/>
            </a:endParaRPr>
          </a:p>
        </p:txBody>
      </p:sp>
      <p:sp>
        <p:nvSpPr>
          <p:cNvPr id="1013" name="Google Shape;1013;p5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4" name="Google Shape;1014;p5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015" name="Google Shape;1015;p5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8802</a:t>
            </a:r>
            <a:endParaRPr b="0" i="0" sz="1400" u="none" cap="none" strike="noStrike">
              <a:solidFill>
                <a:schemeClr val="dk1"/>
              </a:solidFill>
              <a:latin typeface="Calibri"/>
              <a:ea typeface="Calibri"/>
              <a:cs typeface="Calibri"/>
              <a:sym typeface="Calibri"/>
            </a:endParaRPr>
          </a:p>
        </p:txBody>
      </p:sp>
      <p:sp>
        <p:nvSpPr>
          <p:cNvPr id="1017" name="Google Shape;1017;p5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June 25, 1941</a:t>
            </a:r>
            <a:endParaRPr b="0" i="0" sz="900" u="none" cap="none" strike="noStrike">
              <a:solidFill>
                <a:schemeClr val="dk1"/>
              </a:solidFill>
              <a:latin typeface="Calibri"/>
              <a:ea typeface="Calibri"/>
              <a:cs typeface="Calibri"/>
              <a:sym typeface="Calibri"/>
            </a:endParaRPr>
          </a:p>
        </p:txBody>
      </p:sp>
      <p:sp>
        <p:nvSpPr>
          <p:cNvPr id="1018" name="Google Shape;1018;p5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100" u="none" cap="none" strike="noStrike">
              <a:solidFill>
                <a:schemeClr val="dk1"/>
              </a:solidFill>
              <a:latin typeface="Calibri"/>
              <a:ea typeface="Calibri"/>
              <a:cs typeface="Calibri"/>
              <a:sym typeface="Calibri"/>
            </a:endParaRPr>
          </a:p>
        </p:txBody>
      </p:sp>
      <p:sp>
        <p:nvSpPr>
          <p:cNvPr id="1019" name="Google Shape;1019;p5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20" name="Google Shape;1020;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21" name="Google Shape;1021;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
        <p:nvSpPr>
          <p:cNvPr id="1022" name="TextBox 10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26" name="Shape 1026"/>
        <p:cNvGrpSpPr/>
        <p:nvPr/>
      </p:nvGrpSpPr>
      <p:grpSpPr>
        <a:xfrm>
          <a:off x="0" y="0"/>
          <a:ext cx="0" cy="0"/>
          <a:chOff x="0" y="0"/>
          <a:chExt cx="0" cy="0"/>
        </a:xfrm>
      </p:grpSpPr>
      <p:sp>
        <p:nvSpPr>
          <p:cNvPr id="1027" name="Google Shape;1027;p5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8" name="Google Shape;1028;p5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29" name="Google Shape;1029;p5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30" name="Google Shape;1030;p5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33" name="Google Shape;1033;p5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34" name="Google Shape;1034;p5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35" name="Google Shape;1035;p5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 workers who gained defense jobs, and the emerging civil-rights movement, energized by wartime demands for equality.</a:t>
            </a:r>
            <a:endParaRPr b="0" i="0" sz="1200" u="none" cap="none" strike="noStrike">
              <a:solidFill>
                <a:schemeClr val="dk1"/>
              </a:solidFill>
              <a:latin typeface="Calibri"/>
              <a:ea typeface="Calibri"/>
              <a:cs typeface="Calibri"/>
              <a:sym typeface="Calibri"/>
            </a:endParaRPr>
          </a:p>
        </p:txBody>
      </p:sp>
      <p:sp>
        <p:nvSpPr>
          <p:cNvPr id="1036" name="Google Shape;1036;p5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039" name="Google Shape;1039;p5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040" name="Google Shape;1040;p5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1" name="Google Shape;1041;p5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Black Americans who still faced segregation, violence, and discrimination even in war industries and a still-segregated military.</a:t>
            </a:r>
            <a:endParaRPr b="0" i="0" sz="1200" u="none" cap="none" strike="noStrike">
              <a:solidFill>
                <a:schemeClr val="dk1"/>
              </a:solidFill>
              <a:latin typeface="Calibri"/>
              <a:ea typeface="Calibri"/>
              <a:cs typeface="Calibri"/>
              <a:sym typeface="Calibri"/>
            </a:endParaRPr>
          </a:p>
        </p:txBody>
      </p:sp>
      <p:sp>
        <p:nvSpPr>
          <p:cNvPr id="1042" name="Google Shape;1042;p5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045" name="Google Shape;1045;p5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046" name="Google Shape;1046;p5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7" name="Google Shape;1047;p5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pressured by A. Philip Randolph, who issued EO 8802; and President Truman, who ordered military desegregation.</a:t>
            </a:r>
            <a:endParaRPr b="0" i="0" sz="1200" u="none" cap="none" strike="noStrike">
              <a:solidFill>
                <a:schemeClr val="dk1"/>
              </a:solidFill>
              <a:latin typeface="Calibri"/>
              <a:ea typeface="Calibri"/>
              <a:cs typeface="Calibri"/>
              <a:sym typeface="Calibri"/>
            </a:endParaRPr>
          </a:p>
        </p:txBody>
      </p:sp>
      <p:sp>
        <p:nvSpPr>
          <p:cNvPr id="1048" name="Google Shape;1048;p5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8802, President Franklin D. Roosevelt, June 25, 1941 (National Archives)</a:t>
            </a:r>
            <a:endParaRPr b="0" i="0" sz="1000" u="none" cap="none" strike="noStrike">
              <a:solidFill>
                <a:schemeClr val="dk1"/>
              </a:solidFill>
              <a:latin typeface="Calibri"/>
              <a:ea typeface="Calibri"/>
              <a:cs typeface="Calibri"/>
              <a:sym typeface="Calibri"/>
            </a:endParaRPr>
          </a:p>
        </p:txBody>
      </p:sp>
      <p:sp>
        <p:nvSpPr>
          <p:cNvPr id="1049" name="Google Shape;1049;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0" name="Google Shape;1050;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
        <p:nvSpPr>
          <p:cNvPr id="1051" name="TextBox 105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55" name="Shape 1055"/>
        <p:cNvGrpSpPr/>
        <p:nvPr/>
      </p:nvGrpSpPr>
      <p:grpSpPr>
        <a:xfrm>
          <a:off x="0" y="0"/>
          <a:ext cx="0" cy="0"/>
          <a:chOff x="0" y="0"/>
          <a:chExt cx="0" cy="0"/>
        </a:xfrm>
      </p:grpSpPr>
      <p:sp>
        <p:nvSpPr>
          <p:cNvPr id="1056" name="Google Shape;1056;p5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US.54</a:t>
            </a:r>
            <a:endParaRPr b="0" i="0" sz="6000" u="none" cap="none" strike="noStrike">
              <a:solidFill>
                <a:schemeClr val="dk1"/>
              </a:solidFill>
              <a:latin typeface="Calibri"/>
              <a:ea typeface="Calibri"/>
              <a:cs typeface="Calibri"/>
              <a:sym typeface="Calibri"/>
            </a:endParaRPr>
          </a:p>
        </p:txBody>
      </p:sp>
      <p:sp>
        <p:nvSpPr>
          <p:cNvPr id="1058" name="Google Shape;1058;p5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Japanese American Internment &amp; Korematsu</a:t>
            </a:r>
            <a:endParaRPr b="0" i="0" sz="2600" u="none" cap="none" strike="noStrike">
              <a:solidFill>
                <a:schemeClr val="dk1"/>
              </a:solidFill>
              <a:latin typeface="Calibri"/>
              <a:ea typeface="Calibri"/>
              <a:cs typeface="Calibri"/>
              <a:sym typeface="Calibri"/>
            </a:endParaRPr>
          </a:p>
        </p:txBody>
      </p:sp>
      <p:sp>
        <p:nvSpPr>
          <p:cNvPr id="1059" name="Google Shape;1059;p5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060" name="Google Shape;1060;p5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US.54 – Describe the constitutional issues and impact of the internment of Japanese Americans on the U.S., including the Fred Korematsu v. United States of America decision.</a:t>
            </a:r>
            <a:endParaRPr b="0" i="0" sz="1600" u="none" cap="none" strike="noStrike">
              <a:solidFill>
                <a:schemeClr val="dk1"/>
              </a:solidFill>
              <a:latin typeface="Calibri"/>
              <a:ea typeface="Calibri"/>
              <a:cs typeface="Calibri"/>
              <a:sym typeface="Calibri"/>
            </a:endParaRPr>
          </a:p>
        </p:txBody>
      </p:sp>
      <p:sp>
        <p:nvSpPr>
          <p:cNvPr id="1061" name="Google Shape;1061;p5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063" name="Google Shape;1063;p5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400" u="none" cap="none" strike="noStrike">
              <a:solidFill>
                <a:schemeClr val="dk1"/>
              </a:solidFill>
              <a:latin typeface="Calibri"/>
              <a:ea typeface="Calibri"/>
              <a:cs typeface="Calibri"/>
              <a:sym typeface="Calibri"/>
            </a:endParaRPr>
          </a:p>
        </p:txBody>
      </p:sp>
      <p:sp>
        <p:nvSpPr>
          <p:cNvPr id="1064" name="Google Shape;10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65" name="Google Shape;10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70" name="Shape 1070"/>
        <p:cNvGrpSpPr/>
        <p:nvPr/>
      </p:nvGrpSpPr>
      <p:grpSpPr>
        <a:xfrm>
          <a:off x="0" y="0"/>
          <a:ext cx="0" cy="0"/>
          <a:chOff x="0" y="0"/>
          <a:chExt cx="0" cy="0"/>
        </a:xfrm>
      </p:grpSpPr>
      <p:sp>
        <p:nvSpPr>
          <p:cNvPr id="1071" name="Google Shape;1071;p5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74" name="Google Shape;1074;p5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75" name="Google Shape;1075;p5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After Pearl Harbor, Executive Order 9066 (Feb 1942) authorized removal from military areas, leading to the incarceration of about 120,000 Japanese Americans in camps.</a:t>
            </a:r>
            <a:endParaRPr b="0" i="0" sz="2300" u="none" cap="none" strike="noStrike">
              <a:solidFill>
                <a:schemeClr val="dk1"/>
              </a:solidFill>
              <a:latin typeface="Calibri"/>
              <a:ea typeface="Calibri"/>
              <a:cs typeface="Calibri"/>
              <a:sym typeface="Calibri"/>
            </a:endParaRPr>
          </a:p>
        </p:txBody>
      </p:sp>
      <p:pic>
        <p:nvPicPr>
          <p:cNvPr descr="hh-web/public/images/textbook/unit-6/japanese-internment-mochida-family-1942.jpg" id="1076" name="Google Shape;1076;p5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077" name="Google Shape;1077;p5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078" name="Google Shape;1078;p5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DI 1 of 4 · Executive Order 9066 &amp; Internment</a:t>
            </a:r>
            <a:endParaRPr b="0" i="0" sz="1000" u="none" cap="none" strike="noStrike">
              <a:solidFill>
                <a:schemeClr val="dk1"/>
              </a:solidFill>
              <a:latin typeface="Calibri"/>
              <a:ea typeface="Calibri"/>
              <a:cs typeface="Calibri"/>
              <a:sym typeface="Calibri"/>
            </a:endParaRPr>
          </a:p>
        </p:txBody>
      </p:sp>
      <p:sp>
        <p:nvSpPr>
          <p:cNvPr id="1079" name="Google Shape;1079;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80" name="Google Shape;1080;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
        <p:nvSpPr>
          <p:cNvPr id="1081" name="TextBox 108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5" name="Shape 1085"/>
        <p:cNvGrpSpPr/>
        <p:nvPr/>
      </p:nvGrpSpPr>
      <p:grpSpPr>
        <a:xfrm>
          <a:off x="0" y="0"/>
          <a:ext cx="0" cy="0"/>
          <a:chOff x="0" y="0"/>
          <a:chExt cx="0" cy="0"/>
        </a:xfrm>
      </p:grpSpPr>
      <p:sp>
        <p:nvSpPr>
          <p:cNvPr id="1086" name="Google Shape;1086;p5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89" name="Google Shape;1089;p5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90" name="Google Shape;1090;p57"/>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Internment violated due process (no hearings or evidence of disloyalty) and equal protection — punishing people for ancestry, not acts.</a:t>
            </a:r>
            <a:endParaRPr b="0" i="0" sz="2300" u="none" cap="none" strike="noStrike">
              <a:solidFill>
                <a:schemeClr val="dk1"/>
              </a:solidFill>
              <a:latin typeface="Calibri"/>
              <a:ea typeface="Calibri"/>
              <a:cs typeface="Calibri"/>
              <a:sym typeface="Calibri"/>
            </a:endParaRPr>
          </a:p>
        </p:txBody>
      </p:sp>
      <p:sp>
        <p:nvSpPr>
          <p:cNvPr id="1091" name="Google Shape;1091;p57"/>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094" name="Google Shape;1094;p57"/>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Internment violated due process (no hearings or evidence of disloyalty) and equal protection — punishing people for ancestry, not acts.</a:t>
            </a:r>
            <a:endParaRPr b="0" i="0" sz="2200" u="none" cap="none" strike="noStrike">
              <a:solidFill>
                <a:schemeClr val="dk1"/>
              </a:solidFill>
              <a:latin typeface="Calibri"/>
              <a:ea typeface="Calibri"/>
              <a:cs typeface="Calibri"/>
              <a:sym typeface="Calibri"/>
            </a:endParaRPr>
          </a:p>
        </p:txBody>
      </p:sp>
      <p:sp>
        <p:nvSpPr>
          <p:cNvPr id="1095" name="Google Shape;1095;p5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DI 2 of 4 · Constitutional Issues</a:t>
            </a:r>
            <a:endParaRPr b="0" i="0" sz="1000" u="none" cap="none" strike="noStrike">
              <a:solidFill>
                <a:schemeClr val="dk1"/>
              </a:solidFill>
              <a:latin typeface="Calibri"/>
              <a:ea typeface="Calibri"/>
              <a:cs typeface="Calibri"/>
              <a:sym typeface="Calibri"/>
            </a:endParaRPr>
          </a:p>
        </p:txBody>
      </p:sp>
      <p:sp>
        <p:nvSpPr>
          <p:cNvPr id="1096" name="Google Shape;1096;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
        <p:nvSpPr>
          <p:cNvPr id="1098" name="TextBox 109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5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Fred Korematsu refused internment; in Korematsu v. United States (1944) the Supreme Court upheld the exclusion 6–3 on “wartime necessity” — a ruling later condemned.</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Fred Korematsu refused internment; in Korematsu v. United States (1944) the Supreme Court upheld the exclusion 6–3 on “wartime necessity” — a ruling later condemned.</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DI 3 of 4 · Korematsu v. United States (1944)</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5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123" name="Google Shape;1123;p5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24" name="Google Shape;1124;p5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9066 — note who issued it, when, and why before you weigh its words.</a:t>
            </a:r>
            <a:endParaRPr b="0" i="0" sz="2000" u="none" cap="none" strike="noStrike">
              <a:solidFill>
                <a:schemeClr val="dk1"/>
              </a:solidFill>
              <a:latin typeface="Calibri"/>
              <a:ea typeface="Calibri"/>
              <a:cs typeface="Calibri"/>
              <a:sym typeface="Calibri"/>
            </a:endParaRPr>
          </a:p>
        </p:txBody>
      </p:sp>
      <p:sp>
        <p:nvSpPr>
          <p:cNvPr id="1125" name="Google Shape;1125;p5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126" name="Google Shape;1126;p5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127" name="Google Shape;1127;p5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128" name="Google Shape;1128;p5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 1942</a:t>
            </a:r>
            <a:endParaRPr b="0" i="0" sz="1200" u="none" cap="none" strike="noStrike">
              <a:solidFill>
                <a:schemeClr val="dk1"/>
              </a:solidFill>
              <a:latin typeface="Calibri"/>
              <a:ea typeface="Calibri"/>
              <a:cs typeface="Calibri"/>
              <a:sym typeface="Calibri"/>
            </a:endParaRPr>
          </a:p>
        </p:txBody>
      </p:sp>
      <p:sp>
        <p:nvSpPr>
          <p:cNvPr id="1129" name="Google Shape;1129;p5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130" name="Google Shape;1130;p5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131" name="Google Shape;1131;p5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9066</a:t>
            </a:r>
            <a:endParaRPr b="0" i="0" sz="1400" u="none" cap="none" strike="noStrike">
              <a:solidFill>
                <a:schemeClr val="dk1"/>
              </a:solidFill>
              <a:latin typeface="Calibri"/>
              <a:ea typeface="Calibri"/>
              <a:cs typeface="Calibri"/>
              <a:sym typeface="Calibri"/>
            </a:endParaRPr>
          </a:p>
        </p:txBody>
      </p:sp>
      <p:sp>
        <p:nvSpPr>
          <p:cNvPr id="1133" name="Google Shape;1133;p5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February 19, 1942</a:t>
            </a:r>
            <a:endParaRPr b="0" i="0" sz="900" u="none" cap="none" strike="noStrike">
              <a:solidFill>
                <a:schemeClr val="dk1"/>
              </a:solidFill>
              <a:latin typeface="Calibri"/>
              <a:ea typeface="Calibri"/>
              <a:cs typeface="Calibri"/>
              <a:sym typeface="Calibri"/>
            </a:endParaRPr>
          </a:p>
        </p:txBody>
      </p:sp>
      <p:sp>
        <p:nvSpPr>
          <p:cNvPr id="1134" name="Google Shape;1134;p5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100" u="none" cap="none" strike="noStrike">
              <a:solidFill>
                <a:schemeClr val="dk1"/>
              </a:solidFill>
              <a:latin typeface="Calibri"/>
              <a:ea typeface="Calibri"/>
              <a:cs typeface="Calibri"/>
              <a:sym typeface="Calibri"/>
            </a:endParaRPr>
          </a:p>
        </p:txBody>
      </p:sp>
      <p:sp>
        <p:nvSpPr>
          <p:cNvPr id="1135" name="Google Shape;1135;p5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36" name="Google Shape;1136;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7" name="Google Shape;1137;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
        <p:nvSpPr>
          <p:cNvPr id="1138" name="TextBox 113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42" name="Shape 1142"/>
        <p:cNvGrpSpPr/>
        <p:nvPr/>
      </p:nvGrpSpPr>
      <p:grpSpPr>
        <a:xfrm>
          <a:off x="0" y="0"/>
          <a:ext cx="0" cy="0"/>
          <a:chOff x="0" y="0"/>
          <a:chExt cx="0" cy="0"/>
        </a:xfrm>
      </p:grpSpPr>
      <p:sp>
        <p:nvSpPr>
          <p:cNvPr id="1143" name="Google Shape;1143;p6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144" name="Google Shape;1144;p6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45" name="Google Shape;1145;p6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146" name="Google Shape;1146;p6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6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6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149" name="Google Shape;1149;p6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150" name="Google Shape;1150;p6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1" name="Google Shape;1151;p6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Wartime officials who claimed security justification, and some who acquired the property Japanese Americans were forced to abandon.</a:t>
            </a:r>
            <a:endParaRPr b="0" i="0" sz="1200" u="none" cap="none" strike="noStrike">
              <a:solidFill>
                <a:schemeClr val="dk1"/>
              </a:solidFill>
              <a:latin typeface="Calibri"/>
              <a:ea typeface="Calibri"/>
              <a:cs typeface="Calibri"/>
              <a:sym typeface="Calibri"/>
            </a:endParaRPr>
          </a:p>
        </p:txBody>
      </p:sp>
      <p:sp>
        <p:nvSpPr>
          <p:cNvPr id="1152" name="Google Shape;1152;p6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6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6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55" name="Google Shape;1155;p6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56" name="Google Shape;1156;p6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7" name="Google Shape;1157;p6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120,000 interned Japanese Americans who lost homes, businesses, and freedom — an estimated $400 million in property and lasting trauma.</a:t>
            </a:r>
            <a:endParaRPr b="0" i="0" sz="1200" u="none" cap="none" strike="noStrike">
              <a:solidFill>
                <a:schemeClr val="dk1"/>
              </a:solidFill>
              <a:latin typeface="Calibri"/>
              <a:ea typeface="Calibri"/>
              <a:cs typeface="Calibri"/>
              <a:sym typeface="Calibri"/>
            </a:endParaRPr>
          </a:p>
        </p:txBody>
      </p:sp>
      <p:sp>
        <p:nvSpPr>
          <p:cNvPr id="1158" name="Google Shape;1158;p6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6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6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61" name="Google Shape;1161;p6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162" name="Google Shape;1162;p6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63" name="Google Shape;1163;p6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signed EO 9066; the military, which carried out removal; and the Supreme Court, which upheld it in Korematsu.</a:t>
            </a:r>
            <a:endParaRPr b="0" i="0" sz="1200" u="none" cap="none" strike="noStrike">
              <a:solidFill>
                <a:schemeClr val="dk1"/>
              </a:solidFill>
              <a:latin typeface="Calibri"/>
              <a:ea typeface="Calibri"/>
              <a:cs typeface="Calibri"/>
              <a:sym typeface="Calibri"/>
            </a:endParaRPr>
          </a:p>
        </p:txBody>
      </p:sp>
      <p:sp>
        <p:nvSpPr>
          <p:cNvPr id="1164" name="Google Shape;1164;p6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9066, President Franklin D. Roosevelt, February 19, 1942 (National Archives)</a:t>
            </a:r>
            <a:endParaRPr b="0" i="0" sz="1000" u="none" cap="none" strike="noStrike">
              <a:solidFill>
                <a:schemeClr val="dk1"/>
              </a:solidFill>
              <a:latin typeface="Calibri"/>
              <a:ea typeface="Calibri"/>
              <a:cs typeface="Calibri"/>
              <a:sym typeface="Calibri"/>
            </a:endParaRPr>
          </a:p>
        </p:txBody>
      </p:sp>
      <p:sp>
        <p:nvSpPr>
          <p:cNvPr id="1165" name="Google Shape;116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66" name="Google Shape;116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
        <p:nvSpPr>
          <p:cNvPr id="1167" name="TextBox 11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71" name="Shape 1171"/>
        <p:cNvGrpSpPr/>
        <p:nvPr/>
      </p:nvGrpSpPr>
      <p:grpSpPr>
        <a:xfrm>
          <a:off x="0" y="0"/>
          <a:ext cx="0" cy="0"/>
          <a:chOff x="0" y="0"/>
          <a:chExt cx="0" cy="0"/>
        </a:xfrm>
      </p:grpSpPr>
      <p:sp>
        <p:nvSpPr>
          <p:cNvPr id="1172" name="Google Shape;1172;p6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6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US.55</a:t>
            </a:r>
            <a:endParaRPr b="0" i="0" sz="6000" u="none" cap="none" strike="noStrike">
              <a:solidFill>
                <a:schemeClr val="dk1"/>
              </a:solidFill>
              <a:latin typeface="Calibri"/>
              <a:ea typeface="Calibri"/>
              <a:cs typeface="Calibri"/>
              <a:sym typeface="Calibri"/>
            </a:endParaRPr>
          </a:p>
        </p:txBody>
      </p:sp>
      <p:sp>
        <p:nvSpPr>
          <p:cNvPr id="1174" name="Google Shape;1174;p6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Home Front Mobilization</a:t>
            </a:r>
            <a:endParaRPr b="0" i="0" sz="2600" u="none" cap="none" strike="noStrike">
              <a:solidFill>
                <a:schemeClr val="dk1"/>
              </a:solidFill>
              <a:latin typeface="Calibri"/>
              <a:ea typeface="Calibri"/>
              <a:cs typeface="Calibri"/>
              <a:sym typeface="Calibri"/>
            </a:endParaRPr>
          </a:p>
        </p:txBody>
      </p:sp>
      <p:sp>
        <p:nvSpPr>
          <p:cNvPr id="1175" name="Google Shape;1175;p6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176" name="Google Shape;1176;p6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US.55 – Describe the war's impact on the home front, including: rationing, bond drives, propaganda, movement to cities and industrial centers, Bracero program, conversion of factories for wartime production, location of prisoner of war camps in Tennessee.</a:t>
            </a:r>
            <a:endParaRPr b="0" i="0" sz="1600" u="none" cap="none" strike="noStrike">
              <a:solidFill>
                <a:schemeClr val="dk1"/>
              </a:solidFill>
              <a:latin typeface="Calibri"/>
              <a:ea typeface="Calibri"/>
              <a:cs typeface="Calibri"/>
              <a:sym typeface="Calibri"/>
            </a:endParaRPr>
          </a:p>
        </p:txBody>
      </p:sp>
      <p:sp>
        <p:nvSpPr>
          <p:cNvPr id="1177" name="Google Shape;1177;p6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6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179" name="Google Shape;1179;p6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400" u="none" cap="none" strike="noStrike">
              <a:solidFill>
                <a:schemeClr val="dk1"/>
              </a:solidFill>
              <a:latin typeface="Calibri"/>
              <a:ea typeface="Calibri"/>
              <a:cs typeface="Calibri"/>
              <a:sym typeface="Calibri"/>
            </a:endParaRPr>
          </a:p>
        </p:txBody>
      </p:sp>
      <p:sp>
        <p:nvSpPr>
          <p:cNvPr id="1180" name="Google Shape;1180;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1" name="Google Shape;1181;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6" name="Shape 1186"/>
        <p:cNvGrpSpPr/>
        <p:nvPr/>
      </p:nvGrpSpPr>
      <p:grpSpPr>
        <a:xfrm>
          <a:off x="0" y="0"/>
          <a:ext cx="0" cy="0"/>
          <a:chOff x="0" y="0"/>
          <a:chExt cx="0" cy="0"/>
        </a:xfrm>
      </p:grpSpPr>
      <p:sp>
        <p:nvSpPr>
          <p:cNvPr id="1187" name="Google Shape;1187;p6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6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6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90" name="Google Shape;1190;p6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191" name="Google Shape;1191;p6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Ration books with coupons controlled gasoline, tires, sugar, meat, and coffee so the military had enough — reshaping everyday civilian life.</a:t>
            </a:r>
            <a:endParaRPr b="0" i="0" sz="2300" u="none" cap="none" strike="noStrike">
              <a:solidFill>
                <a:schemeClr val="dk1"/>
              </a:solidFill>
              <a:latin typeface="Calibri"/>
              <a:ea typeface="Calibri"/>
              <a:cs typeface="Calibri"/>
              <a:sym typeface="Calibri"/>
            </a:endParaRPr>
          </a:p>
        </p:txBody>
      </p:sp>
      <p:pic>
        <p:nvPicPr>
          <p:cNvPr descr="hh-web/public/images/textbook/unit-6/victory-garden-home-front-1943.jpg" id="1192" name="Google Shape;1192;p6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193" name="Google Shape;1193;p6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194" name="Google Shape;1194;p6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DI 1 of 4 · Rationing &amp; Conservation</a:t>
            </a:r>
            <a:endParaRPr b="0" i="0" sz="1000" u="none" cap="none" strike="noStrike">
              <a:solidFill>
                <a:schemeClr val="dk1"/>
              </a:solidFill>
              <a:latin typeface="Calibri"/>
              <a:ea typeface="Calibri"/>
              <a:cs typeface="Calibri"/>
              <a:sym typeface="Calibri"/>
            </a:endParaRPr>
          </a:p>
        </p:txBody>
      </p:sp>
      <p:sp>
        <p:nvSpPr>
          <p:cNvPr id="1195" name="Google Shape;1195;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96" name="Google Shape;1196;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
        <p:nvSpPr>
          <p:cNvPr id="1197" name="TextBox 119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01" name="Shape 1201"/>
        <p:cNvGrpSpPr/>
        <p:nvPr/>
      </p:nvGrpSpPr>
      <p:grpSpPr>
        <a:xfrm>
          <a:off x="0" y="0"/>
          <a:ext cx="0" cy="0"/>
          <a:chOff x="0" y="0"/>
          <a:chExt cx="0" cy="0"/>
        </a:xfrm>
      </p:grpSpPr>
      <p:sp>
        <p:nvSpPr>
          <p:cNvPr id="1202" name="Google Shape;1202;p6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6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6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05" name="Google Shape;1205;p6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06" name="Google Shape;1206;p63"/>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Liberty and Victory bonds financed the war and gave civilians a stake in victory; bond drives used celebrities, posters, and patriotic appeals.</a:t>
            </a:r>
            <a:endParaRPr b="0" i="0" sz="2300" u="none" cap="none" strike="noStrike">
              <a:solidFill>
                <a:schemeClr val="dk1"/>
              </a:solidFill>
              <a:latin typeface="Calibri"/>
              <a:ea typeface="Calibri"/>
              <a:cs typeface="Calibri"/>
              <a:sym typeface="Calibri"/>
            </a:endParaRPr>
          </a:p>
        </p:txBody>
      </p:sp>
      <p:sp>
        <p:nvSpPr>
          <p:cNvPr id="1207" name="Google Shape;1207;p63"/>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63"/>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63"/>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10" name="Google Shape;1210;p63"/>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Liberty and Victory bonds financed the war and gave civilians a stake in victory; bond drives used celebrities, posters, and patriotic appeals.</a:t>
            </a:r>
            <a:endParaRPr b="0" i="0" sz="2200" u="none" cap="none" strike="noStrike">
              <a:solidFill>
                <a:schemeClr val="dk1"/>
              </a:solidFill>
              <a:latin typeface="Calibri"/>
              <a:ea typeface="Calibri"/>
              <a:cs typeface="Calibri"/>
              <a:sym typeface="Calibri"/>
            </a:endParaRPr>
          </a:p>
        </p:txBody>
      </p:sp>
      <p:sp>
        <p:nvSpPr>
          <p:cNvPr id="1211" name="Google Shape;1211;p6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DI 2 of 4 · War Bonds &amp; Propaganda</a:t>
            </a:r>
            <a:endParaRPr b="0" i="0" sz="1000" u="none" cap="none" strike="noStrike">
              <a:solidFill>
                <a:schemeClr val="dk1"/>
              </a:solidFill>
              <a:latin typeface="Calibri"/>
              <a:ea typeface="Calibri"/>
              <a:cs typeface="Calibri"/>
              <a:sym typeface="Calibri"/>
            </a:endParaRPr>
          </a:p>
        </p:txBody>
      </p:sp>
      <p:sp>
        <p:nvSpPr>
          <p:cNvPr id="1212" name="Google Shape;1212;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13" name="Google Shape;1213;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
        <p:nvSpPr>
          <p:cNvPr id="1214" name="TextBox 121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18" name="Shape 1218"/>
        <p:cNvGrpSpPr/>
        <p:nvPr/>
      </p:nvGrpSpPr>
      <p:grpSpPr>
        <a:xfrm>
          <a:off x="0" y="0"/>
          <a:ext cx="0" cy="0"/>
          <a:chOff x="0" y="0"/>
          <a:chExt cx="0" cy="0"/>
        </a:xfrm>
      </p:grpSpPr>
      <p:sp>
        <p:nvSpPr>
          <p:cNvPr id="1219" name="Google Shape;1219;p6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Millions moved to defense centers as auto plants converted to war production; the Bracero Program brought Mexican laborers to fill farm labor shortages.</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Millions moved to defense centers as auto plants converted to war production; the Bracero Program brought Mexican laborers to fill farm labor shortages.</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DI 3 of 4 · Migration, Factory Conversion &amp; Bracero</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
        <p:nvSpPr>
          <p:cNvPr id="1231" name="TextBox 12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35" name="Shape 1235"/>
        <p:cNvGrpSpPr/>
        <p:nvPr/>
      </p:nvGrpSpPr>
      <p:grpSpPr>
        <a:xfrm>
          <a:off x="0" y="0"/>
          <a:ext cx="0" cy="0"/>
          <a:chOff x="0" y="0"/>
          <a:chExt cx="0" cy="0"/>
        </a:xfrm>
      </p:grpSpPr>
      <p:sp>
        <p:nvSpPr>
          <p:cNvPr id="1236" name="Google Shape;1236;p6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6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6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239" name="Google Shape;1239;p6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40" name="Google Shape;1240;p6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Ration Book instructions — identify the issuing office and its purpose before you read the text.</a:t>
            </a:r>
            <a:endParaRPr b="0" i="0" sz="2000" u="none" cap="none" strike="noStrike">
              <a:solidFill>
                <a:schemeClr val="dk1"/>
              </a:solidFill>
              <a:latin typeface="Calibri"/>
              <a:ea typeface="Calibri"/>
              <a:cs typeface="Calibri"/>
              <a:sym typeface="Calibri"/>
            </a:endParaRPr>
          </a:p>
        </p:txBody>
      </p:sp>
      <p:sp>
        <p:nvSpPr>
          <p:cNvPr id="1241" name="Google Shape;1241;p6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242" name="Google Shape;1242;p6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Office of Price Administration</a:t>
            </a:r>
            <a:endParaRPr b="0" i="0" sz="1200" u="none" cap="none" strike="noStrike">
              <a:solidFill>
                <a:schemeClr val="dk1"/>
              </a:solidFill>
              <a:latin typeface="Calibri"/>
              <a:ea typeface="Calibri"/>
              <a:cs typeface="Calibri"/>
              <a:sym typeface="Calibri"/>
            </a:endParaRPr>
          </a:p>
        </p:txBody>
      </p:sp>
      <p:sp>
        <p:nvSpPr>
          <p:cNvPr id="1243" name="Google Shape;1243;p6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244" name="Google Shape;1244;p6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1245" name="Google Shape;1245;p6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246" name="Google Shape;1246;p6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247" name="Google Shape;1247;p6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Ration Book Instructions</a:t>
            </a:r>
            <a:endParaRPr b="0" i="0" sz="1400" u="none" cap="none" strike="noStrike">
              <a:solidFill>
                <a:schemeClr val="dk1"/>
              </a:solidFill>
              <a:latin typeface="Calibri"/>
              <a:ea typeface="Calibri"/>
              <a:cs typeface="Calibri"/>
              <a:sym typeface="Calibri"/>
            </a:endParaRPr>
          </a:p>
        </p:txBody>
      </p:sp>
      <p:sp>
        <p:nvSpPr>
          <p:cNvPr id="1249" name="Google Shape;1249;p6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Price Administration · 1943</a:t>
            </a:r>
            <a:endParaRPr b="0" i="0" sz="900" u="none" cap="none" strike="noStrike">
              <a:solidFill>
                <a:schemeClr val="dk1"/>
              </a:solidFill>
              <a:latin typeface="Calibri"/>
              <a:ea typeface="Calibri"/>
              <a:cs typeface="Calibri"/>
              <a:sym typeface="Calibri"/>
            </a:endParaRPr>
          </a:p>
        </p:txBody>
      </p:sp>
      <p:sp>
        <p:nvSpPr>
          <p:cNvPr id="1250" name="Google Shape;1250;p6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100" u="none" cap="none" strike="noStrike">
              <a:solidFill>
                <a:schemeClr val="dk1"/>
              </a:solidFill>
              <a:latin typeface="Calibri"/>
              <a:ea typeface="Calibri"/>
              <a:cs typeface="Calibri"/>
              <a:sym typeface="Calibri"/>
            </a:endParaRPr>
          </a:p>
        </p:txBody>
      </p:sp>
      <p:sp>
        <p:nvSpPr>
          <p:cNvPr id="1251" name="Google Shape;1251;p6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252" name="Google Shape;1252;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
        <p:nvSpPr>
          <p:cNvPr id="1254" name="TextBox 125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58" name="Shape 1258"/>
        <p:cNvGrpSpPr/>
        <p:nvPr/>
      </p:nvGrpSpPr>
      <p:grpSpPr>
        <a:xfrm>
          <a:off x="0" y="0"/>
          <a:ext cx="0" cy="0"/>
          <a:chOff x="0" y="0"/>
          <a:chExt cx="0" cy="0"/>
        </a:xfrm>
      </p:grpSpPr>
      <p:sp>
        <p:nvSpPr>
          <p:cNvPr id="1259" name="Google Shape;1259;p6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60" name="Google Shape;1260;p6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61" name="Google Shape;1261;p6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262" name="Google Shape;1262;p6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65" name="Google Shape;1265;p6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266" name="Google Shape;1266;p6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67" name="Google Shape;1267;p6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effort, financed and supplied by home-front sacrifice, and regions like Tennessee that gained industry, bases, and jobs.</a:t>
            </a:r>
            <a:endParaRPr b="0" i="0" sz="1200" u="none" cap="none" strike="noStrike">
              <a:solidFill>
                <a:schemeClr val="dk1"/>
              </a:solidFill>
              <a:latin typeface="Calibri"/>
              <a:ea typeface="Calibri"/>
              <a:cs typeface="Calibri"/>
              <a:sym typeface="Calibri"/>
            </a:endParaRPr>
          </a:p>
        </p:txBody>
      </p:sp>
      <p:sp>
        <p:nvSpPr>
          <p:cNvPr id="1268" name="Google Shape;1268;p6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271" name="Google Shape;1271;p6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272" name="Google Shape;1272;p6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3" name="Google Shape;1273;p6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Civilians who gave up goods to rationing, families separated by wartime migration, and communities strained by rapid, crowded growth.</a:t>
            </a:r>
            <a:endParaRPr b="0" i="0" sz="1200" u="none" cap="none" strike="noStrike">
              <a:solidFill>
                <a:schemeClr val="dk1"/>
              </a:solidFill>
              <a:latin typeface="Calibri"/>
              <a:ea typeface="Calibri"/>
              <a:cs typeface="Calibri"/>
              <a:sym typeface="Calibri"/>
            </a:endParaRPr>
          </a:p>
        </p:txBody>
      </p:sp>
      <p:sp>
        <p:nvSpPr>
          <p:cNvPr id="1274" name="Google Shape;1274;p6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277" name="Google Shape;1277;p6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78" name="Google Shape;1278;p6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9" name="Google Shape;1279;p6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Federal agencies like the Office of Price Administration and War Production Board that set rationing, bond, and production policy.</a:t>
            </a:r>
            <a:endParaRPr b="0" i="0" sz="1200" u="none" cap="none" strike="noStrike">
              <a:solidFill>
                <a:schemeClr val="dk1"/>
              </a:solidFill>
              <a:latin typeface="Calibri"/>
              <a:ea typeface="Calibri"/>
              <a:cs typeface="Calibri"/>
              <a:sym typeface="Calibri"/>
            </a:endParaRPr>
          </a:p>
        </p:txBody>
      </p:sp>
      <p:sp>
        <p:nvSpPr>
          <p:cNvPr id="1280" name="Google Shape;1280;p6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Ration Book Instructions, Office of Price Administration, 1943 (National Archives)</a:t>
            </a:r>
            <a:endParaRPr b="0" i="0" sz="1000" u="none" cap="none" strike="noStrike">
              <a:solidFill>
                <a:schemeClr val="dk1"/>
              </a:solidFill>
              <a:latin typeface="Calibri"/>
              <a:ea typeface="Calibri"/>
              <a:cs typeface="Calibri"/>
              <a:sym typeface="Calibri"/>
            </a:endParaRPr>
          </a:p>
        </p:txBody>
      </p:sp>
      <p:sp>
        <p:nvSpPr>
          <p:cNvPr id="1281" name="Google Shape;1281;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2" name="Google Shape;1282;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
        <p:nvSpPr>
          <p:cNvPr id="1283" name="TextBox 128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87" name="Shape 1287"/>
        <p:cNvGrpSpPr/>
        <p:nvPr/>
      </p:nvGrpSpPr>
      <p:grpSpPr>
        <a:xfrm>
          <a:off x="0" y="0"/>
          <a:ext cx="0" cy="0"/>
          <a:chOff x="0" y="0"/>
          <a:chExt cx="0" cy="0"/>
        </a:xfrm>
      </p:grpSpPr>
      <p:sp>
        <p:nvSpPr>
          <p:cNvPr id="1288" name="Google Shape;1288;p6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US.56</a:t>
            </a:r>
            <a:endParaRPr b="0" i="0" sz="6000" u="none" cap="none" strike="noStrike">
              <a:solidFill>
                <a:schemeClr val="dk1"/>
              </a:solidFill>
              <a:latin typeface="Calibri"/>
              <a:ea typeface="Calibri"/>
              <a:cs typeface="Calibri"/>
              <a:sym typeface="Calibri"/>
            </a:endParaRPr>
          </a:p>
        </p:txBody>
      </p:sp>
      <p:sp>
        <p:nvSpPr>
          <p:cNvPr id="1290" name="Google Shape;1290;p6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Manhattan Project &amp; Atomic Bomb</a:t>
            </a:r>
            <a:endParaRPr b="0" i="0" sz="2600" u="none" cap="none" strike="noStrike">
              <a:solidFill>
                <a:schemeClr val="dk1"/>
              </a:solidFill>
              <a:latin typeface="Calibri"/>
              <a:ea typeface="Calibri"/>
              <a:cs typeface="Calibri"/>
              <a:sym typeface="Calibri"/>
            </a:endParaRPr>
          </a:p>
        </p:txBody>
      </p:sp>
      <p:sp>
        <p:nvSpPr>
          <p:cNvPr id="1291" name="Google Shape;1291;p6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292" name="Google Shape;1292;p6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US.56 – Describe the Manhattan Project and explain the rationale for using the atomic bomb to end the war.</a:t>
            </a:r>
            <a:endParaRPr b="0" i="0" sz="1600" u="none" cap="none" strike="noStrike">
              <a:solidFill>
                <a:schemeClr val="dk1"/>
              </a:solidFill>
              <a:latin typeface="Calibri"/>
              <a:ea typeface="Calibri"/>
              <a:cs typeface="Calibri"/>
              <a:sym typeface="Calibri"/>
            </a:endParaRPr>
          </a:p>
        </p:txBody>
      </p:sp>
      <p:sp>
        <p:nvSpPr>
          <p:cNvPr id="1293" name="Google Shape;1293;p6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295" name="Google Shape;1295;p6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400" u="none" cap="none" strike="noStrike">
              <a:solidFill>
                <a:schemeClr val="dk1"/>
              </a:solidFill>
              <a:latin typeface="Calibri"/>
              <a:ea typeface="Calibri"/>
              <a:cs typeface="Calibri"/>
              <a:sym typeface="Calibri"/>
            </a:endParaRPr>
          </a:p>
        </p:txBody>
      </p:sp>
      <p:sp>
        <p:nvSpPr>
          <p:cNvPr id="1296" name="Google Shape;129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97" name="Google Shape;129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02" name="Shape 1302"/>
        <p:cNvGrpSpPr/>
        <p:nvPr/>
      </p:nvGrpSpPr>
      <p:grpSpPr>
        <a:xfrm>
          <a:off x="0" y="0"/>
          <a:ext cx="0" cy="0"/>
          <a:chOff x="0" y="0"/>
          <a:chExt cx="0" cy="0"/>
        </a:xfrm>
      </p:grpSpPr>
      <p:sp>
        <p:nvSpPr>
          <p:cNvPr id="1303" name="Google Shape;1303;p6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06" name="Google Shape;1306;p6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07" name="Google Shape;1307;p6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Oak Ridge, TN was chosen to enrich uranium for its remote security, abundant TVA electric power, and good transportation — a secret city built almost overnight.</a:t>
            </a:r>
            <a:endParaRPr b="0" i="0" sz="2300" u="none" cap="none" strike="noStrike">
              <a:solidFill>
                <a:schemeClr val="dk1"/>
              </a:solidFill>
              <a:latin typeface="Calibri"/>
              <a:ea typeface="Calibri"/>
              <a:cs typeface="Calibri"/>
              <a:sym typeface="Calibri"/>
            </a:endParaRPr>
          </a:p>
        </p:txBody>
      </p:sp>
      <p:sp>
        <p:nvSpPr>
          <p:cNvPr id="1308" name="Google Shape;1308;p6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11" name="Google Shape;1311;p6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Oak Ridge, TN was chosen to enrich uranium for its remote security, abundant TVA electric power, and good transportation — a secret city built almost overnight.</a:t>
            </a:r>
            <a:endParaRPr b="0" i="0" sz="2200" u="none" cap="none" strike="noStrike">
              <a:solidFill>
                <a:schemeClr val="dk1"/>
              </a:solidFill>
              <a:latin typeface="Calibri"/>
              <a:ea typeface="Calibri"/>
              <a:cs typeface="Calibri"/>
              <a:sym typeface="Calibri"/>
            </a:endParaRPr>
          </a:p>
        </p:txBody>
      </p:sp>
      <p:sp>
        <p:nvSpPr>
          <p:cNvPr id="1312" name="Google Shape;1312;p6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DI 1 of 4 · Oak Ridge, Tennessee Selection</a:t>
            </a:r>
            <a:endParaRPr b="0" i="0" sz="1000" u="none" cap="none" strike="noStrike">
              <a:solidFill>
                <a:schemeClr val="dk1"/>
              </a:solidFill>
              <a:latin typeface="Calibri"/>
              <a:ea typeface="Calibri"/>
              <a:cs typeface="Calibri"/>
              <a:sym typeface="Calibri"/>
            </a:endParaRPr>
          </a:p>
        </p:txBody>
      </p:sp>
      <p:sp>
        <p:nvSpPr>
          <p:cNvPr id="1313" name="Google Shape;1313;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14" name="Google Shape;1314;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
        <p:nvSpPr>
          <p:cNvPr id="1315" name="TextBox 13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19" name="Shape 1319"/>
        <p:cNvGrpSpPr/>
        <p:nvPr/>
      </p:nvGrpSpPr>
      <p:grpSpPr>
        <a:xfrm>
          <a:off x="0" y="0"/>
          <a:ext cx="0" cy="0"/>
          <a:chOff x="0" y="0"/>
          <a:chExt cx="0" cy="0"/>
        </a:xfrm>
      </p:grpSpPr>
      <p:sp>
        <p:nvSpPr>
          <p:cNvPr id="1320" name="Google Shape;1320;p6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Manhattan Project was a secret, multi-site program — Los Alamos (design), Oak Ridge (uranium), Hanford (plutonium) — led by Gen. Groves and physicist Oppenheimer.</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Manhattan Project was a secret, multi-site program — Los Alamos (design), Oak Ridge (uranium), Hanford (plutonium) — led by Gen. Groves and physicist Oppenheimer.</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DI 2 of 4 · Manhattan Project Overview</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
        <p:nvSpPr>
          <p:cNvPr id="1332" name="TextBox 133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36" name="Shape 1336"/>
        <p:cNvGrpSpPr/>
        <p:nvPr/>
      </p:nvGrpSpPr>
      <p:grpSpPr>
        <a:xfrm>
          <a:off x="0" y="0"/>
          <a:ext cx="0" cy="0"/>
          <a:chOff x="0" y="0"/>
          <a:chExt cx="0" cy="0"/>
        </a:xfrm>
      </p:grpSpPr>
      <p:sp>
        <p:nvSpPr>
          <p:cNvPr id="1337" name="Google Shape;1337;p7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7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7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40" name="Google Shape;1340;p7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41" name="Google Shape;1341;p7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President Truman authorized the atomic bombs to end the war quickly and avoid a costly invasion of Japan projected to cost hundreds of thousands of lives.</a:t>
            </a:r>
            <a:endParaRPr b="0" i="0" sz="2300" u="none" cap="none" strike="noStrike">
              <a:solidFill>
                <a:schemeClr val="dk1"/>
              </a:solidFill>
              <a:latin typeface="Calibri"/>
              <a:ea typeface="Calibri"/>
              <a:cs typeface="Calibri"/>
              <a:sym typeface="Calibri"/>
            </a:endParaRPr>
          </a:p>
        </p:txBody>
      </p:sp>
      <p:pic>
        <p:nvPicPr>
          <p:cNvPr descr="hh-web/public/images/textbook/unit-6/nagasaki-atomic-bomb-1945.jpg" id="1342" name="Google Shape;1342;p7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343" name="Google Shape;1343;p7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344" name="Google Shape;1344;p7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DI 3 of 4 · Rationale for Using Atomic Weapons</a:t>
            </a:r>
            <a:endParaRPr b="0" i="0" sz="1000" u="none" cap="none" strike="noStrike">
              <a:solidFill>
                <a:schemeClr val="dk1"/>
              </a:solidFill>
              <a:latin typeface="Calibri"/>
              <a:ea typeface="Calibri"/>
              <a:cs typeface="Calibri"/>
              <a:sym typeface="Calibri"/>
            </a:endParaRPr>
          </a:p>
        </p:txBody>
      </p:sp>
      <p:sp>
        <p:nvSpPr>
          <p:cNvPr id="1345" name="Google Shape;134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6" name="Google Shape;134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
        <p:nvSpPr>
          <p:cNvPr id="1347" name="TextBox 134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51" name="Shape 1351"/>
        <p:cNvGrpSpPr/>
        <p:nvPr/>
      </p:nvGrpSpPr>
      <p:grpSpPr>
        <a:xfrm>
          <a:off x="0" y="0"/>
          <a:ext cx="0" cy="0"/>
          <a:chOff x="0" y="0"/>
          <a:chExt cx="0" cy="0"/>
        </a:xfrm>
      </p:grpSpPr>
      <p:sp>
        <p:nvSpPr>
          <p:cNvPr id="1352" name="Google Shape;1352;p7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7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7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355" name="Google Shape;1355;p7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56" name="Google Shape;1356;p7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Truman’s Statement on the Atomic Bomb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1357" name="Google Shape;1357;p7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358" name="Google Shape;1358;p7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Harry S. Truman</a:t>
            </a:r>
            <a:endParaRPr b="0" i="0" sz="1200" u="none" cap="none" strike="noStrike">
              <a:solidFill>
                <a:schemeClr val="dk1"/>
              </a:solidFill>
              <a:latin typeface="Calibri"/>
              <a:ea typeface="Calibri"/>
              <a:cs typeface="Calibri"/>
              <a:sym typeface="Calibri"/>
            </a:endParaRPr>
          </a:p>
        </p:txBody>
      </p:sp>
      <p:sp>
        <p:nvSpPr>
          <p:cNvPr id="1359" name="Google Shape;1359;p7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360" name="Google Shape;1360;p7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August 6, 1945</a:t>
            </a:r>
            <a:endParaRPr b="0" i="0" sz="1200" u="none" cap="none" strike="noStrike">
              <a:solidFill>
                <a:schemeClr val="dk1"/>
              </a:solidFill>
              <a:latin typeface="Calibri"/>
              <a:ea typeface="Calibri"/>
              <a:cs typeface="Calibri"/>
              <a:sym typeface="Calibri"/>
            </a:endParaRPr>
          </a:p>
        </p:txBody>
      </p:sp>
      <p:sp>
        <p:nvSpPr>
          <p:cNvPr id="1361" name="Google Shape;1361;p7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362" name="Google Shape;1362;p7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363" name="Google Shape;1363;p7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7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Statement on the Atomic Bomb</a:t>
            </a:r>
            <a:endParaRPr b="0" i="0" sz="1400" u="none" cap="none" strike="noStrike">
              <a:solidFill>
                <a:schemeClr val="dk1"/>
              </a:solidFill>
              <a:latin typeface="Calibri"/>
              <a:ea typeface="Calibri"/>
              <a:cs typeface="Calibri"/>
              <a:sym typeface="Calibri"/>
            </a:endParaRPr>
          </a:p>
        </p:txBody>
      </p:sp>
      <p:sp>
        <p:nvSpPr>
          <p:cNvPr id="1365" name="Google Shape;1365;p7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Harry S. Truman · August 6, 1945</a:t>
            </a:r>
            <a:endParaRPr b="0" i="0" sz="900" u="none" cap="none" strike="noStrike">
              <a:solidFill>
                <a:schemeClr val="dk1"/>
              </a:solidFill>
              <a:latin typeface="Calibri"/>
              <a:ea typeface="Calibri"/>
              <a:cs typeface="Calibri"/>
              <a:sym typeface="Calibri"/>
            </a:endParaRPr>
          </a:p>
        </p:txBody>
      </p:sp>
      <p:sp>
        <p:nvSpPr>
          <p:cNvPr id="1366" name="Google Shape;1366;p7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100" u="none" cap="none" strike="noStrike">
              <a:solidFill>
                <a:schemeClr val="dk1"/>
              </a:solidFill>
              <a:latin typeface="Calibri"/>
              <a:ea typeface="Calibri"/>
              <a:cs typeface="Calibri"/>
              <a:sym typeface="Calibri"/>
            </a:endParaRPr>
          </a:p>
        </p:txBody>
      </p:sp>
      <p:sp>
        <p:nvSpPr>
          <p:cNvPr id="1367" name="Google Shape;1367;p7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1368" name="Google Shape;1368;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69" name="Google Shape;1369;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
        <p:nvSpPr>
          <p:cNvPr id="1370" name="TextBox 136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74" name="Shape 1374"/>
        <p:cNvGrpSpPr/>
        <p:nvPr/>
      </p:nvGrpSpPr>
      <p:grpSpPr>
        <a:xfrm>
          <a:off x="0" y="0"/>
          <a:ext cx="0" cy="0"/>
          <a:chOff x="0" y="0"/>
          <a:chExt cx="0" cy="0"/>
        </a:xfrm>
      </p:grpSpPr>
      <p:sp>
        <p:nvSpPr>
          <p:cNvPr id="1375" name="Google Shape;1375;p7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376" name="Google Shape;1376;p7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77" name="Google Shape;1377;p7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378" name="Google Shape;1378;p7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7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7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381" name="Google Shape;1381;p7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382" name="Google Shape;1382;p7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3" name="Google Shape;1383;p7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United States, which ended the war and emerged as a nuclear superpower, and Oak Ridge, Tennessee, transformed by the project.</a:t>
            </a:r>
            <a:endParaRPr b="0" i="0" sz="1200" u="none" cap="none" strike="noStrike">
              <a:solidFill>
                <a:schemeClr val="dk1"/>
              </a:solidFill>
              <a:latin typeface="Calibri"/>
              <a:ea typeface="Calibri"/>
              <a:cs typeface="Calibri"/>
              <a:sym typeface="Calibri"/>
            </a:endParaRPr>
          </a:p>
        </p:txBody>
      </p:sp>
      <p:sp>
        <p:nvSpPr>
          <p:cNvPr id="1384" name="Google Shape;1384;p7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7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7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87" name="Google Shape;1387;p7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88" name="Google Shape;1388;p7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9" name="Google Shape;1389;p7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thousands of Japanese civilians killed and injured at Hiroshima and Nagasaki, and survivors who suffered lasting effects.</a:t>
            </a:r>
            <a:endParaRPr b="0" i="0" sz="1200" u="none" cap="none" strike="noStrike">
              <a:solidFill>
                <a:schemeClr val="dk1"/>
              </a:solidFill>
              <a:latin typeface="Calibri"/>
              <a:ea typeface="Calibri"/>
              <a:cs typeface="Calibri"/>
              <a:sym typeface="Calibri"/>
            </a:endParaRPr>
          </a:p>
        </p:txBody>
      </p:sp>
      <p:sp>
        <p:nvSpPr>
          <p:cNvPr id="1390" name="Google Shape;1390;p7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7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7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93" name="Google Shape;1393;p7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394" name="Google Shape;1394;p7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95" name="Google Shape;1395;p7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Truman, who authorized the bombings, and the scientists and military leaders of the Manhattan Project who built the weapon.</a:t>
            </a:r>
            <a:endParaRPr b="0" i="0" sz="1200" u="none" cap="none" strike="noStrike">
              <a:solidFill>
                <a:schemeClr val="dk1"/>
              </a:solidFill>
              <a:latin typeface="Calibri"/>
              <a:ea typeface="Calibri"/>
              <a:cs typeface="Calibri"/>
              <a:sym typeface="Calibri"/>
            </a:endParaRPr>
          </a:p>
        </p:txBody>
      </p:sp>
      <p:sp>
        <p:nvSpPr>
          <p:cNvPr id="1396" name="Google Shape;1396;p7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Statement on the Atomic Bomb, President Harry S. Truman, August 6, 1945 (Harry S. Truman Presidential Library)</a:t>
            </a:r>
            <a:endParaRPr b="0" i="0" sz="1000" u="none" cap="none" strike="noStrike">
              <a:solidFill>
                <a:schemeClr val="dk1"/>
              </a:solidFill>
              <a:latin typeface="Calibri"/>
              <a:ea typeface="Calibri"/>
              <a:cs typeface="Calibri"/>
              <a:sym typeface="Calibri"/>
            </a:endParaRPr>
          </a:p>
        </p:txBody>
      </p:sp>
      <p:sp>
        <p:nvSpPr>
          <p:cNvPr id="1397" name="Google Shape;1397;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8" name="Google Shape;1398;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
        <p:nvSpPr>
          <p:cNvPr id="1399" name="TextBox 13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03" name="Shape 1403"/>
        <p:cNvGrpSpPr/>
        <p:nvPr/>
      </p:nvGrpSpPr>
      <p:grpSpPr>
        <a:xfrm>
          <a:off x="0" y="0"/>
          <a:ext cx="0" cy="0"/>
          <a:chOff x="0" y="0"/>
          <a:chExt cx="0" cy="0"/>
        </a:xfrm>
      </p:grpSpPr>
      <p:sp>
        <p:nvSpPr>
          <p:cNvPr id="1404" name="Google Shape;1404;p7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7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US.57</a:t>
            </a:r>
            <a:endParaRPr b="0" i="0" sz="6000" u="none" cap="none" strike="noStrike">
              <a:solidFill>
                <a:schemeClr val="dk1"/>
              </a:solidFill>
              <a:latin typeface="Calibri"/>
              <a:ea typeface="Calibri"/>
              <a:cs typeface="Calibri"/>
              <a:sym typeface="Calibri"/>
            </a:endParaRPr>
          </a:p>
        </p:txBody>
      </p:sp>
      <p:sp>
        <p:nvSpPr>
          <p:cNvPr id="1406" name="Google Shape;1406;p7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Yalta and Potsdam Conferences</a:t>
            </a:r>
            <a:endParaRPr b="0" i="0" sz="2600" u="none" cap="none" strike="noStrike">
              <a:solidFill>
                <a:schemeClr val="dk1"/>
              </a:solidFill>
              <a:latin typeface="Calibri"/>
              <a:ea typeface="Calibri"/>
              <a:cs typeface="Calibri"/>
              <a:sym typeface="Calibri"/>
            </a:endParaRPr>
          </a:p>
        </p:txBody>
      </p:sp>
      <p:sp>
        <p:nvSpPr>
          <p:cNvPr id="1407" name="Google Shape;1407;p7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408" name="Google Shape;1408;p7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US.57 – Explain the major outcomes of the Yalta and Potsdam Conferences.</a:t>
            </a:r>
            <a:endParaRPr b="0" i="0" sz="1600" u="none" cap="none" strike="noStrike">
              <a:solidFill>
                <a:schemeClr val="dk1"/>
              </a:solidFill>
              <a:latin typeface="Calibri"/>
              <a:ea typeface="Calibri"/>
              <a:cs typeface="Calibri"/>
              <a:sym typeface="Calibri"/>
            </a:endParaRPr>
          </a:p>
        </p:txBody>
      </p:sp>
      <p:sp>
        <p:nvSpPr>
          <p:cNvPr id="1409" name="Google Shape;1409;p7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7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411" name="Google Shape;1411;p7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major outcomes of the Yalta and Potsdam Conferences.</a:t>
            </a:r>
            <a:endParaRPr b="0" i="0" sz="1400" u="none" cap="none" strike="noStrike">
              <a:solidFill>
                <a:schemeClr val="dk1"/>
              </a:solidFill>
              <a:latin typeface="Calibri"/>
              <a:ea typeface="Calibri"/>
              <a:cs typeface="Calibri"/>
              <a:sym typeface="Calibri"/>
            </a:endParaRPr>
          </a:p>
        </p:txBody>
      </p:sp>
      <p:sp>
        <p:nvSpPr>
          <p:cNvPr id="1412" name="Google Shape;1412;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13" name="Google Shape;1413;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8" name="Shape 1418"/>
        <p:cNvGrpSpPr/>
        <p:nvPr/>
      </p:nvGrpSpPr>
      <p:grpSpPr>
        <a:xfrm>
          <a:off x="0" y="0"/>
          <a:ext cx="0" cy="0"/>
          <a:chOff x="0" y="0"/>
          <a:chExt cx="0" cy="0"/>
        </a:xfrm>
      </p:grpSpPr>
      <p:sp>
        <p:nvSpPr>
          <p:cNvPr id="1419" name="Google Shape;1419;p7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7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7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22" name="Google Shape;1422;p7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23" name="Google Shape;1423;p7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At Yalta (Feb 1945), FDR, Churchill, and Stalin planned the UN, the division of Germany into occupation zones, and “free elections” in Eastern Europe — a promise Stalin broke.</a:t>
            </a:r>
            <a:endParaRPr b="0" i="0" sz="2300" u="none" cap="none" strike="noStrike">
              <a:solidFill>
                <a:schemeClr val="dk1"/>
              </a:solidFill>
              <a:latin typeface="Calibri"/>
              <a:ea typeface="Calibri"/>
              <a:cs typeface="Calibri"/>
              <a:sym typeface="Calibri"/>
            </a:endParaRPr>
          </a:p>
        </p:txBody>
      </p:sp>
      <p:pic>
        <p:nvPicPr>
          <p:cNvPr descr="hh-web/public/images/textbook/unit-6/yalta-conference-big-three-1945.jpg" id="1424" name="Google Shape;1424;p7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425" name="Google Shape;1425;p7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426" name="Google Shape;1426;p7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DI 1 of 4 · Yalta Conference (Feb 1945)</a:t>
            </a:r>
            <a:endParaRPr b="0" i="0" sz="1000" u="none" cap="none" strike="noStrike">
              <a:solidFill>
                <a:schemeClr val="dk1"/>
              </a:solidFill>
              <a:latin typeface="Calibri"/>
              <a:ea typeface="Calibri"/>
              <a:cs typeface="Calibri"/>
              <a:sym typeface="Calibri"/>
            </a:endParaRPr>
          </a:p>
        </p:txBody>
      </p:sp>
      <p:sp>
        <p:nvSpPr>
          <p:cNvPr id="1427" name="Google Shape;1427;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8" name="Google Shape;1428;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
        <p:nvSpPr>
          <p:cNvPr id="1429" name="TextBox 142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3" name="Shape 1433"/>
        <p:cNvGrpSpPr/>
        <p:nvPr/>
      </p:nvGrpSpPr>
      <p:grpSpPr>
        <a:xfrm>
          <a:off x="0" y="0"/>
          <a:ext cx="0" cy="0"/>
          <a:chOff x="0" y="0"/>
          <a:chExt cx="0" cy="0"/>
        </a:xfrm>
      </p:grpSpPr>
      <p:sp>
        <p:nvSpPr>
          <p:cNvPr id="1434" name="Google Shape;1434;p7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7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7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37" name="Google Shape;1437;p7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38" name="Google Shape;1438;p7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At Potsdam (Jul–Aug 1945), Truman, Stalin, and Churchill (then Attlee) met as Germany surrendered; disputes over Eastern Europe deepened distrust.</a:t>
            </a:r>
            <a:endParaRPr b="0" i="0" sz="2300" u="none" cap="none" strike="noStrike">
              <a:solidFill>
                <a:schemeClr val="dk1"/>
              </a:solidFill>
              <a:latin typeface="Calibri"/>
              <a:ea typeface="Calibri"/>
              <a:cs typeface="Calibri"/>
              <a:sym typeface="Calibri"/>
            </a:endParaRPr>
          </a:p>
        </p:txBody>
      </p:sp>
      <p:sp>
        <p:nvSpPr>
          <p:cNvPr id="1439" name="Google Shape;1439;p7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7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7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42" name="Google Shape;1442;p7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At Potsdam (Jul–Aug 1945), Truman, Stalin, and Churchill (then Attlee) met as Germany surrendered; disputes over Eastern Europe deepened distrust.</a:t>
            </a:r>
            <a:endParaRPr b="0" i="0" sz="2200" u="none" cap="none" strike="noStrike">
              <a:solidFill>
                <a:schemeClr val="dk1"/>
              </a:solidFill>
              <a:latin typeface="Calibri"/>
              <a:ea typeface="Calibri"/>
              <a:cs typeface="Calibri"/>
              <a:sym typeface="Calibri"/>
            </a:endParaRPr>
          </a:p>
        </p:txBody>
      </p:sp>
      <p:sp>
        <p:nvSpPr>
          <p:cNvPr id="1443" name="Google Shape;1443;p7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DI 2 of 4 · Potsdam Conference (Jul–Aug 1945)</a:t>
            </a:r>
            <a:endParaRPr b="0" i="0" sz="1000" u="none" cap="none" strike="noStrike">
              <a:solidFill>
                <a:schemeClr val="dk1"/>
              </a:solidFill>
              <a:latin typeface="Calibri"/>
              <a:ea typeface="Calibri"/>
              <a:cs typeface="Calibri"/>
              <a:sym typeface="Calibri"/>
            </a:endParaRPr>
          </a:p>
        </p:txBody>
      </p:sp>
      <p:sp>
        <p:nvSpPr>
          <p:cNvPr id="1444" name="Google Shape;1444;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5" name="Google Shape;1445;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
        <p:nvSpPr>
          <p:cNvPr id="1446" name="TextBox 144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0" name="Shape 1450"/>
        <p:cNvGrpSpPr/>
        <p:nvPr/>
      </p:nvGrpSpPr>
      <p:grpSpPr>
        <a:xfrm>
          <a:off x="0" y="0"/>
          <a:ext cx="0" cy="0"/>
          <a:chOff x="0" y="0"/>
          <a:chExt cx="0" cy="0"/>
        </a:xfrm>
      </p:grpSpPr>
      <p:sp>
        <p:nvSpPr>
          <p:cNvPr id="1451" name="Google Shape;1451;p7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Disagreement over Eastern Europe proved irreconcilable — Stalin's “free elections” meant communist governments — seeding the U.S.–Soviet Cold War.</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Disagreement over Eastern Europe proved irreconcilable — Stalin's “free elections” meant communist governments — seeding the U.S.–Soviet Cold War.</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DI 3 of 4 · Cold War Origins</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
        <p:nvSpPr>
          <p:cNvPr id="1463" name="TextBox 146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67" name="Shape 1467"/>
        <p:cNvGrpSpPr/>
        <p:nvPr/>
      </p:nvGrpSpPr>
      <p:grpSpPr>
        <a:xfrm>
          <a:off x="0" y="0"/>
          <a:ext cx="0" cy="0"/>
          <a:chOff x="0" y="0"/>
          <a:chExt cx="0" cy="0"/>
        </a:xfrm>
      </p:grpSpPr>
      <p:sp>
        <p:nvSpPr>
          <p:cNvPr id="1468" name="Google Shape;1468;p7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7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7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471" name="Google Shape;1471;p7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72" name="Google Shape;1472;p7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Yalta Conference Communiqué — weigh who issued it and why before you read the agreements.</a:t>
            </a:r>
            <a:endParaRPr b="0" i="0" sz="2000" u="none" cap="none" strike="noStrike">
              <a:solidFill>
                <a:schemeClr val="dk1"/>
              </a:solidFill>
              <a:latin typeface="Calibri"/>
              <a:ea typeface="Calibri"/>
              <a:cs typeface="Calibri"/>
              <a:sym typeface="Calibri"/>
            </a:endParaRPr>
          </a:p>
        </p:txBody>
      </p:sp>
      <p:sp>
        <p:nvSpPr>
          <p:cNvPr id="1473" name="Google Shape;1473;p7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474" name="Google Shape;1474;p7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Roosevelt, Churchill, and Stalin</a:t>
            </a:r>
            <a:endParaRPr b="0" i="0" sz="1200" u="none" cap="none" strike="noStrike">
              <a:solidFill>
                <a:schemeClr val="dk1"/>
              </a:solidFill>
              <a:latin typeface="Calibri"/>
              <a:ea typeface="Calibri"/>
              <a:cs typeface="Calibri"/>
              <a:sym typeface="Calibri"/>
            </a:endParaRPr>
          </a:p>
        </p:txBody>
      </p:sp>
      <p:sp>
        <p:nvSpPr>
          <p:cNvPr id="1475" name="Google Shape;1475;p7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476" name="Google Shape;1476;p7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1945</a:t>
            </a:r>
            <a:endParaRPr b="0" i="0" sz="1200" u="none" cap="none" strike="noStrike">
              <a:solidFill>
                <a:schemeClr val="dk1"/>
              </a:solidFill>
              <a:latin typeface="Calibri"/>
              <a:ea typeface="Calibri"/>
              <a:cs typeface="Calibri"/>
              <a:sym typeface="Calibri"/>
            </a:endParaRPr>
          </a:p>
        </p:txBody>
      </p:sp>
      <p:sp>
        <p:nvSpPr>
          <p:cNvPr id="1477" name="Google Shape;1477;p7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478" name="Google Shape;1478;p7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479" name="Google Shape;1479;p7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7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Yalta Conference Communiqué</a:t>
            </a:r>
            <a:endParaRPr b="0" i="0" sz="1400" u="none" cap="none" strike="noStrike">
              <a:solidFill>
                <a:schemeClr val="dk1"/>
              </a:solidFill>
              <a:latin typeface="Calibri"/>
              <a:ea typeface="Calibri"/>
              <a:cs typeface="Calibri"/>
              <a:sym typeface="Calibri"/>
            </a:endParaRPr>
          </a:p>
        </p:txBody>
      </p:sp>
      <p:sp>
        <p:nvSpPr>
          <p:cNvPr id="1481" name="Google Shape;1481;p7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Roosevelt, Churchill, and Stalin · February 1945</a:t>
            </a:r>
            <a:endParaRPr b="0" i="0" sz="900" u="none" cap="none" strike="noStrike">
              <a:solidFill>
                <a:schemeClr val="dk1"/>
              </a:solidFill>
              <a:latin typeface="Calibri"/>
              <a:ea typeface="Calibri"/>
              <a:cs typeface="Calibri"/>
              <a:sym typeface="Calibri"/>
            </a:endParaRPr>
          </a:p>
        </p:txBody>
      </p:sp>
      <p:sp>
        <p:nvSpPr>
          <p:cNvPr id="1482" name="Google Shape;1482;p7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100" u="none" cap="none" strike="noStrike">
              <a:solidFill>
                <a:schemeClr val="dk1"/>
              </a:solidFill>
              <a:latin typeface="Calibri"/>
              <a:ea typeface="Calibri"/>
              <a:cs typeface="Calibri"/>
              <a:sym typeface="Calibri"/>
            </a:endParaRPr>
          </a:p>
        </p:txBody>
      </p:sp>
      <p:sp>
        <p:nvSpPr>
          <p:cNvPr id="1483" name="Google Shape;1483;p7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1484" name="Google Shape;1484;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
        <p:nvSpPr>
          <p:cNvPr id="1486" name="TextBox 148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90" name="Shape 1490"/>
        <p:cNvGrpSpPr/>
        <p:nvPr/>
      </p:nvGrpSpPr>
      <p:grpSpPr>
        <a:xfrm>
          <a:off x="0" y="0"/>
          <a:ext cx="0" cy="0"/>
          <a:chOff x="0" y="0"/>
          <a:chExt cx="0" cy="0"/>
        </a:xfrm>
      </p:grpSpPr>
      <p:sp>
        <p:nvSpPr>
          <p:cNvPr id="1491" name="Google Shape;1491;p7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492" name="Google Shape;1492;p7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93" name="Google Shape;1493;p7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494" name="Google Shape;1494;p7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497" name="Google Shape;1497;p7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498" name="Google Shape;1498;p7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499" name="Google Shape;1499;p7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Soviet Union, which secured influence over Eastern Europe, and the Allies who set up the UN and postwar occupation zones.</a:t>
            </a:r>
            <a:endParaRPr b="0" i="0" sz="1200" u="none" cap="none" strike="noStrike">
              <a:solidFill>
                <a:schemeClr val="dk1"/>
              </a:solidFill>
              <a:latin typeface="Calibri"/>
              <a:ea typeface="Calibri"/>
              <a:cs typeface="Calibri"/>
              <a:sym typeface="Calibri"/>
            </a:endParaRPr>
          </a:p>
        </p:txBody>
      </p:sp>
      <p:sp>
        <p:nvSpPr>
          <p:cNvPr id="1500" name="Google Shape;1500;p7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503" name="Google Shape;1503;p7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504" name="Google Shape;1504;p7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05" name="Google Shape;1505;p7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nations of Eastern Europe subjected to Soviet-backed communist governments despite promises of free elections.</a:t>
            </a:r>
            <a:endParaRPr b="0" i="0" sz="1200" u="none" cap="none" strike="noStrike">
              <a:solidFill>
                <a:schemeClr val="dk1"/>
              </a:solidFill>
              <a:latin typeface="Calibri"/>
              <a:ea typeface="Calibri"/>
              <a:cs typeface="Calibri"/>
              <a:sym typeface="Calibri"/>
            </a:endParaRPr>
          </a:p>
        </p:txBody>
      </p:sp>
      <p:sp>
        <p:nvSpPr>
          <p:cNvPr id="1506" name="Google Shape;1506;p7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509" name="Google Shape;1509;p7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510" name="Google Shape;1510;p7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11" name="Google Shape;1511;p7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“Big Three” — Roosevelt (later Truman), Churchill (later Attlee), and Stalin — who negotiated the postwar settlement.</a:t>
            </a:r>
            <a:endParaRPr b="0" i="0" sz="1200" u="none" cap="none" strike="noStrike">
              <a:solidFill>
                <a:schemeClr val="dk1"/>
              </a:solidFill>
              <a:latin typeface="Calibri"/>
              <a:ea typeface="Calibri"/>
              <a:cs typeface="Calibri"/>
              <a:sym typeface="Calibri"/>
            </a:endParaRPr>
          </a:p>
        </p:txBody>
      </p:sp>
      <p:sp>
        <p:nvSpPr>
          <p:cNvPr id="1512" name="Google Shape;1512;p7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Yalta Conference Communiqué, Roosevelt, Churchill, and Stalin, February 1945 (Avalon Project, Yale Law School)</a:t>
            </a:r>
            <a:endParaRPr b="0" i="0" sz="1000" u="none" cap="none" strike="noStrike">
              <a:solidFill>
                <a:schemeClr val="dk1"/>
              </a:solidFill>
              <a:latin typeface="Calibri"/>
              <a:ea typeface="Calibri"/>
              <a:cs typeface="Calibri"/>
              <a:sym typeface="Calibri"/>
            </a:endParaRPr>
          </a:p>
        </p:txBody>
      </p:sp>
      <p:sp>
        <p:nvSpPr>
          <p:cNvPr id="1513" name="Google Shape;1513;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14" name="Google Shape;1514;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
        <p:nvSpPr>
          <p:cNvPr id="1515" name="TextBox 15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19" name="Shape 1519"/>
        <p:cNvGrpSpPr/>
        <p:nvPr/>
      </p:nvGrpSpPr>
      <p:grpSpPr>
        <a:xfrm>
          <a:off x="0" y="0"/>
          <a:ext cx="0" cy="0"/>
          <a:chOff x="0" y="0"/>
          <a:chExt cx="0" cy="0"/>
        </a:xfrm>
      </p:grpSpPr>
      <p:sp>
        <p:nvSpPr>
          <p:cNvPr id="1520" name="Google Shape;1520;p7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US.58</a:t>
            </a:r>
            <a:endParaRPr b="0" i="0" sz="6000" u="none" cap="none" strike="noStrike">
              <a:solidFill>
                <a:schemeClr val="dk1"/>
              </a:solidFill>
              <a:latin typeface="Calibri"/>
              <a:ea typeface="Calibri"/>
              <a:cs typeface="Calibri"/>
              <a:sym typeface="Calibri"/>
            </a:endParaRPr>
          </a:p>
        </p:txBody>
      </p:sp>
      <p:sp>
        <p:nvSpPr>
          <p:cNvPr id="1522" name="Google Shape;1522;p7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Founding of the United Nations &amp; Cordell Hull</a:t>
            </a:r>
            <a:endParaRPr b="0" i="0" sz="2600" u="none" cap="none" strike="noStrike">
              <a:solidFill>
                <a:schemeClr val="dk1"/>
              </a:solidFill>
              <a:latin typeface="Calibri"/>
              <a:ea typeface="Calibri"/>
              <a:cs typeface="Calibri"/>
              <a:sym typeface="Calibri"/>
            </a:endParaRPr>
          </a:p>
        </p:txBody>
      </p:sp>
      <p:sp>
        <p:nvSpPr>
          <p:cNvPr id="1523" name="Google Shape;1523;p7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524" name="Google Shape;1524;p7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US.58 – Identify and explain the reasons for the founding of the United Nations, including the role of Cordell Hull.</a:t>
            </a:r>
            <a:endParaRPr b="0" i="0" sz="1600" u="none" cap="none" strike="noStrike">
              <a:solidFill>
                <a:schemeClr val="dk1"/>
              </a:solidFill>
              <a:latin typeface="Calibri"/>
              <a:ea typeface="Calibri"/>
              <a:cs typeface="Calibri"/>
              <a:sym typeface="Calibri"/>
            </a:endParaRPr>
          </a:p>
        </p:txBody>
      </p:sp>
      <p:sp>
        <p:nvSpPr>
          <p:cNvPr id="1525" name="Google Shape;1525;p7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527" name="Google Shape;1527;p7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400" u="none" cap="none" strike="noStrike">
              <a:solidFill>
                <a:schemeClr val="dk1"/>
              </a:solidFill>
              <a:latin typeface="Calibri"/>
              <a:ea typeface="Calibri"/>
              <a:cs typeface="Calibri"/>
              <a:sym typeface="Calibri"/>
            </a:endParaRPr>
          </a:p>
        </p:txBody>
      </p:sp>
      <p:sp>
        <p:nvSpPr>
          <p:cNvPr id="1528" name="Google Shape;1528;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9" name="Google Shape;1529;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34" name="Shape 1534"/>
        <p:cNvGrpSpPr/>
        <p:nvPr/>
      </p:nvGrpSpPr>
      <p:grpSpPr>
        <a:xfrm>
          <a:off x="0" y="0"/>
          <a:ext cx="0" cy="0"/>
          <a:chOff x="0" y="0"/>
          <a:chExt cx="0" cy="0"/>
        </a:xfrm>
      </p:grpSpPr>
      <p:sp>
        <p:nvSpPr>
          <p:cNvPr id="1535" name="Google Shape;1535;p8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8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38" name="Google Shape;1538;p8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39" name="Google Shape;1539;p8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League of Nations failed because the U.S. never joined, it lacked enforcement, and major powers could ignore it — lessons the UN's designers aimed to fix.</a:t>
            </a:r>
            <a:endParaRPr b="0" i="0" sz="2300" u="none" cap="none" strike="noStrike">
              <a:solidFill>
                <a:schemeClr val="dk1"/>
              </a:solidFill>
              <a:latin typeface="Calibri"/>
              <a:ea typeface="Calibri"/>
              <a:cs typeface="Calibri"/>
              <a:sym typeface="Calibri"/>
            </a:endParaRPr>
          </a:p>
        </p:txBody>
      </p:sp>
      <p:sp>
        <p:nvSpPr>
          <p:cNvPr id="1540" name="Google Shape;1540;p8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8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43" name="Google Shape;1543;p8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League of Nations failed because the U.S. never joined, it lacked enforcement, and major powers could ignore it — lessons the UN's designers aimed to fix.</a:t>
            </a:r>
            <a:endParaRPr b="0" i="0" sz="2200" u="none" cap="none" strike="noStrike">
              <a:solidFill>
                <a:schemeClr val="dk1"/>
              </a:solidFill>
              <a:latin typeface="Calibri"/>
              <a:ea typeface="Calibri"/>
              <a:cs typeface="Calibri"/>
              <a:sym typeface="Calibri"/>
            </a:endParaRPr>
          </a:p>
        </p:txBody>
      </p:sp>
      <p:sp>
        <p:nvSpPr>
          <p:cNvPr id="1544" name="Google Shape;1544;p8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DI 1 of 4 · Lessons from the League's Failure</a:t>
            </a:r>
            <a:endParaRPr b="0" i="0" sz="1000" u="none" cap="none" strike="noStrike">
              <a:solidFill>
                <a:schemeClr val="dk1"/>
              </a:solidFill>
              <a:latin typeface="Calibri"/>
              <a:ea typeface="Calibri"/>
              <a:cs typeface="Calibri"/>
              <a:sym typeface="Calibri"/>
            </a:endParaRPr>
          </a:p>
        </p:txBody>
      </p:sp>
      <p:sp>
        <p:nvSpPr>
          <p:cNvPr id="1545" name="Google Shape;1545;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6" name="Google Shape;1546;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
        <p:nvSpPr>
          <p:cNvPr id="1547" name="TextBox 154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51" name="Shape 1551"/>
        <p:cNvGrpSpPr/>
        <p:nvPr/>
      </p:nvGrpSpPr>
      <p:grpSpPr>
        <a:xfrm>
          <a:off x="0" y="0"/>
          <a:ext cx="0" cy="0"/>
          <a:chOff x="0" y="0"/>
          <a:chExt cx="0" cy="0"/>
        </a:xfrm>
      </p:grpSpPr>
      <p:sp>
        <p:nvSpPr>
          <p:cNvPr id="1552" name="Google Shape;1552;p8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Cordell Hull, FDR's Secretary of State and a Tennessean, was key to planning the UN and is called its “Father”; he won the 1945 Nobel Peace Prize.</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Cordell Hull, FDR's Secretary of State and a Tennessean, was key to planning the UN and is called its “Father”; he won the 1945 Nobel Peace Prize.</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DI 2 of 4 · Cordell Hull's Role</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
        <p:nvSpPr>
          <p:cNvPr id="1564" name="TextBox 156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8" name="Shape 1568"/>
        <p:cNvGrpSpPr/>
        <p:nvPr/>
      </p:nvGrpSpPr>
      <p:grpSpPr>
        <a:xfrm>
          <a:off x="0" y="0"/>
          <a:ext cx="0" cy="0"/>
          <a:chOff x="0" y="0"/>
          <a:chExt cx="0" cy="0"/>
        </a:xfrm>
      </p:grpSpPr>
      <p:sp>
        <p:nvSpPr>
          <p:cNvPr id="1569" name="Google Shape;1569;p8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8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72" name="Google Shape;1572;p8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73" name="Google Shape;1573;p8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UN was built to keep international peace through collective action, using a General Assembly and a Security Council, and to promote cooperation among nations.</a:t>
            </a:r>
            <a:endParaRPr b="0" i="0" sz="2300" u="none" cap="none" strike="noStrike">
              <a:solidFill>
                <a:schemeClr val="dk1"/>
              </a:solidFill>
              <a:latin typeface="Calibri"/>
              <a:ea typeface="Calibri"/>
              <a:cs typeface="Calibri"/>
              <a:sym typeface="Calibri"/>
            </a:endParaRPr>
          </a:p>
        </p:txBody>
      </p:sp>
      <p:pic>
        <p:nvPicPr>
          <p:cNvPr descr="hh-web/public/images/textbook/unit-6/declaration-by-united-nations-1942.jpg" id="1574" name="Google Shape;1574;p8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75" name="Google Shape;1575;p8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76" name="Google Shape;1576;p8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DI 3 of 4 · UN Goals &amp; Structure</a:t>
            </a:r>
            <a:endParaRPr b="0" i="0" sz="1000" u="none" cap="none" strike="noStrike">
              <a:solidFill>
                <a:schemeClr val="dk1"/>
              </a:solidFill>
              <a:latin typeface="Calibri"/>
              <a:ea typeface="Calibri"/>
              <a:cs typeface="Calibri"/>
              <a:sym typeface="Calibri"/>
            </a:endParaRPr>
          </a:p>
        </p:txBody>
      </p:sp>
      <p:sp>
        <p:nvSpPr>
          <p:cNvPr id="1577" name="Google Shape;1577;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78" name="Google Shape;1578;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
        <p:nvSpPr>
          <p:cNvPr id="1579" name="TextBox 157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83" name="Shape 1583"/>
        <p:cNvGrpSpPr/>
        <p:nvPr/>
      </p:nvGrpSpPr>
      <p:grpSpPr>
        <a:xfrm>
          <a:off x="0" y="0"/>
          <a:ext cx="0" cy="0"/>
          <a:chOff x="0" y="0"/>
          <a:chExt cx="0" cy="0"/>
        </a:xfrm>
      </p:grpSpPr>
      <p:sp>
        <p:nvSpPr>
          <p:cNvPr id="1584" name="Google Shape;1584;p8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587" name="Google Shape;1587;p8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88" name="Google Shape;1588;p8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United Nations Charter Preamble — identify who wrote it and why before you analyze its aims.</a:t>
            </a:r>
            <a:endParaRPr b="0" i="0" sz="2000" u="none" cap="none" strike="noStrike">
              <a:solidFill>
                <a:schemeClr val="dk1"/>
              </a:solidFill>
              <a:latin typeface="Calibri"/>
              <a:ea typeface="Calibri"/>
              <a:cs typeface="Calibri"/>
              <a:sym typeface="Calibri"/>
            </a:endParaRPr>
          </a:p>
        </p:txBody>
      </p:sp>
      <p:sp>
        <p:nvSpPr>
          <p:cNvPr id="1589" name="Google Shape;1589;p8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590" name="Google Shape;1590;p8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United Nations</a:t>
            </a:r>
            <a:endParaRPr b="0" i="0" sz="1200" u="none" cap="none" strike="noStrike">
              <a:solidFill>
                <a:schemeClr val="dk1"/>
              </a:solidFill>
              <a:latin typeface="Calibri"/>
              <a:ea typeface="Calibri"/>
              <a:cs typeface="Calibri"/>
              <a:sym typeface="Calibri"/>
            </a:endParaRPr>
          </a:p>
        </p:txBody>
      </p:sp>
      <p:sp>
        <p:nvSpPr>
          <p:cNvPr id="1591" name="Google Shape;1591;p8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592" name="Google Shape;1592;p8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26, 1945</a:t>
            </a:r>
            <a:endParaRPr b="0" i="0" sz="1200" u="none" cap="none" strike="noStrike">
              <a:solidFill>
                <a:schemeClr val="dk1"/>
              </a:solidFill>
              <a:latin typeface="Calibri"/>
              <a:ea typeface="Calibri"/>
              <a:cs typeface="Calibri"/>
              <a:sym typeface="Calibri"/>
            </a:endParaRPr>
          </a:p>
        </p:txBody>
      </p:sp>
      <p:sp>
        <p:nvSpPr>
          <p:cNvPr id="1593" name="Google Shape;1593;p8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594" name="Google Shape;1594;p8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595" name="Google Shape;1595;p8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8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United Nations Charter Preamble</a:t>
            </a:r>
            <a:endParaRPr b="0" i="0" sz="1400" u="none" cap="none" strike="noStrike">
              <a:solidFill>
                <a:schemeClr val="dk1"/>
              </a:solidFill>
              <a:latin typeface="Calibri"/>
              <a:ea typeface="Calibri"/>
              <a:cs typeface="Calibri"/>
              <a:sym typeface="Calibri"/>
            </a:endParaRPr>
          </a:p>
        </p:txBody>
      </p:sp>
      <p:sp>
        <p:nvSpPr>
          <p:cNvPr id="1597" name="Google Shape;1597;p8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United Nations · June 26, 1945</a:t>
            </a:r>
            <a:endParaRPr b="0" i="0" sz="900" u="none" cap="none" strike="noStrike">
              <a:solidFill>
                <a:schemeClr val="dk1"/>
              </a:solidFill>
              <a:latin typeface="Calibri"/>
              <a:ea typeface="Calibri"/>
              <a:cs typeface="Calibri"/>
              <a:sym typeface="Calibri"/>
            </a:endParaRPr>
          </a:p>
        </p:txBody>
      </p:sp>
      <p:sp>
        <p:nvSpPr>
          <p:cNvPr id="1598" name="Google Shape;1598;p8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100" u="none" cap="none" strike="noStrike">
              <a:solidFill>
                <a:schemeClr val="dk1"/>
              </a:solidFill>
              <a:latin typeface="Calibri"/>
              <a:ea typeface="Calibri"/>
              <a:cs typeface="Calibri"/>
              <a:sym typeface="Calibri"/>
            </a:endParaRPr>
          </a:p>
        </p:txBody>
      </p:sp>
      <p:sp>
        <p:nvSpPr>
          <p:cNvPr id="1599" name="Google Shape;1599;p8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1600" name="Google Shape;1600;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01" name="Google Shape;1601;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
        <p:nvSpPr>
          <p:cNvPr id="1602" name="TextBox 160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606" name="Shape 1606"/>
        <p:cNvGrpSpPr/>
        <p:nvPr/>
      </p:nvGrpSpPr>
      <p:grpSpPr>
        <a:xfrm>
          <a:off x="0" y="0"/>
          <a:ext cx="0" cy="0"/>
          <a:chOff x="0" y="0"/>
          <a:chExt cx="0" cy="0"/>
        </a:xfrm>
      </p:grpSpPr>
      <p:sp>
        <p:nvSpPr>
          <p:cNvPr id="1607" name="Google Shape;1607;p8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608" name="Google Shape;1608;p8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609" name="Google Shape;1609;p8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610" name="Google Shape;1610;p8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8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8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613" name="Google Shape;1613;p8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614" name="Google Shape;1614;p8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15" name="Google Shape;1615;p8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postwar world order and the U.S., now a leading member of a permanent peace organization, and Cordell Hull, honored with the Nobel Peace Prize.</a:t>
            </a:r>
            <a:endParaRPr b="0" i="0" sz="1200" u="none" cap="none" strike="noStrike">
              <a:solidFill>
                <a:schemeClr val="dk1"/>
              </a:solidFill>
              <a:latin typeface="Calibri"/>
              <a:ea typeface="Calibri"/>
              <a:cs typeface="Calibri"/>
              <a:sym typeface="Calibri"/>
            </a:endParaRPr>
          </a:p>
        </p:txBody>
      </p:sp>
      <p:sp>
        <p:nvSpPr>
          <p:cNvPr id="1616" name="Google Shape;1616;p8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8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8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619" name="Google Shape;1619;p8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620" name="Google Shape;1620;p8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1" name="Google Shape;1621;p8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Smaller nations whose interests could be overridden by great-power vetoes in the Security Council.</a:t>
            </a:r>
            <a:endParaRPr b="0" i="0" sz="1200" u="none" cap="none" strike="noStrike">
              <a:solidFill>
                <a:schemeClr val="dk1"/>
              </a:solidFill>
              <a:latin typeface="Calibri"/>
              <a:ea typeface="Calibri"/>
              <a:cs typeface="Calibri"/>
              <a:sym typeface="Calibri"/>
            </a:endParaRPr>
          </a:p>
        </p:txBody>
      </p:sp>
      <p:sp>
        <p:nvSpPr>
          <p:cNvPr id="1622" name="Google Shape;1622;p8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8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8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625" name="Google Shape;1625;p8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626" name="Google Shape;1626;p8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7" name="Google Shape;1627;p8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founding Allied powers and diplomats like Cordell Hull who designed the UN, and the U.S. Senate, which this time approved membership.</a:t>
            </a:r>
            <a:endParaRPr b="0" i="0" sz="1200" u="none" cap="none" strike="noStrike">
              <a:solidFill>
                <a:schemeClr val="dk1"/>
              </a:solidFill>
              <a:latin typeface="Calibri"/>
              <a:ea typeface="Calibri"/>
              <a:cs typeface="Calibri"/>
              <a:sym typeface="Calibri"/>
            </a:endParaRPr>
          </a:p>
        </p:txBody>
      </p:sp>
      <p:sp>
        <p:nvSpPr>
          <p:cNvPr id="1628" name="Google Shape;1628;p8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United Nations Charter Preamble, United Nations, June 26, 1945 (United Nations)</a:t>
            </a:r>
            <a:endParaRPr b="0" i="0" sz="1000" u="none" cap="none" strike="noStrike">
              <a:solidFill>
                <a:schemeClr val="dk1"/>
              </a:solidFill>
              <a:latin typeface="Calibri"/>
              <a:ea typeface="Calibri"/>
              <a:cs typeface="Calibri"/>
              <a:sym typeface="Calibri"/>
            </a:endParaRPr>
          </a:p>
        </p:txBody>
      </p:sp>
      <p:sp>
        <p:nvSpPr>
          <p:cNvPr id="1629" name="Google Shape;1629;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0" name="Google Shape;1630;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
        <p:nvSpPr>
          <p:cNvPr id="1631" name="TextBox 16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1" name="Google Shape;61;p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Fascism preached ultranationalism, a single all-powerful dictator (Mussolini's “Il Duce,” Hitler's “Führer”), militarism, and one-party rule — glorifying the nation and blaming scapegoats over individual rights.</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Fascism preached ultranationalism, a single all-powerful dictator (Mussolini's “Il Duce,” Hitler's “Führer”), militarism, and one-party rule — glorifying the nation and blaming scapegoats over individual rights.</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DI 1 of 4 · Key Characteristics of Fascism</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
        <p:nvSpPr>
          <p:cNvPr id="73" name="TextBox 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1" name="Google Shape;61;p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Communism saw history as class struggle: a workers' revolution overthrows capitalism, property becomes collectively owned under state control, aiming for a classless society (Marx; Lenin and Stalin's USSR).</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Communism saw history as class struggle: a workers' revolution overthrows capitalism, property becomes collectively owned under state control, aiming for a classless society (Marx; Lenin and Stalin's USSR).</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DI 2 of 4 · Fundamental Tenets of Communism</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
        <p:nvSpPr>
          <p:cNvPr id="73" name="TextBox 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0" name="Google Shape;160;p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In January 1941 FDR named four freedoms worth defending everywhere: freedom of speech, freedom of worship, freedom from want, and freedom from fear.</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 January 1941 FDR named four freedoms worth defending everywhere: freedom of speech, freedom of worship, freedom from want, and freedom from fear.</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DI 2 of 4 · Four Freedoms Speech (Jan 6, 1941)</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
        <p:nvSpPr>
          <p:cNvPr id="172" name="TextBox 17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1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From Kristallnacht (1938) onward, the Holocaust raises lasting questions about the cost of indifference and the responsibility of nations and individuals to intervene.</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From Kristallnacht (1938) onward, the Holocaust raises lasting questions about the cost of indifference and the responsibility of nations and individuals to intervene.</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DI 4 of 4 · Moral &amp; Ethical Implications</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
        <p:nvSpPr>
          <p:cNvPr id="305" name="TextBox 3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2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Pearl Harbor ended isolationism and unified the nation; Germany and Italy declared war on Dec 11, making it a true world war and bringing U.S. industry to the Allies.</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Pearl Harbor ended isolationism and unified the nation; Germany and Italy declared war on Dec 11, making it a true world war and bringing U.S. industry to the Allies.</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DI 4 of 4 · Consequences of American Entry</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
        <p:nvSpPr>
          <p:cNvPr id="406" name="TextBox 4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5" name="Google Shape;525;p2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Allied leaders mostly headed democracies and managed coalitions; Axis leaders ruled as totalitarian dictators — a contrast in how power was held and used.</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leaders mostly headed democracies and managed coalitions; Axis leaders ruled as totalitarian dictators — a contrast in how power was held and used.</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DI 4 of 4 · Comparing Leadership Approaches</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
        <p:nvSpPr>
          <p:cNvPr id="537" name="TextBox 53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09" name="Google Shape;609;p3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Okinawa (Apr–Jun 1945), just 340 miles from Japan, was the bloodiest Pacific campaign — its scale foreshadowed how deadly invading the home islands would be.</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Okinawa (Apr–Jun 1945), just 340 miles from Japan, was the bloodiest Pacific campaign — its scale foreshadowed how deadly invading the home islands would be.</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DI 3 of 4 · Battle of Okinawa (Apr–Jun 1945)</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
        <p:nvSpPr>
          <p:cNvPr id="621" name="TextBox 6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8" name="Google Shape;738;p3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442nd Regimental Combat Team, mostly Japanese American volunteers (many with families in internment camps), became the most decorated unit of its size in U.S. history.</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442nd Regimental Combat Team, mostly Japanese American volunteers (many with families in internment camps), became the most decorated unit of its size in U.S. history.</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DI 2 of 5 · 442nd Regimental Combat Team</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
        <p:nvSpPr>
          <p:cNvPr id="750" name="TextBox 74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55" name="Google Shape;755;p4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These units showed extraordinary courage while often fighting two wars — against foreign enemies and against discrimination at home — advancing the push for civil rights.</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These units showed extraordinary courage while often fighting two wars — against foreign enemies and against discrimination at home — advancing the push for civil rights.</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DI 5 of 5 · Individual Sacrifice &amp; Legacy</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
        <p:nvSpPr>
          <p:cNvPr id="767" name="TextBox 7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54" name="Google Shape;854;p4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Women built bombers, fighters, and Liberty ships and made ammunition, radar, and radios — “Rosie the Riveter” symbolized their vital output.</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built bombers, fighters, and Liberty ships and made ammunition, radar, and radios — “Rosie the Riveter” symbolized their vital output.</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DI 3 of 4 · Impact on Production &amp; Economy</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
        <p:nvSpPr>
          <p:cNvPr id="866" name="TextBox 86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7" name="Google Shape;987;p5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Executive Order 9981 (1948) ordered desegregation of the armed forces — gradual to implement, but a landmark toward integration.</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Executive Order 9981 (1948) ordered desegregation of the armed forces — gradual to implement, but a landmark toward integration.</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DI 4 of 4 · Integration of the Armed Forces</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
        <p:nvSpPr>
          <p:cNvPr id="999" name="TextBox 9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03" name="Google Shape;1103;p5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Internees lost an estimated $400 million and suffered lasting trauma; the Civil Liberties Act of 1988 formally apologized and paid redress.</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Internees lost an estimated $400 million and suffered lasting trauma; the Civil Liberties Act of 1988 formally apologized and paid redress.</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DI 4 of 4 · Impact &amp; Historical Lessons</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19" name="Google Shape;1219;p6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Tennessee hosted war plants, POW camps, and — powered by TVA electricity — major facilities like Oak Ridge, making the state central to the war effort.</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Tennessee hosted war plants, POW camps, and — powered by TVA electricity — major facilities like Oak Ridge, making the state central to the war effort.</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DI 4 of 4 · Tennessee's Wartime Role</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
        <p:nvSpPr>
          <p:cNvPr id="1231" name="TextBox 12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20" name="Google Shape;1320;p6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debate weighs ending the war fast and saving invasion casualties against the mass civilian deaths at Hiroshima and Nagasaki — a lasting ethical question.</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debate weighs ending the war fast and saving invasion casualties against the mass civilian deaths at Hiroshima and Nagasaki — a lasting ethical question.</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DI 4 of 4 · The Ethical Debate</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
        <p:nvSpPr>
          <p:cNvPr id="1332" name="TextBox 133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51" name="Google Shape;1451;p7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Critics say FDR conceded too much to Stalin at Yalta; defenders note Soviet armies already held Eastern Europe — Allied diplomacy won the war but left Europe divided.</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Critics say FDR conceded too much to Stalin at Yalta; defenders note Soviet armies already held Eastern Europe — Allied diplomacy won the war but left Europe divided.</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DI 4 of 4 · Assessing Allied Diplomacy</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
        <p:nvSpPr>
          <p:cNvPr id="1463" name="TextBox 146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52" name="Google Shape;1552;p8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Unlike the League, the UN secured U.S. membership and endured — though Cold War rivalry and the Security Council veto often limited its action.</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Unlike the League, the UN secured U.S. membership and endured — though Cold War rivalry and the Security Council veto often limited its action.</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DI 4 of 4 · UN Legacy &amp; Limitations</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
        <p:nvSpPr>
          <p:cNvPr id="1564" name="TextBox 156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2026-07-02T17:08:33Z</dcterms:created>
  <dc:creator>TroopToTeacher Technologies LLC</dc:creator>
</cp:coreProperties>
</file>
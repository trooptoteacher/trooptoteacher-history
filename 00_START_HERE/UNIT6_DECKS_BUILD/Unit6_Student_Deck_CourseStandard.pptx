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257" r:id="rId6"/>
    <p:sldId id="258" r:id="rId7"/>
    <p:sldId id="259" r:id="rId8"/>
    <p:sldId id="260" r:id="rId9"/>
    <p:sldId id="261" r:id="rId10"/>
    <p:sldId id="341" r:id="rId91"/>
    <p:sldId id="355" r:id="rId105"/>
    <p:sldId id="262" r:id="rId11"/>
    <p:sldId id="263" r:id="rId12"/>
    <p:sldId id="264" r:id="rId13"/>
    <p:sldId id="265" r:id="rId14"/>
    <p:sldId id="266" r:id="rId15"/>
    <p:sldId id="267" r:id="rId16"/>
    <p:sldId id="342" r:id="rId92"/>
    <p:sldId id="356" r:id="rId106"/>
    <p:sldId id="268" r:id="rId17"/>
    <p:sldId id="269" r:id="rId18"/>
    <p:sldId id="270" r:id="rId19"/>
    <p:sldId id="271" r:id="rId20"/>
    <p:sldId id="272" r:id="rId21"/>
    <p:sldId id="273" r:id="rId22"/>
    <p:sldId id="343" r:id="rId93"/>
    <p:sldId id="357" r:id="rId107"/>
    <p:sldId id="274" r:id="rId23"/>
    <p:sldId id="275" r:id="rId24"/>
    <p:sldId id="276" r:id="rId25"/>
    <p:sldId id="277" r:id="rId26"/>
    <p:sldId id="278" r:id="rId27"/>
    <p:sldId id="279" r:id="rId28"/>
    <p:sldId id="344" r:id="rId94"/>
    <p:sldId id="358" r:id="rId108"/>
    <p:sldId id="280" r:id="rId29"/>
    <p:sldId id="281" r:id="rId30"/>
    <p:sldId id="282" r:id="rId31"/>
    <p:sldId id="283" r:id="rId32"/>
    <p:sldId id="284" r:id="rId33"/>
    <p:sldId id="285" r:id="rId34"/>
    <p:sldId id="345" r:id="rId95"/>
    <p:sldId id="359" r:id="rId109"/>
    <p:sldId id="286" r:id="rId35"/>
    <p:sldId id="287" r:id="rId36"/>
    <p:sldId id="288" r:id="rId37"/>
    <p:sldId id="289" r:id="rId38"/>
    <p:sldId id="290" r:id="rId39"/>
    <p:sldId id="291" r:id="rId40"/>
    <p:sldId id="346" r:id="rId96"/>
    <p:sldId id="360" r:id="rId110"/>
    <p:sldId id="292" r:id="rId41"/>
    <p:sldId id="293" r:id="rId42"/>
    <p:sldId id="294" r:id="rId43"/>
    <p:sldId id="295" r:id="rId44"/>
    <p:sldId id="296" r:id="rId45"/>
    <p:sldId id="297" r:id="rId46"/>
    <p:sldId id="347" r:id="rId97"/>
    <p:sldId id="361" r:id="rId111"/>
    <p:sldId id="298" r:id="rId47"/>
    <p:sldId id="299" r:id="rId48"/>
    <p:sldId id="300" r:id="rId49"/>
    <p:sldId id="301" r:id="rId50"/>
    <p:sldId id="302" r:id="rId51"/>
    <p:sldId id="303" r:id="rId52"/>
    <p:sldId id="348" r:id="rId98"/>
    <p:sldId id="362" r:id="rId112"/>
    <p:sldId id="304" r:id="rId53"/>
    <p:sldId id="305" r:id="rId54"/>
    <p:sldId id="306" r:id="rId55"/>
    <p:sldId id="307" r:id="rId56"/>
    <p:sldId id="308" r:id="rId57"/>
    <p:sldId id="309" r:id="rId58"/>
    <p:sldId id="349" r:id="rId99"/>
    <p:sldId id="363" r:id="rId113"/>
    <p:sldId id="310" r:id="rId59"/>
    <p:sldId id="311" r:id="rId60"/>
    <p:sldId id="312" r:id="rId61"/>
    <p:sldId id="313" r:id="rId62"/>
    <p:sldId id="314" r:id="rId63"/>
    <p:sldId id="315" r:id="rId64"/>
    <p:sldId id="350" r:id="rId100"/>
    <p:sldId id="364" r:id="rId114"/>
    <p:sldId id="316" r:id="rId65"/>
    <p:sldId id="317" r:id="rId66"/>
    <p:sldId id="318" r:id="rId67"/>
    <p:sldId id="319" r:id="rId68"/>
    <p:sldId id="320" r:id="rId69"/>
    <p:sldId id="321" r:id="rId70"/>
    <p:sldId id="351" r:id="rId101"/>
    <p:sldId id="365" r:id="rId115"/>
    <p:sldId id="322" r:id="rId71"/>
    <p:sldId id="323" r:id="rId72"/>
    <p:sldId id="324" r:id="rId73"/>
    <p:sldId id="325" r:id="rId74"/>
    <p:sldId id="326" r:id="rId75"/>
    <p:sldId id="327" r:id="rId76"/>
    <p:sldId id="352" r:id="rId102"/>
    <p:sldId id="366" r:id="rId116"/>
    <p:sldId id="328" r:id="rId77"/>
    <p:sldId id="329" r:id="rId78"/>
    <p:sldId id="330" r:id="rId79"/>
    <p:sldId id="331" r:id="rId80"/>
    <p:sldId id="332" r:id="rId81"/>
    <p:sldId id="333" r:id="rId82"/>
    <p:sldId id="353" r:id="rId103"/>
    <p:sldId id="367" r:id="rId117"/>
    <p:sldId id="334" r:id="rId83"/>
    <p:sldId id="335" r:id="rId84"/>
    <p:sldId id="336" r:id="rId85"/>
    <p:sldId id="337" r:id="rId86"/>
    <p:sldId id="338" r:id="rId87"/>
    <p:sldId id="339" r:id="rId88"/>
    <p:sldId id="354" r:id="rId104"/>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customschemas.google.com/relationships/presentationmetadata" Target="metadata"/><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 name="Shape 30"/>
        <p:cNvGrpSpPr/>
        <p:nvPr/>
      </p:nvGrpSpPr>
      <p:grpSpPr>
        <a:xfrm>
          <a:off x="0" y="0"/>
          <a:ext cx="0" cy="0"/>
          <a:chOff x="0" y="0"/>
          <a:chExt cx="0" cy="0"/>
        </a:xfrm>
      </p:grpSpPr>
      <p:sp>
        <p:nvSpPr>
          <p:cNvPr id="31" name="Google Shape;31;p2"/>
          <p:cNvSpPr/>
          <p:nvPr/>
        </p:nvSpPr>
        <p:spPr>
          <a:xfrm>
            <a:off x="28725" y="247900"/>
            <a:ext cx="12191700" cy="17373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149100" y="247900"/>
            <a:ext cx="12042600" cy="1485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Fascism and communism rose as rival extremes — fascism preached ultranationalism, dictatorship, and militarism, while communism preached class struggle, proletarian revolution, and state ownership of the means of production.</a:t>
            </a:r>
            <a:endParaRPr b="0" i="0" sz="2300" u="none" cap="none" strike="noStrike">
              <a:solidFill>
                <a:schemeClr val="dk1"/>
              </a:solidFill>
              <a:latin typeface="Calibri"/>
              <a:ea typeface="Calibri"/>
              <a:cs typeface="Calibri"/>
              <a:sym typeface="Calibri"/>
            </a:endParaRPr>
          </a:p>
        </p:txBody>
      </p:sp>
      <p:sp>
        <p:nvSpPr>
          <p:cNvPr id="34" name="Google Shape;34;p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and communism rose as rival extremes — fascism preached ultranationalism, dictatorship, and militarism, while communism preached class struggle, proletarian revolution, and state ownership of the means of production.</a:t>
            </a:r>
            <a:endParaRPr b="0" i="0" sz="22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Fascism vs. Communism</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Totalitarian states seized total control — in Italy, Germany, and the Soviet Union, one-party regimes under Mussolini, Hitler, and Stalin used propaganda, secret police, and terror to dominate all public and private life.</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Great Depression opened the door — economic collapse, resentment over the Treaty of Versailles, weak democracies, and fear of communism pushed desperate populations toward radical, authoritarian solutions.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opened the door — economic collapse, resentment over the Treaty of Versailles, weak democracies, and fear of communism pushed desperate populations toward radical, authoritarian solutions.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Factors Behind the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FDR warned against aggression, then defined the stakes — the 1937 Quarantine Speech urged isolating aggressor nations, and the 1941 Four Freedoms Speech framed the coming struggle around freedom of speech, worship, from want, and from fear.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Quarantine Speech &amp; Four Freedoms</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Atlantic Charter set Allied war aims — meeting Churchill secretly off Newfoundland in August 1941, FDR set postwar principles of self-determination and collective security before the U.S. had even entered the war.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Atlantic Charter set Allied war aims — meeting Churchill secretly off Newfoundland in August 1941, FDR set postwar principles of self-determination and collective security before the U.S. had even entered the war.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Atlantic Charter</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Lend-Lease made America the “arsenal of democracy” — the March 1941 Lend-Lease Act let the U.S. supply Britain and the Allies with military equipment without immediate payment, ending strict neutrality short of war.</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Lend-Lease made America the “arsenal of democracy” — the March 1941 Lend-Lease Act let the U.S. supply Britain and the Allies with military equipment without immediate payment, ending strict neutrality short of war.</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Lend-Lease Act</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Restrictive immigration limited America’s prewar response — the 1924 National Origins Act capped immigration from the regions where most European Jews lived, and quotas were rarely filled even as Nazi persecution intensified.</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Restrictive immigration limited America’s prewar response — the 1924 National Origins Act capped immigration from the regions where most European Jews lived, and quotas were rarely filled even as Nazi persecution intensified.</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forces liberated the concentration camps — as the war ended, Soviet forces freed Majdanek and Auschwitz, and U.S. forces freed Buchenwald and Dachau, exposing the full horror of the Holocaust to the world.</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Liberation of the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Postwar policy slowly opened the door to survivors — the 1948 Displaced Persons Act admitted survivors, and Kristallnacht and the Holocaust reshaped debates over refugees, human rights, and America’s moral responsibility.</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Postwar policy slowly opened the door to survivors — the 1948 Displaced Persons Act admitted survivors, and Kristallnacht and the Holocaust reshaped debates over refugees, human rights, and America’s moral responsibility.</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Postwar Immigration &amp; Moral Reckoning</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An undeclared naval war pulled the U.S. toward Europe — German U-boats attacked American ships carrying Lend-Lease supplies, drawing the United States into an escalating undeclared war in the Atlantic.</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An undeclared naval war pulled the U.S. toward Europe — German U-boats attacked American ships carrying Lend-Lease supplies, drawing the United States into an escalating undeclared war in the Atlantic.</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Pacific tensions escalated toward war — Japanese expansion across China and Southeast Asia threatened U.S. interests, and an American oil and steel embargo pushed Japan to plan a surprise strike.</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Pacific tensions escalated toward war — Japanese expansion across China and Southeast Asia threatened U.S. interests, and an American oil and steel embargo pushed Japan to plan a surprise strike.</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Pearl Harbor ended American neutrality — the December 7, 1941 surprise attack on the U.S. Pacific Fleet destroyed isolationist opposition, unified public opinion, and brought the United States fully into World War II.</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Attack on Pearl Harbor &amp; Its Consequences</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leaders rallied nations and coalitions — Churchill inspired British resistance, FDR marshaled American production, and Stalin drove the Soviet war effort on the Eastern Front against Nazi Germany.</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rallied nations and coalitions — Churchill inspired British resistance, FDR marshaled American production, and Stalin drove the Soviet war effort on the Eastern Front against Nazi Germany.</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commanders planned victory in two theaters — Eisenhower directed D-Day and the war in Europe, while MacArthur and Nimitz led the island-hopping campaign that carried the fight across the Pacific to Japan.</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Axis leaders drove aggression and defeat — Hitler’s blitzkrieg and invasion of the USSR, Mussolini’s fascist Italy, and Japan’s militarist expansion set the course of the war and ended in the collapse of all three regimes.</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drove aggression and defeat — Hitler’s blitzkrieg and invasion of the USSR, Mussolini’s fascist Italy, and Japan’s militarist expansion set the course of the war and ended in the collapse of all three regimes.</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Axis Leaders &amp; Comparing Leadership</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Midway turned the tide in the Pacific — in June 1942 American codebreaking and carrier air power sank four Japanese carriers at Midway Atoll, halting Japanese expansion and shifting the initiative to the United States.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Midway turned the tide in the Pacific — in June 1942 American codebreaking and carrier air power sank four Japanese carriers at Midway Atoll, halting Japanese expansion and shifting the initiative to the United States.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Iwo Jima and Okinawa showed the cost of nearing Japan — volcanic terrain and dug-in defenders made these 1945 battles among the war’s bloodiest, and the staggering casualties shaped the decision to use the atomic bomb.</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Iwo Jima &amp; Okinawa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D-Day opened the Western Front — on June 6, 1944, the largest amphibious invasion in history landed Allied forces on the beaches of Normandy, beginning the liberation of Western Europe from Nazi control.</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Segregated units proved themselves in combat — the Tuskegee Airmen, the first African American military aviators, escorted bombers with distinction, and the Japanese American 442nd became the most decorated unit of its size in U.S. history.</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Tuskegee Airmen &amp; the 442nd</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Specialized forces carried out decisive missions — the 101st Airborne “Screaming Eagles” parachuted into Normandy on D-Day, securing key objectives behind enemy lines to protect the invasion — a division with deep Tennessee ties at Fort Campbell.</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Specialized forces carried out decisive missions — the 101st Airborne “Screaming Eagles” parachuted into Normandy on D-Day, securing key objectives behind enemy lines to protect the invasion — a division with deep Tennessee ties at Fort Campbell.</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101st Airborne Division (TN)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Navajo Code Talkers created an unbreakable code — Navajo Marines used their native language to transmit secret messages the Japanese never broke, saving lives while these forces often fought two wars — one abroad and one against prejudice at home.</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created an unbreakable code — Navajo Marines used their native language to transmit secret messages the Japanese never broke, saving lives while these forces often fought two wars — one abroad and one against prejudice at home.</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Navajo Code Talkers &amp; Individual Sacrifice</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Labor shortages drew women into war work — with 16 million men in uniform, a massive labor shortage opened defense-industry and armed-forces roles to women, embodied by the “Rosie the Riveter” image.</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Factors Leading to Women’s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Women faced discrimination even as they built the war machine — they earned about 65% of men’s wages in dangerous conditions, yet built bombers, ships, and munitions that were essential to Allied production.</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discrimination even as they built the war machine — they earned about 65% of men’s wages in dangerous conditions, yet built bombers, ships, and munitions that were essential to Allied production.</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Challenges, Opportunities &amp; Production</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war reshaped women’s long-term role — many were laid off for returning veterans and pushed back toward the home, but wartime work permanently changed expectations and helped lay groundwork for later movements.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war reshaped women’s long-term role — many were laid off for returning veterans and pushed back toward the home, but wartime work permanently changed expectations and helped lay groundwork for later movements.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Second Great Migration reshaped Black America — 1.5 million African Americans moved North and West in the 1940s for defense-industry jobs, transforming cities like Detroit, Chicago, and Los Angeles.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Double V campaign linked the war to civil rights — the Pittsburgh Courier’s “Double V” demanded victory against fascism abroad and racism at home, framing wartime service as a claim on full citizenship.</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Double V campaign linked the war to civil rights — the Pittsburgh Courier’s “Double V” demanded victory against fascism abroad and racism at home, framing wartime service as a claim on full citizenship.</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Federal pressure opened jobs, then the military — A. Philip Randolph’s threatened march won Executive Order 8802 and the FEPC banning defense-industry discrimination, and Executive Order 9981 later desegregated the armed forces.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Federal pressure opened jobs, then the military — A. Philip Randolph’s threatened march won Executive Order 8802 and the FEPC banning defense-industry discrimination, and Executive Order 9981 later desegregated the armed forces.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FEPC &amp;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Executive Order 9066 authorized mass internment — after Pearl Harbor, the February 1942 order forced roughly 120,000 Japanese Americans — most of them U.S. citizens — from their homes into remote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Internment violated core constitutional rights — people were removed without individual hearings, evidence of disloyalty, or due process, and were confined based solely on ancestry.</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core constitutional rights — people were removed without individual hearings, evidence of disloyalty, or due process, and were confined based solely on ancestry.</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Korematsu upheld internment, then history reversed it — in 1944 the Supreme Court upheld the exclusion order in Korematsu v. United States, but decades later the Civil Liberties Act of 1988 apologized and paid reparations.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Korematsu upheld internment, then history reversed it — in 1944 the Supreme Court upheld the exclusion order in Korematsu v. United States, but decades later the Civil Liberties Act of 1988 apologized and paid reparations.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Korematsu v. U.S.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Rationing and conservation reshaped daily life — ration books controlled civilian access to gasoline, tires, sugar, meat, and coffee, and victory gardens and scrap drives turned home-front sacrifice into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Bonds and propaganda financed and unified the war — Liberty and Victory bond drives funded the war and gave civilians a direct stake, while government propaganda sustained morale and mobilized the public.</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Bonds and propaganda financed and unified the war — Liberty and Victory bond drives funded the war and gave civilians a direct stake, while government propaganda sustained morale and mobilized the public.</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Wartime migration and Tennessee’s role transformed communities — millions moved to defense centers, straining housing, while Tennessee hosted training installations, POW camps, and defense industries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Wartime migration and Tennessee’s role transformed communities — millions moved to defense centers, straining housing, while Tennessee hosted training installations, POW camps, and defense industries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Migration &amp; Tennessee’s Wartime Role (TN)</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Oak Ridge, Tennessee anchored the Manhattan Project — the secret “Secret City” was chosen for uranium enrichment for its remote, secure location, abundant TVA power, and rail access, growing overnight to tens of thousands of workers.</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Tennessee anchored the Manhattan Project — the secret “Secret City” was chosen for uranium enrichment for its remote, secure location, abundant TVA power, and rail access, growing overnight to tens of thousands of workers.</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Oak Ridge, Tennessee (TN)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 vast secret program built the atomic bomb — Los Alamos, Oak Ridge, and Hanford employed over 125,000 people under General Groves and Oppenheimer, and the July 1945 Trinity test proved the weapon worked.</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vast secret program built the atomic bomb — Los Alamos, Oak Ridge, and Hanford employed over 125,000 people under General Groves and Oppenheimer, and the July 1945 Trinity test proved the weapon worked.</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Truman chose the bomb to end the war — facing projected casualties from a Japanese invasion, Truman authorized atomic strikes on Hiroshima and Nagasaki — a decision still debated for its human cost and long-term consequences.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Rationale &amp; Ethical Debate</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Yalta shaped the postwar world — in February 1945 Roosevelt, Churchill, and Stalin agreed to found the United Nations, divide occupied Germany, and hold “free elections” in liberated Europe as Allied victory neared.</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Yalta Conference (February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Potsdam exposed the widening Allied split — in mid-1945 Truman, Stalin, and Churchill (then Attlee) met after Germany’s surrender, but disputes over Eastern Europe and reparations revealed deepening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Potsdam exposed the widening Allied split — in mid-1945 Truman, Stalin, and Churchill (then Attlee) met after Germany’s surrender, but disputes over Eastern Europe and reparations revealed deepening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Potsdam Conference (July-August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conferences seeded the Cold War — Stalin’s version of “free elections” meant communist control, and irreconcilable disagreements over Eastern Europe turned wartime allies into postwar rivals.</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conferences seeded the Cold War — Stalin’s version of “free elections” meant communist control, and irreconcilable disagreements over Eastern Europe turned wartime allies into postwar rivals.</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Cold War Origins &amp;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League’s failure taught hard lessons — the League of Nations collapsed because the U.S. never joined, it lacked enforcement power, and major powers ignored aggression — failures the UN was designed to avoid.</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League’s failure taught hard lessons — the League of Nations collapsed because the U.S. never joined, it lacked enforcement power, and major powers ignored aggression — failures the UN was designed to avoid.</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Lessons from the League of Nations</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Cordell Hull, a Tennessean, was “Father of the UN” — FDR’s long-serving Secretary of State was so central to planning the postwar peace organization that he won the 1945 Nobel Peace Prize for the effort.</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a Tennessean, was “Father of the UN” — FDR’s long-serving Secretary of State was so central to planning the postwar peace organization that he won the 1945 Nobel Peace Prize for the effort.</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Cordell Hull’s Role (TN)</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UN secured what the League could not — founded in 1945 to maintain peace through collective security, the UN gained U.S. membership and has endured, though its power is limited by great-power vetoes.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UN Goals, Structure &amp; Legacy</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3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